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349CA52F-01BB-C6FB-32B8-B64D000A6BEC}">
          <p14:sldIdLst>
            <p14:sldId id="256"/>
            <p14:sldId id="257"/>
            <p14:sldId id="258"/>
            <p14:sldId id="259"/>
          </p14:sldIdLst>
        </p14:section>
        <p14:section name="Method" id="{583303D7-2A3C-71F1-67EF-BFA847F96DED}">
          <p14:sldIdLst>
            <p14:sldId id="260"/>
          </p14:sldIdLst>
        </p14:section>
        <p14:section name="Results" id="{85B9FFF3-AD1F-603F-94D3-EE720AF15E16}">
          <p14:sldIdLst>
            <p14:sldId id="261"/>
            <p14:sldId id="262"/>
            <p14:sldId id="263"/>
            <p14:sldId id="264"/>
            <p14:sldId id="265"/>
            <p14:sldId id="266"/>
            <p14:sldId id="267"/>
          </p14:sldIdLst>
        </p14:section>
        <p14:section name="Side findings" id="{F3EDE28A-EDDA-105D-8B83-4883C7EB3FC5}">
          <p14:sldIdLst>
            <p14:sldId id="268"/>
            <p14:sldId id="269"/>
          </p14:sldIdLst>
        </p14:section>
        <p14:section name="Evidence and outlook" id="{9E09527A-F229-6D82-A47E-FA3109E70B91}">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11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33"/>
                </a:solidFill>
                <a:latin typeface="+mn-lt"/>
              </a:defRPr>
            </a:pPr>
            <a:r>
              <a:rPr sz="1400" b="0" i="0" u="none" strike="noStrike">
                <a:solidFill>
                  <a:srgbClr val="0F1B33"/>
                </a:solidFill>
                <a:latin typeface="+mn-lt"/>
              </a:rPr>
              <a:t>cnn_attention: mean sky-position error (lower is better)</a:t>
            </a:r>
          </a:p>
        </c:rich>
      </c:tx>
      <c:overlay val="0"/>
    </c:title>
    <c:autoTitleDeleted val="0"/>
    <c:plotArea>
      <c:layout/>
      <c:barChart>
        <c:barDir val="col"/>
        <c:grouping val="clustered"/>
        <c:varyColors val="0"/>
        <c:ser>
          <c:idx val="0"/>
          <c:order val="0"/>
          <c:tx>
            <c:strRef>
              <c:f>Sheet1!$B$1</c:f>
              <c:strCache>
                <c:ptCount val="1"/>
                <c:pt idx="0">
                  <c:v>Mean angular error (°)</c:v>
                </c:pt>
              </c:strCache>
            </c:strRef>
          </c:tx>
          <c:spPr>
            <a:solidFill>
              <a:srgbClr val="2EA7A0"/>
            </a:solidFill>
            <a:effectLst/>
          </c:spPr>
          <c:invertIfNegative val="0"/>
          <c:dPt>
            <c:idx val="0"/>
            <c:invertIfNegative val="0"/>
            <c:bubble3D val="0"/>
            <c:extLst>
              <c:ext xmlns:c16="http://schemas.microsoft.com/office/drawing/2014/chart" uri="{C3380CC4-5D6E-409C-BE32-E72D297353CC}">
                <c16:uniqueId val="{00000001-A442-48C4-BEDF-2A941B2F19C3}"/>
              </c:ext>
            </c:extLst>
          </c:dPt>
          <c:dPt>
            <c:idx val="1"/>
            <c:invertIfNegative val="0"/>
            <c:bubble3D val="0"/>
            <c:extLst>
              <c:ext xmlns:c16="http://schemas.microsoft.com/office/drawing/2014/chart" uri="{C3380CC4-5D6E-409C-BE32-E72D297353CC}">
                <c16:uniqueId val="{00000003-A442-48C4-BEDF-2A941B2F19C3}"/>
              </c:ext>
            </c:extLst>
          </c:dPt>
          <c:dPt>
            <c:idx val="2"/>
            <c:invertIfNegative val="0"/>
            <c:bubble3D val="0"/>
            <c:extLst>
              <c:ext xmlns:c16="http://schemas.microsoft.com/office/drawing/2014/chart" uri="{C3380CC4-5D6E-409C-BE32-E72D297353CC}">
                <c16:uniqueId val="{00000005-A442-48C4-BEDF-2A941B2F19C3}"/>
              </c:ext>
            </c:extLst>
          </c:dPt>
          <c:dPt>
            <c:idx val="3"/>
            <c:invertIfNegative val="0"/>
            <c:bubble3D val="0"/>
            <c:spPr>
              <a:solidFill>
                <a:srgbClr val="55627A"/>
              </a:solidFill>
              <a:effectLst/>
            </c:spPr>
            <c:extLst>
              <c:ext xmlns:c16="http://schemas.microsoft.com/office/drawing/2014/chart" uri="{C3380CC4-5D6E-409C-BE32-E72D297353CC}">
                <c16:uniqueId val="{00000007-A442-48C4-BEDF-2A941B2F19C3}"/>
              </c:ext>
            </c:extLst>
          </c:dPt>
          <c:dLbls>
            <c:numFmt formatCode="0.0" sourceLinked="0"/>
            <c:spPr>
              <a:noFill/>
              <a:ln>
                <a:noFill/>
              </a:ln>
              <a:effectLst/>
            </c:spPr>
            <c:txPr>
              <a:bodyPr/>
              <a:lstStyle/>
              <a:p>
                <a:pPr>
                  <a:defRPr sz="1400" b="0" i="0" u="none" strike="noStrike">
                    <a:solidFill>
                      <a:srgbClr val="0F1B33"/>
                    </a:solidFill>
                    <a:latin typeface="+mn-lt"/>
                  </a:defRPr>
                </a:pPr>
                <a:endParaRPr lang="en-001"/>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 SNR</c:v>
                </c:pt>
                <c:pt idx="1">
                  <c:v>Mid SNR</c:v>
                </c:pt>
                <c:pt idx="2">
                  <c:v>High SNR</c:v>
                </c:pt>
                <c:pt idx="3">
                  <c:v>Always guess mean direction</c:v>
                </c:pt>
              </c:strCache>
            </c:strRef>
          </c:cat>
          <c:val>
            <c:numRef>
              <c:f>Sheet1!$B$2:$B$5</c:f>
              <c:numCache>
                <c:formatCode>General</c:formatCode>
                <c:ptCount val="4"/>
                <c:pt idx="0">
                  <c:v>80.150000000000006</c:v>
                </c:pt>
                <c:pt idx="1">
                  <c:v>77.95</c:v>
                </c:pt>
                <c:pt idx="2">
                  <c:v>74.47</c:v>
                </c:pt>
                <c:pt idx="3">
                  <c:v>89.4</c:v>
                </c:pt>
              </c:numCache>
            </c:numRef>
          </c:val>
          <c:extLst>
            <c:ext xmlns:c16="http://schemas.microsoft.com/office/drawing/2014/chart" uri="{C3380CC4-5D6E-409C-BE32-E72D297353CC}">
              <c16:uniqueId val="{00000008-A442-48C4-BEDF-2A941B2F19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95"/>
          <c:min val="60"/>
        </c:scaling>
        <c:delete val="0"/>
        <c:axPos val="l"/>
        <c:majorGridlines>
          <c:spPr>
            <a:ln w="9525" cap="flat">
              <a:solidFill>
                <a:srgbClr val="DDE3EE"/>
              </a:solidFill>
              <a:prstDash val="solid"/>
              <a:round/>
            </a:ln>
          </c:spPr>
        </c:majorGridlines>
        <c:title>
          <c:tx>
            <c:rich>
              <a:bodyPr/>
              <a:lstStyle/>
              <a:p>
                <a:pPr>
                  <a:defRPr sz="1200" b="0" i="0" u="none" strike="noStrike">
                    <a:solidFill>
                      <a:srgbClr val="55627A"/>
                    </a:solidFill>
                    <a:latin typeface="Arial"/>
                  </a:defRPr>
                </a:pPr>
                <a:r>
                  <a:rPr sz="1200" b="0" i="0" u="none" strike="noStrike">
                    <a:solidFill>
                      <a:srgbClr val="55627A"/>
                    </a:solidFill>
                    <a:latin typeface="Arial"/>
                  </a:rPr>
                  <a:t>degrees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627A"/>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838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 self-contained study of whether a point-estimating regression network can recover the coalescence phase and polarization angle from two-detector strain. The answer is a systematically verified null. Source: closing_summary.md, paper_summary.md.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two angles: for the dominant quadrupole mode both phi_c and psi enter the strain doubled. Face-on, only 2phi_c +/- 2psi is constrained. A Bayesian sampler or neural posterior estimator can express that degeneracy as a ridge; a point-estimating regression head cannot. Source: paper_summary.md, The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up front. Question: can a regression network recover phi_c and psi from two-detector strain, individually or through the better-conditioned 2phi_c +/- 2psi combinations? Approach: 25,000 training and 5,000 validation simulated events, four models from two trunks, two head parameterizations, a radial penalty at three strengths, with chirp mass, merger time and SNR as positive controls. Answer: a null; every configuration converges to the random-guess baseline while the controls are recovered. Also found: partial sky localization, a non-clean inclination head, and memorization in cnn_attention. Source: paper_summary.md, closing_summary.md.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1.1 prerequisite check. The analytic study first confirmed the degeneracy structure: (R, delta) stays constant along 2phi_c + 2psi = const at face-on, to machine precision. The preference for the well-constrained combination falls from about 1.62-1.65x face-on to 1.04-1.07x edge-on, i.e. the degeneracy lifts only partially. Source: sweep_1_1_ratio_vs_iota.png/.csv, paper_summary.md.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Population: 25,000 train and 5,000 validation simulated events, IMRPhenomD dominant mode only, 2 s windows at 2048 Hz for H1 and L1. Periodic targets are regressed on the unit circle with a circular loss, so a random guess scores exactly 1; a constant prediction has angular MAE of pi/2 for phi_c and pi/4 for psi. Chirp mass, merger time and SNR serve as positive controls. Note the dataset is unseeded (documented limitation in NOTES.md). Source: paper_summary.md, What we did.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screened five trunk architectures in seven configurations. All seven sat at the random-guessing level on phi_c and psi, so the screen could not discriminate on the target question. We down-selected on the positive controls instead, keeping the TCN and the attention model. There was no numeric threshold for that down-selection, and the three dropped trunks were never run through the full battery. Two head parameterizations (independent-angle baseline vs combination-space) and a radial penalty lambda at three strengths on the TCN models. Source: paper_summary.md, closing_summary.md addendum.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check across the four models and seven heads. Green: good. Yellow: marginal. XX: dead. COLLAPSE: mode collapse. The positive controls (mchirp R2 0.92-0.96, merger time 0.90-0.92, SNR 0.75-0.79) read healthy in every model; the same shared features give MAE around 1.55-1.59 rad (about pi/2, i.e. chance) on phi_c, and poc_a/poc_b collapse outright on psi/phi_c. Source: analysis_output/health_check_20261019_125442.png.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vs true psi for the four models, validation set. poc_a and poc_b are genuinely mode-collapsed: near-delta-function output regardless of input; poc_b has 99.9% of 5,000 validation predictions in one histogram bin. tcn and cnn_attention are not collapsed but spread over a narrow band and uninformative: a different failure with the same conclusion. Source: analysis_output/histogram_polarization_angle_20261019_125442.png, closing_summary.md.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vs validation circular loss for phi_c and psi (rows) across the four models (columns). Three models sit at the null (loss about 1.0) on both splits. cnn_attention drives its training loss down to about 0.55 while validation stays flat at about 1.0: memorization, invisible in every earlier number because the Round-1 summary only tracked validation loss. This is why its sky_position result needed an SNR-stratification check before being trusted. Source: diagnostic_output/redo_models_train_val_loss.png.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the retune at higher penalty strengths we pre-registered a metric-health gate (Step 0 std_ratio), checking that the raw head outputs have healthy magnitude. It never cleared at any of the three lambda values: 12 readings fail, or in one case pass numerically but fail on inspection. The one nominal pass (phi_c of the combination model at lambda=0.10) shows two flat bands at a single angle on the scatter plot: a literal two-point collapse. The gate measures the magnitude of raw outputs, not their angular diversity. Verdict of record: UNINTERPRETABLE, not null, not counter-evidence. Steps 1-3 of the preregistration never ran because they were gated on Step 0. Source: preregistration_lam_retune.md, NOTES.md 2026-09-15/16.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gated route stayed uninterpretable, the null rests on four checks that do not depend on the gate, run uniformly on all four models without excluding any on interpretability grounds. We argue this is a legitimate substitute, but it was assembled after the pre-registered route failed, so it carries less confirmatory weight than a pre-registered test. Source: closing_summary.md, paper_summary.md.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evidence-weighted: under the 2phi_c +/- 2psi degeneracy structure, on this architecture set, phi_c/psi information is not recoverable from strain by a regression network. 0 of 8 phi_c/psi bootstrap tests (4 models x 2 heads) are significant, with 10,000 shuffles; no band clears the 0.10 rad floor. Caveat labelled honestly: the substitute battery was assembled after the gated path failed. The gated path's own language (UNINTERPRETABLE) is left on the record unedited; it is superseded in practical confidence, not contradicted. Source: bootstrap_output, closing_summary.md.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cnn_attention shows genuine partial sky-localization skill: 12.58 degrees better than the shuffled null (z = +23.23 sigma), error falling monotonically across SNR terciles (80.15, 77.95, 74.47 degrees), while a predictor that always guesses the population-mean direction scores about 89.4 degrees. The other three models are small-but-real and sub-floor (about 2.9-3.4 degrees). The leading explanation is cross-detector H1/L1 amplitude-ratio information via the antenna pattern; that is INFERRED, consistent with the evidence, and has not been tested directly. Source: bootstrap_sky_separation.py, snr_stratification_sky_position.py.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from looking further than the main question required. (1) The inclination head, which had been used as a noise-floor calibration, is not clean noise: the bootstrap finds it significant but sub-floor in all four models (p &lt;= 0.022, effect about 0.02-0.04 rad), and the paper summary reads its predictions as clustering at a few preferred angles, a partial mode collapse whose severity tracks each model's phi_c/psi collapse, pointing to shared training dynamics rather than recoverable physics. Note the closing summary (2026-09-18) framed it as 'a small real sub-floor signal'; the later paper summary (2026-09-30) is the interpretation used here. (2) cnn_attention memorizes phi_c/psi in the training split without generalizing. Source: bootstrap_ang_mae.py, plot_certified_memorization.py.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most want scrutinized. The null is established across configurations, not across seeds (all runs use seed 42; the dataset is unseeded). Two trunk families only; down-selection used positive-control R2 with no numeric threshold. poc_b's individual-head bootstrap numbers rest on ground-truth-assisted branch reconstruction (formulae_reference.md A.8), which does not change the verdict and is disclosed. The perturbation-trace probe failed its own positive control (mchirp reads AMBIGUOUS for all 4 models at the early stage) so 'final' was never run: parked, not closed. Unrun: synthetic-data ablation, high-SNR (25-30) validation set or Fisher-matrix bound, dataset regeneration from a version-controlled generator, joint (phi_c, psi) scatter. No independent adversarial review of the manuscript yet. Source: paper_summary.md, closing_summary.md.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this does not reopen a settled question. Neural posterior estimation (VItamin, DINGO, DINGO-IS) represents degenerate targets correctly by construction. What the study documents is a practical hazard for point-estimate and hybrid pipelines still built on regression heads, and the diagnostic discipline needed to notice the failure. Open items are those not yet run or not yet mechanistically confirmed. Source: paper_summary.md, closing_summary.md.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554480"/>
            <a:ext cx="8229600" cy="21945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822960" y="4114800"/>
            <a:ext cx="8229600" cy="10972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8C4DA"/>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22960" y="1554480"/>
            <a:ext cx="8229600" cy="2194560"/>
          </a:xfrm>
          <a:prstGeom prst="rect">
            <a:avLst/>
          </a:prstGeom>
          <a:noFill/>
          <a:ln/>
        </p:spPr>
        <p:txBody>
          <a:bodyPr wrap="square" lIns="0" tIns="0" rIns="0" bIns="0" rtlCol="0" anchor="t"/>
          <a:lstStyle/>
          <a:p>
            <a:pPr marL="0" indent="0" algn="l">
              <a:buNone/>
            </a:pPr>
            <a:r>
              <a:rPr lang="en-US" sz="4000" b="1" dirty="0">
                <a:solidFill>
                  <a:schemeClr val="bg1"/>
                </a:solidFill>
              </a:rPr>
              <a:t>Can a regression network recover </a:t>
            </a:r>
            <a:r>
              <a:rPr lang="en-US" sz="4000" b="1" i="1" dirty="0">
                <a:solidFill>
                  <a:schemeClr val="bg1"/>
                </a:solidFill>
              </a:rPr>
              <a:t>φ</a:t>
            </a:r>
            <a:r>
              <a:rPr lang="en-US" sz="4000" b="1" baseline="-25000" dirty="0">
                <a:solidFill>
                  <a:schemeClr val="bg1"/>
                </a:solidFill>
              </a:rPr>
              <a:t>c</a:t>
            </a:r>
            <a:r>
              <a:rPr lang="en-US" sz="4000" b="1" dirty="0">
                <a:solidFill>
                  <a:schemeClr val="bg1"/>
                </a:solidFill>
              </a:rPr>
              <a:t> and </a:t>
            </a:r>
            <a:r>
              <a:rPr lang="en-US" sz="4000" b="1" i="1" dirty="0">
                <a:solidFill>
                  <a:schemeClr val="bg1"/>
                </a:solidFill>
              </a:rPr>
              <a:t>ψ</a:t>
            </a:r>
            <a:r>
              <a:rPr lang="en-US" sz="4000" b="1" dirty="0">
                <a:solidFill>
                  <a:schemeClr val="bg1"/>
                </a:solidFill>
              </a:rPr>
              <a:t> from gravitational-wave strain?</a:t>
            </a:r>
            <a:endParaRPr lang="en-US" sz="4000" dirty="0"/>
          </a:p>
        </p:txBody>
      </p:sp>
      <p:sp>
        <p:nvSpPr>
          <p:cNvPr id="4" name="Text 0"/>
          <p:cNvSpPr>
            <a:spLocks noGrp="1"/>
          </p:cNvSpPr>
          <p:nvPr>
            <p:ph type="body" idx="101" hasCustomPrompt="1"/>
          </p:nvPr>
        </p:nvSpPr>
        <p:spPr>
          <a:xfrm>
            <a:off x="822960" y="4114800"/>
            <a:ext cx="8229600" cy="1097280"/>
          </a:xfrm>
          <a:prstGeom prst="rect">
            <a:avLst/>
          </a:prstGeom>
          <a:noFill/>
          <a:ln/>
        </p:spPr>
        <p:txBody>
          <a:bodyPr wrap="square" lIns="0" tIns="0" rIns="0" bIns="0" rtlCol="0" anchor="t"/>
          <a:lstStyle/>
          <a:p>
            <a:pPr marL="0" indent="0" algn="l">
              <a:buNone/>
            </a:pPr>
            <a:r>
              <a:rPr lang="en-US" sz="2000" dirty="0">
                <a:solidFill>
                  <a:schemeClr val="bg2"/>
                </a:solidFill>
              </a:rPr>
              <a:t>A systematically verified null result on the 2</a:t>
            </a:r>
            <a:r>
              <a:rPr lang="en-US" sz="2000" i="1" dirty="0">
                <a:solidFill>
                  <a:schemeClr val="bg2"/>
                </a:solidFill>
              </a:rPr>
              <a:t>φ</a:t>
            </a:r>
            <a:r>
              <a:rPr lang="en-US" sz="2000" baseline="-25000" dirty="0">
                <a:solidFill>
                  <a:schemeClr val="bg2"/>
                </a:solidFill>
              </a:rPr>
              <a:t>c</a:t>
            </a:r>
            <a:r>
              <a:rPr lang="en-US" sz="2000" dirty="0">
                <a:solidFill>
                  <a:schemeClr val="bg2"/>
                </a:solidFill>
              </a:rPr>
              <a:t> ± 2</a:t>
            </a:r>
            <a:r>
              <a:rPr lang="en-US" sz="2000" i="1" dirty="0">
                <a:solidFill>
                  <a:schemeClr val="bg2"/>
                </a:solidFill>
              </a:rPr>
              <a:t>ψ</a:t>
            </a:r>
            <a:r>
              <a:rPr lang="en-US" sz="2000" dirty="0">
                <a:solidFill>
                  <a:schemeClr val="bg2"/>
                </a:solidFill>
              </a:rPr>
              <a:t> degeneracy</a:t>
            </a:r>
            <a:endParaRPr lang="en-US" sz="2000" dirty="0"/>
          </a:p>
        </p:txBody>
      </p:sp>
      <p:sp>
        <p:nvSpPr>
          <p:cNvPr id="5" name="byline"/>
          <p:cNvSpPr txBox="1"/>
          <p:nvPr/>
        </p:nvSpPr>
        <p:spPr>
          <a:xfrm>
            <a:off x="822960" y="5943600"/>
            <a:ext cx="10058400" cy="365760"/>
          </a:xfrm>
          <a:prstGeom prst="rect">
            <a:avLst/>
          </a:prstGeom>
          <a:noFill/>
          <a:ln/>
        </p:spPr>
        <p:txBody>
          <a:bodyPr wrap="square" lIns="0" tIns="0" rIns="0" bIns="0" rtlCol="0" anchor="t"/>
          <a:lstStyle/>
          <a:p>
            <a:pPr marL="0" indent="0">
              <a:buNone/>
            </a:pPr>
            <a:r>
              <a:rPr lang="en-US" sz="1400" dirty="0">
                <a:solidFill>
                  <a:schemeClr val="accent1"/>
                </a:solidFill>
              </a:rPr>
              <a:t>Syed Ali Mohsin Bukhari</a:t>
            </a:r>
            <a:endParaRPr lang="en-US" sz="1400" dirty="0"/>
          </a:p>
        </p:txBody>
      </p:sp>
      <p:sp>
        <p:nvSpPr>
          <p:cNvPr id="6" name="motif a"/>
          <p:cNvSpPr/>
          <p:nvPr/>
        </p:nvSpPr>
        <p:spPr>
          <a:xfrm>
            <a:off x="9601200" y="640080"/>
            <a:ext cx="1645920" cy="1645920"/>
          </a:xfrm>
          <a:prstGeom prst="ellipse">
            <a:avLst/>
          </a:prstGeom>
          <a:solidFill>
            <a:schemeClr val="accent2">
              <a:alpha val="75000"/>
            </a:schemeClr>
          </a:solidFill>
          <a:ln w="12700">
            <a:solidFill>
              <a:schemeClr val="accent2"/>
            </a:solidFill>
            <a:prstDash val="solid"/>
          </a:ln>
        </p:spPr>
      </p:sp>
      <p:sp>
        <p:nvSpPr>
          <p:cNvPr id="7" name="motif b"/>
          <p:cNvSpPr/>
          <p:nvPr/>
        </p:nvSpPr>
        <p:spPr>
          <a:xfrm>
            <a:off x="10424160" y="1005840"/>
            <a:ext cx="1280160" cy="1280160"/>
          </a:xfrm>
          <a:prstGeom prst="ellipse">
            <a:avLst/>
          </a:prstGeom>
          <a:solidFill>
            <a:schemeClr val="accent1">
              <a:alpha val="75000"/>
            </a:schemeClr>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Can a network recover </a:t>
            </a:r>
            <a:r>
              <a:rPr lang="en-US" sz="3600" b="1" i="1" dirty="0">
                <a:solidFill>
                  <a:schemeClr val="tx1"/>
                </a:solidFill>
              </a:rPr>
              <a:t>φ</a:t>
            </a:r>
            <a:r>
              <a:rPr lang="en-US" sz="3600" b="1" baseline="-25000" dirty="0">
                <a:solidFill>
                  <a:schemeClr val="tx1"/>
                </a:solidFill>
              </a:rPr>
              <a:t>c</a:t>
            </a:r>
            <a:r>
              <a:rPr lang="en-US" sz="3600" b="1" dirty="0">
                <a:solidFill>
                  <a:schemeClr val="tx1"/>
                </a:solidFill>
              </a:rPr>
              <a:t> and </a:t>
            </a:r>
            <a:r>
              <a:rPr lang="en-US" sz="3600" b="1" i="1" dirty="0">
                <a:solidFill>
                  <a:schemeClr val="tx1"/>
                </a:solidFill>
              </a:rPr>
              <a:t>ψ</a:t>
            </a:r>
            <a:r>
              <a:rPr lang="en-US" sz="3600" b="1" dirty="0">
                <a:solidFill>
                  <a:schemeClr val="tx1"/>
                </a:solidFill>
              </a:rPr>
              <a:t>?</a:t>
            </a:r>
            <a:endParaRPr lang="en-US" sz="3600" dirty="0"/>
          </a:p>
        </p:txBody>
      </p:sp>
      <p:sp>
        <p:nvSpPr>
          <p:cNvPr id="4" name="Text 1"/>
          <p:cNvSpPr txBox="1"/>
          <p:nvPr/>
        </p:nvSpPr>
        <p:spPr>
          <a:xfrm>
            <a:off x="548640" y="1371600"/>
            <a:ext cx="5852160" cy="731520"/>
          </a:xfrm>
          <a:prstGeom prst="rect">
            <a:avLst/>
          </a:prstGeom>
          <a:noFill/>
          <a:ln/>
        </p:spPr>
        <p:txBody>
          <a:bodyPr wrap="square" lIns="0" tIns="0" rIns="0" bIns="0" rtlCol="0" anchor="t"/>
          <a:lstStyle/>
          <a:p>
            <a:pPr marL="0" indent="0">
              <a:buNone/>
            </a:pPr>
            <a:r>
              <a:rPr lang="en-US" sz="1800" b="1" dirty="0">
                <a:solidFill>
                  <a:schemeClr val="tx1"/>
                </a:solidFill>
              </a:rPr>
              <a:t>Two extrinsic angles, rarely regression targets:</a:t>
            </a:r>
            <a:endParaRPr lang="en-US" sz="1800" dirty="0"/>
          </a:p>
        </p:txBody>
      </p:sp>
      <p:sp>
        <p:nvSpPr>
          <p:cNvPr id="5" name="Text 2"/>
          <p:cNvSpPr txBox="1"/>
          <p:nvPr/>
        </p:nvSpPr>
        <p:spPr>
          <a:xfrm>
            <a:off x="548640" y="2194560"/>
            <a:ext cx="5852160" cy="2743200"/>
          </a:xfrm>
          <a:prstGeom prst="rect">
            <a:avLst/>
          </a:prstGeom>
          <a:noFill/>
          <a:ln/>
        </p:spPr>
        <p:txBody>
          <a:bodyPr wrap="square" lIns="0" tIns="0" rIns="0" bIns="0" rtlCol="0" anchor="t"/>
          <a:lstStyle/>
          <a:p>
            <a:pPr marL="342900" indent="-342900">
              <a:spcAft>
                <a:spcPts val="800"/>
              </a:spcAft>
              <a:buSzPct val="100000"/>
              <a:buChar char="•"/>
            </a:pPr>
            <a:r>
              <a:rPr lang="en-US" sz="1600" i="1" dirty="0">
                <a:solidFill>
                  <a:schemeClr val="tx1"/>
                </a:solidFill>
              </a:rPr>
              <a:t>φ</a:t>
            </a:r>
            <a:r>
              <a:rPr lang="en-US" sz="1600" baseline="-25000" dirty="0">
                <a:solidFill>
                  <a:schemeClr val="tx1"/>
                </a:solidFill>
              </a:rPr>
              <a:t>c</a:t>
            </a:r>
            <a:r>
              <a:rPr lang="en-US" sz="1600" dirty="0">
                <a:solidFill>
                  <a:schemeClr val="tx1"/>
                </a:solidFill>
              </a:rPr>
              <a:t> is the coalescence phase</a:t>
            </a:r>
            <a:endParaRPr lang="en-US" sz="1600" dirty="0"/>
          </a:p>
          <a:p>
            <a:pPr marL="342900" indent="-342900">
              <a:spcAft>
                <a:spcPts val="800"/>
              </a:spcAft>
              <a:buSzPct val="100000"/>
              <a:buChar char="•"/>
            </a:pPr>
            <a:r>
              <a:rPr lang="en-US" sz="1600" i="1" dirty="0">
                <a:solidFill>
                  <a:schemeClr val="tx1"/>
                </a:solidFill>
              </a:rPr>
              <a:t>ψ</a:t>
            </a:r>
            <a:r>
              <a:rPr lang="en-US" sz="1600" dirty="0">
                <a:solidFill>
                  <a:schemeClr val="tx1"/>
                </a:solidFill>
              </a:rPr>
              <a:t> is the polarization angle</a:t>
            </a:r>
            <a:endParaRPr lang="en-US" sz="1600" dirty="0"/>
          </a:p>
          <a:p>
            <a:pPr marL="342900" indent="-342900">
              <a:spcAft>
                <a:spcPts val="800"/>
              </a:spcAft>
              <a:buSzPct val="100000"/>
              <a:buChar char="•"/>
            </a:pPr>
            <a:r>
              <a:rPr lang="en-US" sz="1600" dirty="0">
                <a:solidFill>
                  <a:schemeClr val="tx1"/>
                </a:solidFill>
              </a:rPr>
              <a:t>For the dominant quadrupole mode both enter the strain doubled</a:t>
            </a:r>
            <a:endParaRPr lang="en-US" sz="1600" dirty="0"/>
          </a:p>
          <a:p>
            <a:pPr marL="342900" indent="-342900">
              <a:spcAft>
                <a:spcPts val="800"/>
              </a:spcAft>
              <a:buSzPct val="100000"/>
              <a:buChar char="•"/>
            </a:pPr>
            <a:r>
              <a:rPr lang="en-US" sz="1600" dirty="0">
                <a:solidFill>
                  <a:schemeClr val="tx1"/>
                </a:solidFill>
              </a:rPr>
              <a:t>Face-on, only the combination 2</a:t>
            </a:r>
            <a:r>
              <a:rPr lang="en-US" sz="1600" i="1" dirty="0">
                <a:solidFill>
                  <a:schemeClr val="tx1"/>
                </a:solidFill>
              </a:rPr>
              <a:t>φ</a:t>
            </a:r>
            <a:r>
              <a:rPr lang="en-US" sz="1600" baseline="-25000" dirty="0">
                <a:solidFill>
                  <a:schemeClr val="tx1"/>
                </a:solidFill>
              </a:rPr>
              <a:t>c</a:t>
            </a:r>
            <a:r>
              <a:rPr lang="en-US" sz="1600" dirty="0">
                <a:solidFill>
                  <a:schemeClr val="tx1"/>
                </a:solidFill>
              </a:rPr>
              <a:t> ± 2</a:t>
            </a:r>
            <a:r>
              <a:rPr lang="en-US" sz="1600" i="1" dirty="0">
                <a:solidFill>
                  <a:schemeClr val="tx1"/>
                </a:solidFill>
              </a:rPr>
              <a:t>ψ</a:t>
            </a:r>
            <a:r>
              <a:rPr lang="en-US" sz="1600" dirty="0">
                <a:solidFill>
                  <a:schemeClr val="tx1"/>
                </a:solidFill>
              </a:rPr>
              <a:t> is constrained; the individual angles cannot be told apart</a:t>
            </a:r>
            <a:endParaRPr lang="en-US" sz="1600" dirty="0"/>
          </a:p>
          <a:p>
            <a:pPr marL="342900" indent="-342900">
              <a:spcAft>
                <a:spcPts val="800"/>
              </a:spcAft>
              <a:buSzPct val="100000"/>
              <a:buChar char="•"/>
            </a:pPr>
            <a:r>
              <a:rPr lang="en-US" sz="1600" dirty="0">
                <a:solidFill>
                  <a:schemeClr val="tx1"/>
                </a:solidFill>
              </a:rPr>
              <a:t>They separate only partially toward edge-on</a:t>
            </a:r>
            <a:endParaRPr lang="en-US" sz="1600" dirty="0"/>
          </a:p>
        </p:txBody>
      </p:sp>
      <p:sp>
        <p:nvSpPr>
          <p:cNvPr id="6" name="Text 3"/>
          <p:cNvSpPr txBox="1"/>
          <p:nvPr/>
        </p:nvSpPr>
        <p:spPr>
          <a:xfrm>
            <a:off x="548640" y="5029200"/>
            <a:ext cx="5852160" cy="822960"/>
          </a:xfrm>
          <a:prstGeom prst="rect">
            <a:avLst/>
          </a:prstGeom>
          <a:noFill/>
          <a:ln/>
        </p:spPr>
        <p:txBody>
          <a:bodyPr wrap="square" lIns="0" tIns="0" rIns="0" bIns="0" rtlCol="0" anchor="t"/>
          <a:lstStyle/>
          <a:p>
            <a:pPr marL="0" indent="0">
              <a:buNone/>
            </a:pPr>
            <a:r>
              <a:rPr lang="en-US" sz="1800" i="1" dirty="0">
                <a:solidFill>
                  <a:schemeClr val="accent5"/>
                </a:solidFill>
              </a:rPr>
              <a:t>A posterior can represent that degeneracy. A single point estimate cannot.</a:t>
            </a:r>
            <a:endParaRPr lang="en-US" sz="1800" dirty="0"/>
          </a:p>
        </p:txBody>
      </p:sp>
      <p:sp>
        <p:nvSpPr>
          <p:cNvPr id="7" name="question card"/>
          <p:cNvSpPr/>
          <p:nvPr/>
        </p:nvSpPr>
        <p:spPr>
          <a:xfrm>
            <a:off x="6858000" y="1371600"/>
            <a:ext cx="4754880" cy="4480560"/>
          </a:xfrm>
          <a:prstGeom prst="roundRect">
            <a:avLst>
              <a:gd name="adj" fmla="val 2449"/>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8" name="Text 5"/>
          <p:cNvSpPr txBox="1"/>
          <p:nvPr/>
        </p:nvSpPr>
        <p:spPr>
          <a:xfrm>
            <a:off x="7223760" y="1645920"/>
            <a:ext cx="4023360" cy="365760"/>
          </a:xfrm>
          <a:prstGeom prst="rect">
            <a:avLst/>
          </a:prstGeom>
          <a:noFill/>
          <a:ln/>
        </p:spPr>
        <p:txBody>
          <a:bodyPr wrap="square" lIns="0" tIns="0" rIns="0" bIns="0" rtlCol="0" anchor="t"/>
          <a:lstStyle/>
          <a:p>
            <a:pPr marL="0" indent="0">
              <a:buNone/>
            </a:pPr>
            <a:r>
              <a:rPr lang="en-US" sz="1400" b="1" dirty="0">
                <a:solidFill>
                  <a:schemeClr val="accent1"/>
                </a:solidFill>
              </a:rPr>
              <a:t>THE TEST</a:t>
            </a:r>
            <a:endParaRPr lang="en-US" sz="1400" dirty="0"/>
          </a:p>
        </p:txBody>
      </p:sp>
      <p:sp>
        <p:nvSpPr>
          <p:cNvPr id="9" name="Text 6"/>
          <p:cNvSpPr txBox="1"/>
          <p:nvPr/>
        </p:nvSpPr>
        <p:spPr>
          <a:xfrm>
            <a:off x="7223760" y="2103120"/>
            <a:ext cx="4023360" cy="914400"/>
          </a:xfrm>
          <a:prstGeom prst="rect">
            <a:avLst/>
          </a:prstGeom>
          <a:noFill/>
          <a:ln/>
        </p:spPr>
        <p:txBody>
          <a:bodyPr wrap="square" lIns="0" tIns="0" rIns="0" bIns="0" rtlCol="0" anchor="t"/>
          <a:lstStyle/>
          <a:p>
            <a:pPr marL="0" indent="0">
              <a:buNone/>
            </a:pPr>
            <a:r>
              <a:rPr lang="en-US" sz="1800" dirty="0">
                <a:solidFill>
                  <a:schemeClr val="bg1"/>
                </a:solidFill>
              </a:rPr>
              <a:t>Train a regression network on two-detector (H1, L1) strain.</a:t>
            </a:r>
            <a:endParaRPr lang="en-US" sz="1800" dirty="0"/>
          </a:p>
        </p:txBody>
      </p:sp>
      <p:sp>
        <p:nvSpPr>
          <p:cNvPr id="10" name="Text 7"/>
          <p:cNvSpPr txBox="1"/>
          <p:nvPr/>
        </p:nvSpPr>
        <p:spPr>
          <a:xfrm>
            <a:off x="7223760" y="3108960"/>
            <a:ext cx="4023360" cy="1463040"/>
          </a:xfrm>
          <a:prstGeom prst="rect">
            <a:avLst/>
          </a:prstGeom>
          <a:noFill/>
          <a:ln/>
        </p:spPr>
        <p:txBody>
          <a:bodyPr wrap="square" lIns="0" tIns="0" rIns="0" bIns="0" rtlCol="0" anchor="t"/>
          <a:lstStyle/>
          <a:p>
            <a:pPr marL="0" indent="0">
              <a:buNone/>
            </a:pPr>
            <a:r>
              <a:rPr lang="en-US" sz="1800" dirty="0">
                <a:solidFill>
                  <a:schemeClr val="bg1"/>
                </a:solidFill>
              </a:rPr>
              <a:t>Can it recover </a:t>
            </a:r>
            <a:r>
              <a:rPr lang="en-US" sz="1800" i="1" dirty="0">
                <a:solidFill>
                  <a:schemeClr val="bg1"/>
                </a:solidFill>
              </a:rPr>
              <a:t>φ</a:t>
            </a:r>
            <a:r>
              <a:rPr lang="en-US" sz="1800" baseline="-25000" dirty="0">
                <a:solidFill>
                  <a:schemeClr val="bg1"/>
                </a:solidFill>
              </a:rPr>
              <a:t>c</a:t>
            </a:r>
            <a:r>
              <a:rPr lang="en-US" sz="1800" dirty="0">
                <a:solidFill>
                  <a:schemeClr val="bg1"/>
                </a:solidFill>
              </a:rPr>
              <a:t> and </a:t>
            </a:r>
            <a:r>
              <a:rPr lang="en-US" sz="1800" i="1" dirty="0">
                <a:solidFill>
                  <a:schemeClr val="bg1"/>
                </a:solidFill>
              </a:rPr>
              <a:t>ψ</a:t>
            </a:r>
            <a:r>
              <a:rPr lang="en-US" sz="1800" dirty="0">
                <a:solidFill>
                  <a:schemeClr val="bg1"/>
                </a:solidFill>
              </a:rPr>
              <a:t> at all, individually or through the better-conditioned sum and difference combinations?</a:t>
            </a:r>
            <a:endParaRPr lang="en-US" sz="1800" dirty="0"/>
          </a:p>
        </p:txBody>
      </p:sp>
      <p:sp>
        <p:nvSpPr>
          <p:cNvPr id="11" name="Text 8"/>
          <p:cNvSpPr txBox="1"/>
          <p:nvPr/>
        </p:nvSpPr>
        <p:spPr>
          <a:xfrm>
            <a:off x="7223760" y="4754880"/>
            <a:ext cx="4023360" cy="731520"/>
          </a:xfrm>
          <a:prstGeom prst="rect">
            <a:avLst/>
          </a:prstGeom>
          <a:noFill/>
          <a:ln/>
        </p:spPr>
        <p:txBody>
          <a:bodyPr wrap="square" lIns="0" tIns="0" rIns="0" bIns="0" rtlCol="0" anchor="t"/>
          <a:lstStyle/>
          <a:p>
            <a:pPr marL="0" indent="0">
              <a:buNone/>
            </a:pPr>
            <a:r>
              <a:rPr lang="en-US" sz="3800" b="1" dirty="0">
                <a:solidFill>
                  <a:schemeClr val="accent1"/>
                </a:solidFill>
                <a:latin typeface="Cambria" pitchFamily="34" charset="0"/>
                <a:ea typeface="Cambria" pitchFamily="34" charset="-122"/>
                <a:cs typeface="Cambria" pitchFamily="34" charset="-120"/>
              </a:rPr>
              <a:t>2</a:t>
            </a:r>
            <a:r>
              <a:rPr lang="en-US" sz="3800" b="1" i="1" dirty="0">
                <a:solidFill>
                  <a:schemeClr val="accent1"/>
                </a:solidFill>
                <a:latin typeface="Cambria" pitchFamily="34" charset="0"/>
                <a:ea typeface="Cambria" pitchFamily="34" charset="-122"/>
                <a:cs typeface="Cambria" pitchFamily="34" charset="-120"/>
              </a:rPr>
              <a:t>φ</a:t>
            </a:r>
            <a:r>
              <a:rPr lang="en-US" sz="3800" b="1" baseline="-25000" dirty="0">
                <a:solidFill>
                  <a:schemeClr val="accent1"/>
                </a:solidFill>
                <a:latin typeface="Cambria" pitchFamily="34" charset="0"/>
                <a:ea typeface="Cambria" pitchFamily="34" charset="-122"/>
                <a:cs typeface="Cambria" pitchFamily="34" charset="-120"/>
              </a:rPr>
              <a:t>c</a:t>
            </a:r>
            <a:r>
              <a:rPr lang="en-US" sz="3800" b="1" dirty="0">
                <a:solidFill>
                  <a:schemeClr val="accent1"/>
                </a:solidFill>
                <a:latin typeface="Cambria" pitchFamily="34" charset="0"/>
                <a:ea typeface="Cambria" pitchFamily="34" charset="-122"/>
                <a:cs typeface="Cambria" pitchFamily="34" charset="-120"/>
              </a:rPr>
              <a:t> ± 2</a:t>
            </a:r>
            <a:r>
              <a:rPr lang="en-US" sz="3800" b="1" i="1" dirty="0">
                <a:solidFill>
                  <a:schemeClr val="accent1"/>
                </a:solidFill>
                <a:latin typeface="Cambria" pitchFamily="34" charset="0"/>
                <a:ea typeface="Cambria" pitchFamily="34" charset="-122"/>
                <a:cs typeface="Cambria" pitchFamily="34" charset="-120"/>
              </a:rPr>
              <a:t>ψ</a:t>
            </a:r>
            <a:endParaRPr lang="en-US" sz="3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The study at a glance</a:t>
            </a:r>
            <a:endParaRPr lang="en-US" sz="3600" dirty="0"/>
          </a:p>
        </p:txBody>
      </p:sp>
      <p:sp>
        <p:nvSpPr>
          <p:cNvPr id="4" name="glance card 0"/>
          <p:cNvSpPr/>
          <p:nvPr/>
        </p:nvSpPr>
        <p:spPr>
          <a:xfrm>
            <a:off x="548640" y="1371600"/>
            <a:ext cx="3566160" cy="3383280"/>
          </a:xfrm>
          <a:prstGeom prst="roundRect">
            <a:avLst>
              <a:gd name="adj" fmla="val 3243"/>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5" name="Text 2"/>
          <p:cNvSpPr txBox="1"/>
          <p:nvPr/>
        </p:nvSpPr>
        <p:spPr>
          <a:xfrm>
            <a:off x="822960" y="1600200"/>
            <a:ext cx="3017520" cy="365760"/>
          </a:xfrm>
          <a:prstGeom prst="rect">
            <a:avLst/>
          </a:prstGeom>
          <a:noFill/>
          <a:ln/>
        </p:spPr>
        <p:txBody>
          <a:bodyPr wrap="square" lIns="0" tIns="0" rIns="0" bIns="0" rtlCol="0" anchor="t"/>
          <a:lstStyle/>
          <a:p>
            <a:pPr marL="0" indent="0">
              <a:buNone/>
            </a:pPr>
            <a:r>
              <a:rPr lang="en-US" sz="1600" b="1" dirty="0">
                <a:solidFill>
                  <a:schemeClr val="accent2"/>
                </a:solidFill>
              </a:rPr>
              <a:t>QUESTION</a:t>
            </a:r>
            <a:endParaRPr lang="en-US" sz="1600" dirty="0"/>
          </a:p>
        </p:txBody>
      </p:sp>
      <p:sp>
        <p:nvSpPr>
          <p:cNvPr id="6" name="Text 3"/>
          <p:cNvSpPr txBox="1"/>
          <p:nvPr/>
        </p:nvSpPr>
        <p:spPr>
          <a:xfrm>
            <a:off x="822960" y="2103120"/>
            <a:ext cx="3017520" cy="2468880"/>
          </a:xfrm>
          <a:prstGeom prst="rect">
            <a:avLst/>
          </a:prstGeom>
          <a:noFill/>
          <a:ln/>
        </p:spPr>
        <p:txBody>
          <a:bodyPr wrap="square" lIns="0" tIns="0" rIns="0" bIns="0" rtlCol="0" anchor="t"/>
          <a:lstStyle/>
          <a:p>
            <a:pPr marL="0" indent="0">
              <a:buNone/>
            </a:pPr>
            <a:r>
              <a:rPr lang="en-US" sz="1600" dirty="0">
                <a:solidFill>
                  <a:schemeClr val="tx1"/>
                </a:solidFill>
              </a:rPr>
              <a:t>Can a regression network recover </a:t>
            </a:r>
            <a:r>
              <a:rPr lang="en-US" sz="1600" i="1" dirty="0">
                <a:solidFill>
                  <a:schemeClr val="tx1"/>
                </a:solidFill>
              </a:rPr>
              <a:t>φ</a:t>
            </a:r>
            <a:r>
              <a:rPr lang="en-US" sz="1600" baseline="-25000" dirty="0">
                <a:solidFill>
                  <a:schemeClr val="tx1"/>
                </a:solidFill>
              </a:rPr>
              <a:t>c</a:t>
            </a:r>
            <a:r>
              <a:rPr lang="en-US" sz="1600" dirty="0">
                <a:solidFill>
                  <a:schemeClr val="tx1"/>
                </a:solidFill>
              </a:rPr>
              <a:t> and </a:t>
            </a:r>
            <a:r>
              <a:rPr lang="en-US" sz="1600" i="1" dirty="0">
                <a:solidFill>
                  <a:schemeClr val="tx1"/>
                </a:solidFill>
              </a:rPr>
              <a:t>ψ</a:t>
            </a:r>
            <a:r>
              <a:rPr lang="en-US" sz="1600" dirty="0">
                <a:solidFill>
                  <a:schemeClr val="tx1"/>
                </a:solidFill>
              </a:rPr>
              <a:t> from two-detector strain, individually or through the better-conditioned combinations 2</a:t>
            </a:r>
            <a:r>
              <a:rPr lang="en-US" sz="1600" i="1" dirty="0">
                <a:solidFill>
                  <a:schemeClr val="tx1"/>
                </a:solidFill>
              </a:rPr>
              <a:t>φ</a:t>
            </a:r>
            <a:r>
              <a:rPr lang="en-US" sz="1600" baseline="-25000" dirty="0">
                <a:solidFill>
                  <a:schemeClr val="tx1"/>
                </a:solidFill>
              </a:rPr>
              <a:t>c</a:t>
            </a:r>
            <a:r>
              <a:rPr lang="en-US" sz="1600" dirty="0">
                <a:solidFill>
                  <a:schemeClr val="tx1"/>
                </a:solidFill>
              </a:rPr>
              <a:t> ± 2</a:t>
            </a:r>
            <a:r>
              <a:rPr lang="en-US" sz="1600" i="1" dirty="0">
                <a:solidFill>
                  <a:schemeClr val="tx1"/>
                </a:solidFill>
              </a:rPr>
              <a:t>ψ</a:t>
            </a:r>
            <a:r>
              <a:rPr lang="en-US" sz="1600" dirty="0">
                <a:solidFill>
                  <a:schemeClr val="tx1"/>
                </a:solidFill>
              </a:rPr>
              <a:t>?</a:t>
            </a:r>
            <a:endParaRPr lang="en-US" sz="1600" dirty="0"/>
          </a:p>
        </p:txBody>
      </p:sp>
      <p:sp>
        <p:nvSpPr>
          <p:cNvPr id="7" name="glance card 1"/>
          <p:cNvSpPr/>
          <p:nvPr/>
        </p:nvSpPr>
        <p:spPr>
          <a:xfrm>
            <a:off x="4297680" y="1371600"/>
            <a:ext cx="3566160" cy="3383280"/>
          </a:xfrm>
          <a:prstGeom prst="roundRect">
            <a:avLst>
              <a:gd name="adj" fmla="val 3243"/>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8" name="Text 5"/>
          <p:cNvSpPr txBox="1"/>
          <p:nvPr/>
        </p:nvSpPr>
        <p:spPr>
          <a:xfrm>
            <a:off x="4572000" y="1600200"/>
            <a:ext cx="3017520" cy="365760"/>
          </a:xfrm>
          <a:prstGeom prst="rect">
            <a:avLst/>
          </a:prstGeom>
          <a:noFill/>
          <a:ln/>
        </p:spPr>
        <p:txBody>
          <a:bodyPr wrap="square" lIns="0" tIns="0" rIns="0" bIns="0" rtlCol="0" anchor="t"/>
          <a:lstStyle/>
          <a:p>
            <a:pPr marL="0" indent="0">
              <a:buNone/>
            </a:pPr>
            <a:r>
              <a:rPr lang="en-US" sz="1600" b="1" dirty="0">
                <a:solidFill>
                  <a:schemeClr val="accent1"/>
                </a:solidFill>
              </a:rPr>
              <a:t>APPROACH</a:t>
            </a:r>
            <a:endParaRPr lang="en-US" sz="1600" dirty="0"/>
          </a:p>
        </p:txBody>
      </p:sp>
      <p:sp>
        <p:nvSpPr>
          <p:cNvPr id="9" name="Text 6"/>
          <p:cNvSpPr txBox="1"/>
          <p:nvPr/>
        </p:nvSpPr>
        <p:spPr>
          <a:xfrm>
            <a:off x="4572000" y="2103120"/>
            <a:ext cx="3017520" cy="2468880"/>
          </a:xfrm>
          <a:prstGeom prst="rect">
            <a:avLst/>
          </a:prstGeom>
          <a:noFill/>
          <a:ln/>
        </p:spPr>
        <p:txBody>
          <a:bodyPr wrap="square" lIns="0" tIns="0" rIns="0" bIns="0" rtlCol="0" anchor="t"/>
          <a:lstStyle/>
          <a:p>
            <a:pPr marL="0" indent="0">
              <a:buNone/>
            </a:pPr>
            <a:r>
              <a:rPr lang="en-US" sz="1600" dirty="0">
                <a:solidFill>
                  <a:schemeClr val="tx1"/>
                </a:solidFill>
              </a:rPr>
              <a:t>25,000 training and 5,000 validation simulated events. Four models from two trunks, two head parameterizations, a radial penalty at three strengths. Chirp mass, merger time and SNR serve as positive controls.</a:t>
            </a:r>
            <a:endParaRPr lang="en-US" sz="1600" dirty="0"/>
          </a:p>
        </p:txBody>
      </p:sp>
      <p:sp>
        <p:nvSpPr>
          <p:cNvPr id="10" name="glance card 2"/>
          <p:cNvSpPr/>
          <p:nvPr/>
        </p:nvSpPr>
        <p:spPr>
          <a:xfrm>
            <a:off x="8046720" y="1371600"/>
            <a:ext cx="3566160" cy="3383280"/>
          </a:xfrm>
          <a:prstGeom prst="roundRect">
            <a:avLst>
              <a:gd name="adj" fmla="val 3243"/>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1" name="Text 8"/>
          <p:cNvSpPr txBox="1"/>
          <p:nvPr/>
        </p:nvSpPr>
        <p:spPr>
          <a:xfrm>
            <a:off x="8321040" y="1600200"/>
            <a:ext cx="3017520" cy="365760"/>
          </a:xfrm>
          <a:prstGeom prst="rect">
            <a:avLst/>
          </a:prstGeom>
          <a:noFill/>
          <a:ln/>
        </p:spPr>
        <p:txBody>
          <a:bodyPr wrap="square" lIns="0" tIns="0" rIns="0" bIns="0" rtlCol="0" anchor="t"/>
          <a:lstStyle/>
          <a:p>
            <a:pPr marL="0" indent="0">
              <a:buNone/>
            </a:pPr>
            <a:r>
              <a:rPr lang="en-US" sz="1600" b="1" dirty="0">
                <a:solidFill>
                  <a:schemeClr val="accent4"/>
                </a:solidFill>
              </a:rPr>
              <a:t>ANSWER</a:t>
            </a:r>
            <a:endParaRPr lang="en-US" sz="1600" dirty="0"/>
          </a:p>
        </p:txBody>
      </p:sp>
      <p:sp>
        <p:nvSpPr>
          <p:cNvPr id="12" name="Text 9"/>
          <p:cNvSpPr txBox="1"/>
          <p:nvPr/>
        </p:nvSpPr>
        <p:spPr>
          <a:xfrm>
            <a:off x="8321040" y="2103120"/>
            <a:ext cx="3017520" cy="2468880"/>
          </a:xfrm>
          <a:prstGeom prst="rect">
            <a:avLst/>
          </a:prstGeom>
          <a:noFill/>
          <a:ln/>
        </p:spPr>
        <p:txBody>
          <a:bodyPr wrap="square" lIns="0" tIns="0" rIns="0" bIns="0" rtlCol="0" anchor="t"/>
          <a:lstStyle/>
          <a:p>
            <a:pPr marL="0" indent="0">
              <a:buNone/>
            </a:pPr>
            <a:r>
              <a:rPr lang="en-US" sz="1600" dirty="0">
                <a:solidFill>
                  <a:schemeClr val="tx1"/>
                </a:solidFill>
              </a:rPr>
              <a:t>No. Every configuration sits at the random-guess baseline on both angles, and none of 8 bootstrap tests is significant, while the controls are recovered (</a:t>
            </a:r>
            <a:r>
              <a:rPr lang="en-US" sz="1600" i="1" dirty="0">
                <a:solidFill>
                  <a:schemeClr val="tx1"/>
                </a:solidFill>
              </a:rPr>
              <a:t>R</a:t>
            </a:r>
            <a:r>
              <a:rPr lang="en-US" sz="1600" baseline="30000" dirty="0">
                <a:solidFill>
                  <a:schemeClr val="tx1"/>
                </a:solidFill>
              </a:rPr>
              <a:t>2</a:t>
            </a:r>
            <a:r>
              <a:rPr lang="en-US" sz="1600" dirty="0">
                <a:solidFill>
                  <a:schemeClr val="tx1"/>
                </a:solidFill>
              </a:rPr>
              <a:t> up to 0.96).</a:t>
            </a:r>
            <a:endParaRPr lang="en-US" sz="1600" dirty="0"/>
          </a:p>
        </p:txBody>
      </p:sp>
      <p:sp>
        <p:nvSpPr>
          <p:cNvPr id="13" name="also found banner"/>
          <p:cNvSpPr/>
          <p:nvPr/>
        </p:nvSpPr>
        <p:spPr>
          <a:xfrm>
            <a:off x="548640" y="5029200"/>
            <a:ext cx="11064240" cy="1188720"/>
          </a:xfrm>
          <a:prstGeom prst="roundRect">
            <a:avLst>
              <a:gd name="adj" fmla="val 9231"/>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4" name="Text 11"/>
          <p:cNvSpPr txBox="1"/>
          <p:nvPr/>
        </p:nvSpPr>
        <p:spPr>
          <a:xfrm>
            <a:off x="914400" y="5029200"/>
            <a:ext cx="10332720" cy="1188720"/>
          </a:xfrm>
          <a:prstGeom prst="rect">
            <a:avLst/>
          </a:prstGeom>
          <a:noFill/>
          <a:ln/>
        </p:spPr>
        <p:txBody>
          <a:bodyPr wrap="square" lIns="0" tIns="0" rIns="0" bIns="0" rtlCol="0" anchor="ctr"/>
          <a:lstStyle/>
          <a:p>
            <a:pPr marL="0" indent="0">
              <a:buNone/>
            </a:pPr>
            <a:r>
              <a:rPr lang="en-US" sz="1800" b="1" dirty="0">
                <a:solidFill>
                  <a:schemeClr val="accent1"/>
                </a:solidFill>
              </a:rPr>
              <a:t>Also found: </a:t>
            </a:r>
            <a:r>
              <a:rPr lang="en-US" sz="1800" dirty="0">
                <a:solidFill>
                  <a:schemeClr val="bg1"/>
                </a:solidFill>
              </a:rPr>
              <a:t>partial sky localization in CNN</a:t>
            </a:r>
            <a:r>
              <a:rPr lang="en-US" sz="1800" baseline="-25000" dirty="0">
                <a:solidFill>
                  <a:schemeClr val="bg1"/>
                </a:solidFill>
              </a:rPr>
              <a:t>attention</a:t>
            </a:r>
            <a:r>
              <a:rPr lang="en-US" sz="1800" dirty="0">
                <a:solidFill>
                  <a:schemeClr val="bg1"/>
                </a:solidFill>
              </a:rPr>
              <a:t> (+12.6°, </a:t>
            </a:r>
            <a:r>
              <a:rPr lang="en-US" sz="1800" i="1" dirty="0">
                <a:solidFill>
                  <a:schemeClr val="bg1"/>
                </a:solidFill>
              </a:rPr>
              <a:t>z</a:t>
            </a:r>
            <a:r>
              <a:rPr lang="en-US" sz="1800" dirty="0">
                <a:solidFill>
                  <a:schemeClr val="bg1"/>
                </a:solidFill>
              </a:rPr>
              <a:t> = +23σ), an inclination head that is not a clean noise floor, and memorization of </a:t>
            </a:r>
            <a:r>
              <a:rPr lang="en-US" sz="1800" i="1" dirty="0">
                <a:solidFill>
                  <a:schemeClr val="bg1"/>
                </a:solidFill>
              </a:rPr>
              <a:t>φ</a:t>
            </a:r>
            <a:r>
              <a:rPr lang="en-US" sz="1800" baseline="-25000" dirty="0">
                <a:solidFill>
                  <a:schemeClr val="bg1"/>
                </a:solidFill>
              </a:rPr>
              <a:t>c</a:t>
            </a:r>
            <a:r>
              <a:rPr lang="en-US" sz="1800" dirty="0">
                <a:solidFill>
                  <a:schemeClr val="bg1"/>
                </a:solidFill>
              </a:rPr>
              <a:t> and </a:t>
            </a:r>
            <a:r>
              <a:rPr lang="en-US" sz="1800" i="1" dirty="0">
                <a:solidFill>
                  <a:schemeClr val="bg1"/>
                </a:solidFill>
              </a:rPr>
              <a:t>ψ</a:t>
            </a:r>
            <a:r>
              <a:rPr lang="en-US" sz="1800" dirty="0">
                <a:solidFill>
                  <a:schemeClr val="bg1"/>
                </a:solidFill>
              </a:rPr>
              <a:t> in the training split.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The degeneracy, checked analytically</a:t>
            </a:r>
            <a:endParaRPr lang="en-US" sz="3600" dirty="0"/>
          </a:p>
        </p:txBody>
      </p:sp>
      <p:pic>
        <p:nvPicPr>
          <p:cNvPr id="4" name="Image 0" descr="Correlation ratio versus inclination: about 1.6 face-on falling to about 1.05-1.15 edge-on, for both cos iota signs"/>
          <p:cNvPicPr>
            <a:picLocks noChangeAspect="1"/>
          </p:cNvPicPr>
          <p:nvPr/>
        </p:nvPicPr>
        <p:blipFill>
          <a:blip r:embed="rId3"/>
          <a:stretch>
            <a:fillRect/>
          </a:stretch>
        </p:blipFill>
        <p:spPr>
          <a:xfrm>
            <a:off x="548640" y="1325880"/>
            <a:ext cx="7680960" cy="3136392"/>
          </a:xfrm>
          <a:prstGeom prst="rect">
            <a:avLst/>
          </a:prstGeom>
        </p:spPr>
      </p:pic>
      <p:sp>
        <p:nvSpPr>
          <p:cNvPr id="5" name="Text 1"/>
          <p:cNvSpPr txBox="1"/>
          <p:nvPr/>
        </p:nvSpPr>
        <p:spPr>
          <a:xfrm>
            <a:off x="548640" y="4572000"/>
            <a:ext cx="7680960" cy="640080"/>
          </a:xfrm>
          <a:prstGeom prst="rect">
            <a:avLst/>
          </a:prstGeom>
          <a:noFill/>
          <a:ln/>
        </p:spPr>
        <p:txBody>
          <a:bodyPr wrap="square" lIns="0" tIns="0" rIns="0" bIns="0" rtlCol="0" anchor="t"/>
          <a:lstStyle/>
          <a:p>
            <a:pPr marL="0" indent="0">
              <a:buNone/>
            </a:pPr>
            <a:r>
              <a:rPr lang="en-US" sz="1400" dirty="0">
                <a:solidFill>
                  <a:schemeClr val="accent5"/>
                </a:solidFill>
              </a:rPr>
              <a:t>Correlation ratio between the combination 2</a:t>
            </a:r>
            <a:r>
              <a:rPr lang="en-US" sz="1400" i="1" dirty="0">
                <a:solidFill>
                  <a:schemeClr val="accent5"/>
                </a:solidFill>
              </a:rPr>
              <a:t>φ</a:t>
            </a:r>
            <a:r>
              <a:rPr lang="en-US" sz="1400" baseline="-25000" dirty="0">
                <a:solidFill>
                  <a:schemeClr val="accent5"/>
                </a:solidFill>
              </a:rPr>
              <a:t>c</a:t>
            </a:r>
            <a:r>
              <a:rPr lang="en-US" sz="1400" dirty="0">
                <a:solidFill>
                  <a:schemeClr val="accent5"/>
                </a:solidFill>
              </a:rPr>
              <a:t> + 2</a:t>
            </a:r>
            <a:r>
              <a:rPr lang="en-US" sz="1400" i="1" dirty="0">
                <a:solidFill>
                  <a:schemeClr val="accent5"/>
                </a:solidFill>
              </a:rPr>
              <a:t>ψ</a:t>
            </a:r>
            <a:r>
              <a:rPr lang="en-US" sz="1400" dirty="0">
                <a:solidFill>
                  <a:schemeClr val="accent5"/>
                </a:solidFill>
              </a:rPr>
              <a:t> and its complement, swept over inclination </a:t>
            </a:r>
            <a:r>
              <a:rPr lang="en-US" sz="1400" i="1" dirty="0">
                <a:solidFill>
                  <a:schemeClr val="accent5"/>
                </a:solidFill>
              </a:rPr>
              <a:t>ι</a:t>
            </a:r>
            <a:r>
              <a:rPr lang="en-US" sz="1400" dirty="0">
                <a:solidFill>
                  <a:schemeClr val="accent5"/>
                </a:solidFill>
              </a:rPr>
              <a:t>.</a:t>
            </a:r>
            <a:endParaRPr lang="en-US" sz="1400" dirty="0"/>
          </a:p>
        </p:txBody>
      </p:sp>
      <p:sp>
        <p:nvSpPr>
          <p:cNvPr id="6" name="Text 2"/>
          <p:cNvSpPr txBox="1"/>
          <p:nvPr/>
        </p:nvSpPr>
        <p:spPr>
          <a:xfrm>
            <a:off x="8595360" y="1325880"/>
            <a:ext cx="3017520" cy="822960"/>
          </a:xfrm>
          <a:prstGeom prst="rect">
            <a:avLst/>
          </a:prstGeom>
          <a:noFill/>
          <a:ln/>
        </p:spPr>
        <p:txBody>
          <a:bodyPr wrap="square" lIns="0" tIns="0" rIns="0" bIns="0" rtlCol="0" anchor="t"/>
          <a:lstStyle/>
          <a:p>
            <a:pPr marL="0" indent="0">
              <a:buNone/>
            </a:pPr>
            <a:r>
              <a:rPr lang="en-US" sz="3000" b="1" dirty="0">
                <a:solidFill>
                  <a:schemeClr val="accent2"/>
                </a:solidFill>
                <a:latin typeface="Cambria" pitchFamily="34" charset="0"/>
                <a:ea typeface="Cambria" pitchFamily="34" charset="-122"/>
                <a:cs typeface="Cambria" pitchFamily="34" charset="-120"/>
              </a:rPr>
              <a:t>1.62–1.65×</a:t>
            </a:r>
            <a:endParaRPr lang="en-US" sz="3000" dirty="0"/>
          </a:p>
        </p:txBody>
      </p:sp>
      <p:sp>
        <p:nvSpPr>
          <p:cNvPr id="7" name="Text 3"/>
          <p:cNvSpPr txBox="1"/>
          <p:nvPr/>
        </p:nvSpPr>
        <p:spPr>
          <a:xfrm>
            <a:off x="8595360" y="2194560"/>
            <a:ext cx="3017520" cy="822960"/>
          </a:xfrm>
          <a:prstGeom prst="rect">
            <a:avLst/>
          </a:prstGeom>
          <a:noFill/>
          <a:ln/>
        </p:spPr>
        <p:txBody>
          <a:bodyPr wrap="square" lIns="0" tIns="0" rIns="0" bIns="0" rtlCol="0" anchor="t"/>
          <a:lstStyle/>
          <a:p>
            <a:pPr marL="0" indent="0">
              <a:buNone/>
            </a:pPr>
            <a:r>
              <a:rPr lang="en-US" sz="1400" dirty="0">
                <a:solidFill>
                  <a:schemeClr val="tx1"/>
                </a:solidFill>
              </a:rPr>
              <a:t>preference for the constrained combination, face-on</a:t>
            </a:r>
            <a:endParaRPr lang="en-US" sz="1400" dirty="0"/>
          </a:p>
        </p:txBody>
      </p:sp>
      <p:sp>
        <p:nvSpPr>
          <p:cNvPr id="8" name="Text 4"/>
          <p:cNvSpPr txBox="1"/>
          <p:nvPr/>
        </p:nvSpPr>
        <p:spPr>
          <a:xfrm>
            <a:off x="8595360" y="3063240"/>
            <a:ext cx="3017520" cy="82296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1.04–1.07×</a:t>
            </a:r>
            <a:endParaRPr lang="en-US" sz="3000" dirty="0"/>
          </a:p>
        </p:txBody>
      </p:sp>
      <p:sp>
        <p:nvSpPr>
          <p:cNvPr id="9" name="Text 5"/>
          <p:cNvSpPr txBox="1"/>
          <p:nvPr/>
        </p:nvSpPr>
        <p:spPr>
          <a:xfrm>
            <a:off x="8595360" y="3931920"/>
            <a:ext cx="3017520" cy="822960"/>
          </a:xfrm>
          <a:prstGeom prst="rect">
            <a:avLst/>
          </a:prstGeom>
          <a:noFill/>
          <a:ln/>
        </p:spPr>
        <p:txBody>
          <a:bodyPr wrap="square" lIns="0" tIns="0" rIns="0" bIns="0" rtlCol="0" anchor="t"/>
          <a:lstStyle/>
          <a:p>
            <a:pPr marL="0" indent="0">
              <a:buNone/>
            </a:pPr>
            <a:r>
              <a:rPr lang="en-US" sz="1400" dirty="0">
                <a:solidFill>
                  <a:schemeClr val="tx1"/>
                </a:solidFill>
              </a:rPr>
              <a:t>the same ratio, edge-on: the degeneracy lifts only partially</a:t>
            </a:r>
            <a:endParaRPr lang="en-US" sz="1400" dirty="0"/>
          </a:p>
        </p:txBody>
      </p:sp>
      <p:sp>
        <p:nvSpPr>
          <p:cNvPr id="10" name="selfcheck"/>
          <p:cNvSpPr/>
          <p:nvPr/>
        </p:nvSpPr>
        <p:spPr>
          <a:xfrm>
            <a:off x="548640" y="5349240"/>
            <a:ext cx="11064240" cy="868680"/>
          </a:xfrm>
          <a:prstGeom prst="roundRect">
            <a:avLst>
              <a:gd name="adj" fmla="val 12632"/>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1" name="Text 7"/>
          <p:cNvSpPr txBox="1"/>
          <p:nvPr/>
        </p:nvSpPr>
        <p:spPr>
          <a:xfrm>
            <a:off x="822960" y="5349240"/>
            <a:ext cx="10515600" cy="868680"/>
          </a:xfrm>
          <a:prstGeom prst="rect">
            <a:avLst/>
          </a:prstGeom>
          <a:noFill/>
          <a:ln/>
        </p:spPr>
        <p:txBody>
          <a:bodyPr wrap="square" lIns="0" tIns="0" rIns="0" bIns="0" rtlCol="0" anchor="ctr"/>
          <a:lstStyle/>
          <a:p>
            <a:pPr marL="0" indent="0">
              <a:buNone/>
            </a:pPr>
            <a:r>
              <a:rPr lang="en-US" sz="1600" b="1" dirty="0">
                <a:solidFill>
                  <a:schemeClr val="tx1"/>
                </a:solidFill>
              </a:rPr>
              <a:t>Self-check passed: </a:t>
            </a:r>
            <a:r>
              <a:rPr lang="en-US" sz="1600" dirty="0">
                <a:solidFill>
                  <a:schemeClr val="tx1"/>
                </a:solidFill>
              </a:rPr>
              <a:t>(</a:t>
            </a:r>
            <a:r>
              <a:rPr lang="en-US" sz="1600" i="1" dirty="0">
                <a:solidFill>
                  <a:schemeClr val="tx1"/>
                </a:solidFill>
              </a:rPr>
              <a:t>R</a:t>
            </a:r>
            <a:r>
              <a:rPr lang="en-US" sz="1600" dirty="0">
                <a:solidFill>
                  <a:schemeClr val="tx1"/>
                </a:solidFill>
              </a:rPr>
              <a:t>, </a:t>
            </a:r>
            <a:r>
              <a:rPr lang="en-US" sz="1600" i="1" dirty="0">
                <a:solidFill>
                  <a:schemeClr val="tx1"/>
                </a:solidFill>
              </a:rPr>
              <a:t>δ</a:t>
            </a:r>
            <a:r>
              <a:rPr lang="en-US" sz="1600" dirty="0">
                <a:solidFill>
                  <a:schemeClr val="tx1"/>
                </a:solidFill>
              </a:rPr>
              <a:t>) stays constant along 2</a:t>
            </a:r>
            <a:r>
              <a:rPr lang="en-US" sz="1600" i="1" dirty="0">
                <a:solidFill>
                  <a:schemeClr val="tx1"/>
                </a:solidFill>
              </a:rPr>
              <a:t>φ</a:t>
            </a:r>
            <a:r>
              <a:rPr lang="en-US" sz="1600" baseline="-25000" dirty="0">
                <a:solidFill>
                  <a:schemeClr val="tx1"/>
                </a:solidFill>
              </a:rPr>
              <a:t>c</a:t>
            </a:r>
            <a:r>
              <a:rPr lang="en-US" sz="1600" dirty="0">
                <a:solidFill>
                  <a:schemeClr val="tx1"/>
                </a:solidFill>
              </a:rPr>
              <a:t> + 2</a:t>
            </a:r>
            <a:r>
              <a:rPr lang="en-US" sz="1600" i="1" dirty="0">
                <a:solidFill>
                  <a:schemeClr val="tx1"/>
                </a:solidFill>
              </a:rPr>
              <a:t>ψ</a:t>
            </a:r>
            <a:r>
              <a:rPr lang="en-US" sz="1600" dirty="0">
                <a:solidFill>
                  <a:schemeClr val="tx1"/>
                </a:solidFill>
              </a:rPr>
              <a:t> = const at face-on; largest standard deviations 1.16×10</a:t>
            </a:r>
            <a:r>
              <a:rPr lang="en-US" sz="1600" baseline="30000" dirty="0">
                <a:solidFill>
                  <a:schemeClr val="tx1"/>
                </a:solidFill>
              </a:rPr>
              <a:t>−14</a:t>
            </a:r>
            <a:r>
              <a:rPr lang="en-US" sz="1600" dirty="0">
                <a:solidFill>
                  <a:schemeClr val="tx1"/>
                </a:solidFill>
              </a:rPr>
              <a:t> and 5.87×10</a:t>
            </a:r>
            <a:r>
              <a:rPr lang="en-US" sz="1600" baseline="30000" dirty="0">
                <a:solidFill>
                  <a:schemeClr val="tx1"/>
                </a:solidFill>
              </a:rPr>
              <a:t>−16</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Data and targets</a:t>
            </a:r>
            <a:endParaRPr lang="en-US" sz="3600" dirty="0"/>
          </a:p>
        </p:txBody>
      </p:sp>
      <p:sp>
        <p:nvSpPr>
          <p:cNvPr id="4" name="stat card 0"/>
          <p:cNvSpPr/>
          <p:nvPr/>
        </p:nvSpPr>
        <p:spPr>
          <a:xfrm>
            <a:off x="548640" y="1371600"/>
            <a:ext cx="256032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5" name="Text 2"/>
          <p:cNvSpPr txBox="1"/>
          <p:nvPr/>
        </p:nvSpPr>
        <p:spPr>
          <a:xfrm>
            <a:off x="777240" y="1645920"/>
            <a:ext cx="2194560" cy="73152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25k / 5k</a:t>
            </a:r>
            <a:endParaRPr lang="en-US" sz="2200" dirty="0"/>
          </a:p>
        </p:txBody>
      </p:sp>
      <p:sp>
        <p:nvSpPr>
          <p:cNvPr id="6" name="Text 3"/>
          <p:cNvSpPr txBox="1"/>
          <p:nvPr/>
        </p:nvSpPr>
        <p:spPr>
          <a:xfrm>
            <a:off x="777240" y="2514600"/>
            <a:ext cx="2103120" cy="1188720"/>
          </a:xfrm>
          <a:prstGeom prst="rect">
            <a:avLst/>
          </a:prstGeom>
          <a:noFill/>
          <a:ln/>
        </p:spPr>
        <p:txBody>
          <a:bodyPr wrap="square" lIns="0" tIns="0" rIns="0" bIns="0" rtlCol="0" anchor="t"/>
          <a:lstStyle/>
          <a:p>
            <a:pPr marL="0" indent="0">
              <a:buNone/>
            </a:pPr>
            <a:r>
              <a:rPr lang="en-US" sz="1400" dirty="0">
                <a:solidFill>
                  <a:schemeClr val="tx1"/>
                </a:solidFill>
              </a:rPr>
              <a:t>simulated training / validation events (IMRPhenomD, dominant mode only)</a:t>
            </a:r>
            <a:endParaRPr lang="en-US" sz="1400" dirty="0"/>
          </a:p>
        </p:txBody>
      </p:sp>
      <p:sp>
        <p:nvSpPr>
          <p:cNvPr id="7" name="stat card 1"/>
          <p:cNvSpPr/>
          <p:nvPr/>
        </p:nvSpPr>
        <p:spPr>
          <a:xfrm>
            <a:off x="3383280" y="1371600"/>
            <a:ext cx="256032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8" name="Text 5"/>
          <p:cNvSpPr txBox="1"/>
          <p:nvPr/>
        </p:nvSpPr>
        <p:spPr>
          <a:xfrm>
            <a:off x="3611880" y="1645920"/>
            <a:ext cx="2194560" cy="73152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2 s · 2048 Hz</a:t>
            </a:r>
            <a:endParaRPr lang="en-US" sz="2200" dirty="0"/>
          </a:p>
        </p:txBody>
      </p:sp>
      <p:sp>
        <p:nvSpPr>
          <p:cNvPr id="9" name="Text 6"/>
          <p:cNvSpPr txBox="1"/>
          <p:nvPr/>
        </p:nvSpPr>
        <p:spPr>
          <a:xfrm>
            <a:off x="3611880" y="2514600"/>
            <a:ext cx="2103120" cy="1188720"/>
          </a:xfrm>
          <a:prstGeom prst="rect">
            <a:avLst/>
          </a:prstGeom>
          <a:noFill/>
          <a:ln/>
        </p:spPr>
        <p:txBody>
          <a:bodyPr wrap="square" lIns="0" tIns="0" rIns="0" bIns="0" rtlCol="0" anchor="t"/>
          <a:lstStyle/>
          <a:p>
            <a:pPr marL="0" indent="0">
              <a:buNone/>
            </a:pPr>
            <a:r>
              <a:rPr lang="en-US" sz="1400" dirty="0">
                <a:solidFill>
                  <a:schemeClr val="tx1"/>
                </a:solidFill>
              </a:rPr>
              <a:t>strain windows for H1 and L1</a:t>
            </a:r>
            <a:endParaRPr lang="en-US" sz="1400" dirty="0"/>
          </a:p>
        </p:txBody>
      </p:sp>
      <p:sp>
        <p:nvSpPr>
          <p:cNvPr id="10" name="stat card 2"/>
          <p:cNvSpPr/>
          <p:nvPr/>
        </p:nvSpPr>
        <p:spPr>
          <a:xfrm>
            <a:off x="6217920" y="1371600"/>
            <a:ext cx="256032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1" name="Text 8"/>
          <p:cNvSpPr txBox="1"/>
          <p:nvPr/>
        </p:nvSpPr>
        <p:spPr>
          <a:xfrm>
            <a:off x="6446520" y="1645920"/>
            <a:ext cx="2194560" cy="73152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1.0</a:t>
            </a:r>
            <a:endParaRPr lang="en-US" sz="2200" dirty="0"/>
          </a:p>
        </p:txBody>
      </p:sp>
      <p:sp>
        <p:nvSpPr>
          <p:cNvPr id="12" name="Text 9"/>
          <p:cNvSpPr txBox="1"/>
          <p:nvPr/>
        </p:nvSpPr>
        <p:spPr>
          <a:xfrm>
            <a:off x="6446520" y="2514600"/>
            <a:ext cx="2103120" cy="1188720"/>
          </a:xfrm>
          <a:prstGeom prst="rect">
            <a:avLst/>
          </a:prstGeom>
          <a:noFill/>
          <a:ln/>
        </p:spPr>
        <p:txBody>
          <a:bodyPr wrap="square" lIns="0" tIns="0" rIns="0" bIns="0" rtlCol="0" anchor="t"/>
          <a:lstStyle/>
          <a:p>
            <a:pPr marL="0" indent="0">
              <a:buNone/>
            </a:pPr>
            <a:r>
              <a:rPr lang="en-US" sz="1400" dirty="0">
                <a:solidFill>
                  <a:schemeClr val="tx1"/>
                </a:solidFill>
              </a:rPr>
              <a:t>circular loss of a random guess: the chance level for every angle head</a:t>
            </a:r>
            <a:endParaRPr lang="en-US" sz="1400" dirty="0"/>
          </a:p>
        </p:txBody>
      </p:sp>
      <p:sp>
        <p:nvSpPr>
          <p:cNvPr id="13" name="stat card 3"/>
          <p:cNvSpPr/>
          <p:nvPr/>
        </p:nvSpPr>
        <p:spPr>
          <a:xfrm>
            <a:off x="9052560" y="1371600"/>
            <a:ext cx="256032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4" name="Text 11"/>
          <p:cNvSpPr txBox="1"/>
          <p:nvPr/>
        </p:nvSpPr>
        <p:spPr>
          <a:xfrm>
            <a:off x="9281160" y="1645920"/>
            <a:ext cx="2194560" cy="73152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π/2 · π/4</a:t>
            </a:r>
            <a:endParaRPr lang="en-US" sz="2200" dirty="0"/>
          </a:p>
        </p:txBody>
      </p:sp>
      <p:sp>
        <p:nvSpPr>
          <p:cNvPr id="15" name="Text 12"/>
          <p:cNvSpPr txBox="1"/>
          <p:nvPr/>
        </p:nvSpPr>
        <p:spPr>
          <a:xfrm>
            <a:off x="9281160" y="2514600"/>
            <a:ext cx="2103120" cy="1188720"/>
          </a:xfrm>
          <a:prstGeom prst="rect">
            <a:avLst/>
          </a:prstGeom>
          <a:noFill/>
          <a:ln/>
        </p:spPr>
        <p:txBody>
          <a:bodyPr wrap="square" lIns="0" tIns="0" rIns="0" bIns="0" rtlCol="0" anchor="t"/>
          <a:lstStyle/>
          <a:p>
            <a:pPr marL="0" indent="0">
              <a:buNone/>
            </a:pPr>
            <a:r>
              <a:rPr lang="en-US" sz="1400" dirty="0">
                <a:solidFill>
                  <a:schemeClr val="tx1"/>
                </a:solidFill>
              </a:rPr>
              <a:t>angular MAE of a constant prediction, for </a:t>
            </a:r>
            <a:r>
              <a:rPr lang="en-US" sz="1400" i="1" dirty="0">
                <a:solidFill>
                  <a:schemeClr val="tx1"/>
                </a:solidFill>
              </a:rPr>
              <a:t>φ</a:t>
            </a:r>
            <a:r>
              <a:rPr lang="en-US" sz="1400" baseline="-25000" dirty="0">
                <a:solidFill>
                  <a:schemeClr val="tx1"/>
                </a:solidFill>
              </a:rPr>
              <a:t>c</a:t>
            </a:r>
            <a:r>
              <a:rPr lang="en-US" sz="1400" dirty="0">
                <a:solidFill>
                  <a:schemeClr val="tx1"/>
                </a:solidFill>
              </a:rPr>
              <a:t> and </a:t>
            </a:r>
            <a:r>
              <a:rPr lang="en-US" sz="1400" i="1" dirty="0">
                <a:solidFill>
                  <a:schemeClr val="tx1"/>
                </a:solidFill>
              </a:rPr>
              <a:t>ψ</a:t>
            </a:r>
            <a:r>
              <a:rPr lang="en-US" sz="1400" dirty="0">
                <a:solidFill>
                  <a:schemeClr val="tx1"/>
                </a:solidFill>
              </a:rPr>
              <a:t> respectively</a:t>
            </a:r>
            <a:endParaRPr lang="en-US" sz="1400" dirty="0"/>
          </a:p>
        </p:txBody>
      </p:sp>
      <p:sp>
        <p:nvSpPr>
          <p:cNvPr id="16" name="Text 13"/>
          <p:cNvSpPr txBox="1"/>
          <p:nvPr/>
        </p:nvSpPr>
        <p:spPr>
          <a:xfrm>
            <a:off x="548640" y="4114800"/>
            <a:ext cx="11064240" cy="548640"/>
          </a:xfrm>
          <a:prstGeom prst="rect">
            <a:avLst/>
          </a:prstGeom>
          <a:noFill/>
          <a:ln/>
        </p:spPr>
        <p:txBody>
          <a:bodyPr wrap="square" lIns="0" tIns="0" rIns="0" bIns="0" rtlCol="0" anchor="t"/>
          <a:lstStyle/>
          <a:p>
            <a:pPr marL="0" indent="0">
              <a:buNone/>
            </a:pPr>
            <a:r>
              <a:rPr lang="en-US" sz="1600" dirty="0">
                <a:solidFill>
                  <a:schemeClr val="tx1"/>
                </a:solidFill>
              </a:rPr>
              <a:t>Periodic targets are regressed on the unit circle with a circular loss, so wrap-around never penalizes the network.</a:t>
            </a:r>
            <a:endParaRPr lang="en-US" sz="1600" dirty="0"/>
          </a:p>
        </p:txBody>
      </p:sp>
      <p:sp>
        <p:nvSpPr>
          <p:cNvPr id="17" name="positive controls"/>
          <p:cNvSpPr/>
          <p:nvPr/>
        </p:nvSpPr>
        <p:spPr>
          <a:xfrm>
            <a:off x="548640" y="4846320"/>
            <a:ext cx="11064240" cy="1325880"/>
          </a:xfrm>
          <a:prstGeom prst="roundRect">
            <a:avLst>
              <a:gd name="adj" fmla="val 8276"/>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8" name="Text 15"/>
          <p:cNvSpPr txBox="1"/>
          <p:nvPr/>
        </p:nvSpPr>
        <p:spPr>
          <a:xfrm>
            <a:off x="914400" y="5029200"/>
            <a:ext cx="3657600" cy="320040"/>
          </a:xfrm>
          <a:prstGeom prst="rect">
            <a:avLst/>
          </a:prstGeom>
          <a:noFill/>
          <a:ln/>
        </p:spPr>
        <p:txBody>
          <a:bodyPr wrap="square" lIns="0" tIns="0" rIns="0" bIns="0" rtlCol="0" anchor="t"/>
          <a:lstStyle/>
          <a:p>
            <a:pPr marL="0" indent="0">
              <a:buNone/>
            </a:pPr>
            <a:r>
              <a:rPr lang="en-US" sz="1400" b="1" dirty="0">
                <a:solidFill>
                  <a:schemeClr val="accent1"/>
                </a:solidFill>
              </a:rPr>
              <a:t>POSITIVE CONTROLS</a:t>
            </a:r>
            <a:endParaRPr lang="en-US" sz="1400" dirty="0"/>
          </a:p>
        </p:txBody>
      </p:sp>
      <p:sp>
        <p:nvSpPr>
          <p:cNvPr id="19" name="Text 16"/>
          <p:cNvSpPr txBox="1"/>
          <p:nvPr/>
        </p:nvSpPr>
        <p:spPr>
          <a:xfrm>
            <a:off x="914400" y="5394960"/>
            <a:ext cx="10332720" cy="731520"/>
          </a:xfrm>
          <a:prstGeom prst="rect">
            <a:avLst/>
          </a:prstGeom>
          <a:noFill/>
          <a:ln/>
        </p:spPr>
        <p:txBody>
          <a:bodyPr wrap="square" lIns="0" tIns="0" rIns="0" bIns="0" rtlCol="0" anchor="t"/>
          <a:lstStyle/>
          <a:p>
            <a:pPr marL="0" indent="0">
              <a:buNone/>
            </a:pPr>
            <a:r>
              <a:rPr lang="en-US" sz="1600" dirty="0">
                <a:solidFill>
                  <a:schemeClr val="bg1"/>
                </a:solidFill>
              </a:rPr>
              <a:t>Chirp mass, merger time and SNR must be recovered by the same shared features. If they are, a failure on </a:t>
            </a:r>
            <a:r>
              <a:rPr lang="en-US" sz="1600" i="1" dirty="0">
                <a:solidFill>
                  <a:schemeClr val="bg1"/>
                </a:solidFill>
              </a:rPr>
              <a:t>φ</a:t>
            </a:r>
            <a:r>
              <a:rPr lang="en-US" sz="1600" baseline="-25000" dirty="0">
                <a:solidFill>
                  <a:schemeClr val="bg1"/>
                </a:solidFill>
              </a:rPr>
              <a:t>c</a:t>
            </a:r>
            <a:r>
              <a:rPr lang="en-US" sz="1600" dirty="0">
                <a:solidFill>
                  <a:schemeClr val="bg1"/>
                </a:solidFill>
              </a:rPr>
              <a:t> and </a:t>
            </a:r>
            <a:r>
              <a:rPr lang="en-US" sz="1600" i="1" dirty="0">
                <a:solidFill>
                  <a:schemeClr val="bg1"/>
                </a:solidFill>
              </a:rPr>
              <a:t>ψ</a:t>
            </a:r>
            <a:r>
              <a:rPr lang="en-US" sz="1600" dirty="0">
                <a:solidFill>
                  <a:schemeClr val="bg1"/>
                </a:solidFill>
              </a:rPr>
              <a:t> is a statement about those angles, not about the pipeline.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From five trunks to four models</a:t>
            </a:r>
            <a:endParaRPr lang="en-US" sz="3600" dirty="0"/>
          </a:p>
        </p:txBody>
      </p:sp>
      <p:sp>
        <p:nvSpPr>
          <p:cNvPr id="4" name="flow box 0"/>
          <p:cNvSpPr/>
          <p:nvPr/>
        </p:nvSpPr>
        <p:spPr>
          <a:xfrm>
            <a:off x="548640" y="1371600"/>
            <a:ext cx="3383280" cy="2286000"/>
          </a:xfrm>
          <a:prstGeom prst="roundRect">
            <a:avLst>
              <a:gd name="adj" fmla="val 48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5" name="Text 2"/>
          <p:cNvSpPr txBox="1"/>
          <p:nvPr/>
        </p:nvSpPr>
        <p:spPr>
          <a:xfrm>
            <a:off x="822960" y="1600200"/>
            <a:ext cx="2834640" cy="320040"/>
          </a:xfrm>
          <a:prstGeom prst="rect">
            <a:avLst/>
          </a:prstGeom>
          <a:noFill/>
          <a:ln/>
        </p:spPr>
        <p:txBody>
          <a:bodyPr wrap="square" lIns="0" tIns="0" rIns="0" bIns="0" rtlCol="0" anchor="t"/>
          <a:lstStyle/>
          <a:p>
            <a:pPr marL="0" indent="0">
              <a:buNone/>
            </a:pPr>
            <a:r>
              <a:rPr lang="en-US" sz="1400" b="1" dirty="0">
                <a:solidFill>
                  <a:schemeClr val="accent5"/>
                </a:solidFill>
              </a:rPr>
              <a:t>ROUND 1 SCREEN</a:t>
            </a:r>
            <a:endParaRPr lang="en-US" sz="1400" dirty="0"/>
          </a:p>
        </p:txBody>
      </p:sp>
      <p:sp>
        <p:nvSpPr>
          <p:cNvPr id="6" name="Text 3"/>
          <p:cNvSpPr txBox="1"/>
          <p:nvPr/>
        </p:nvSpPr>
        <p:spPr>
          <a:xfrm>
            <a:off x="822960" y="1965960"/>
            <a:ext cx="283464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5 trunks, 7 configs</a:t>
            </a:r>
            <a:endParaRPr lang="en-US" sz="1800" dirty="0"/>
          </a:p>
        </p:txBody>
      </p:sp>
      <p:sp>
        <p:nvSpPr>
          <p:cNvPr id="7" name="Text 4"/>
          <p:cNvSpPr txBox="1"/>
          <p:nvPr/>
        </p:nvSpPr>
        <p:spPr>
          <a:xfrm>
            <a:off x="822960" y="2468880"/>
            <a:ext cx="2834640" cy="1097280"/>
          </a:xfrm>
          <a:prstGeom prst="rect">
            <a:avLst/>
          </a:prstGeom>
          <a:noFill/>
          <a:ln/>
        </p:spPr>
        <p:txBody>
          <a:bodyPr wrap="square" lIns="0" tIns="0" rIns="0" bIns="0" rtlCol="0" anchor="t"/>
          <a:lstStyle/>
          <a:p>
            <a:pPr marL="0" indent="0">
              <a:buNone/>
            </a:pPr>
            <a:r>
              <a:rPr lang="en-US" sz="1400" dirty="0">
                <a:solidFill>
                  <a:schemeClr val="tx1"/>
                </a:solidFill>
              </a:rPr>
              <a:t>TCN, plain CNN, conv-transformer, InceptionTime, ResNet. All sat at chance on </a:t>
            </a:r>
            <a:r>
              <a:rPr lang="en-US" sz="1400" i="1" dirty="0">
                <a:solidFill>
                  <a:schemeClr val="tx1"/>
                </a:solidFill>
              </a:rPr>
              <a:t>φ</a:t>
            </a:r>
            <a:r>
              <a:rPr lang="en-US" sz="1400" baseline="-25000" dirty="0">
                <a:solidFill>
                  <a:schemeClr val="tx1"/>
                </a:solidFill>
              </a:rPr>
              <a:t>c</a:t>
            </a:r>
            <a:r>
              <a:rPr lang="en-US" sz="1400" dirty="0">
                <a:solidFill>
                  <a:schemeClr val="tx1"/>
                </a:solidFill>
              </a:rPr>
              <a:t> and </a:t>
            </a:r>
            <a:r>
              <a:rPr lang="en-US" sz="1400" i="1" dirty="0">
                <a:solidFill>
                  <a:schemeClr val="tx1"/>
                </a:solidFill>
              </a:rPr>
              <a:t>ψ</a:t>
            </a:r>
            <a:r>
              <a:rPr lang="en-US" sz="1400" dirty="0">
                <a:solidFill>
                  <a:schemeClr val="tx1"/>
                </a:solidFill>
              </a:rPr>
              <a:t>, so the screen could not discriminate.</a:t>
            </a:r>
            <a:endParaRPr lang="en-US" sz="1400" dirty="0"/>
          </a:p>
        </p:txBody>
      </p:sp>
      <p:sp>
        <p:nvSpPr>
          <p:cNvPr id="8" name="flow arrow 0"/>
          <p:cNvSpPr/>
          <p:nvPr/>
        </p:nvSpPr>
        <p:spPr>
          <a:xfrm>
            <a:off x="4005072" y="2286000"/>
            <a:ext cx="310896" cy="457200"/>
          </a:xfrm>
          <a:prstGeom prst="rightArrow">
            <a:avLst/>
          </a:prstGeom>
          <a:solidFill>
            <a:schemeClr val="accent1"/>
          </a:solidFill>
          <a:ln w="12700">
            <a:solidFill>
              <a:schemeClr val="accent1"/>
            </a:solidFill>
            <a:prstDash val="solid"/>
          </a:ln>
        </p:spPr>
      </p:sp>
      <p:sp>
        <p:nvSpPr>
          <p:cNvPr id="9" name="flow box 1"/>
          <p:cNvSpPr/>
          <p:nvPr/>
        </p:nvSpPr>
        <p:spPr>
          <a:xfrm>
            <a:off x="4389120" y="1371600"/>
            <a:ext cx="3383280" cy="2286000"/>
          </a:xfrm>
          <a:prstGeom prst="roundRect">
            <a:avLst>
              <a:gd name="adj" fmla="val 48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0" name="Text 7"/>
          <p:cNvSpPr txBox="1"/>
          <p:nvPr/>
        </p:nvSpPr>
        <p:spPr>
          <a:xfrm>
            <a:off x="4663440" y="1600200"/>
            <a:ext cx="2834640" cy="320040"/>
          </a:xfrm>
          <a:prstGeom prst="rect">
            <a:avLst/>
          </a:prstGeom>
          <a:noFill/>
          <a:ln/>
        </p:spPr>
        <p:txBody>
          <a:bodyPr wrap="square" lIns="0" tIns="0" rIns="0" bIns="0" rtlCol="0" anchor="t"/>
          <a:lstStyle/>
          <a:p>
            <a:pPr marL="0" indent="0">
              <a:buNone/>
            </a:pPr>
            <a:r>
              <a:rPr lang="en-US" sz="1400" b="1" dirty="0">
                <a:solidFill>
                  <a:schemeClr val="accent5"/>
                </a:solidFill>
              </a:rPr>
              <a:t>DOWN-SELECT</a:t>
            </a:r>
            <a:endParaRPr lang="en-US" sz="1400" dirty="0"/>
          </a:p>
        </p:txBody>
      </p:sp>
      <p:sp>
        <p:nvSpPr>
          <p:cNvPr id="11" name="Text 8"/>
          <p:cNvSpPr txBox="1"/>
          <p:nvPr/>
        </p:nvSpPr>
        <p:spPr>
          <a:xfrm>
            <a:off x="4663440" y="1965960"/>
            <a:ext cx="283464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Positive-control </a:t>
            </a:r>
            <a:r>
              <a:rPr lang="en-US" sz="1800" b="1" i="1" dirty="0">
                <a:solidFill>
                  <a:schemeClr val="tx1"/>
                </a:solidFill>
                <a:latin typeface="Cambria" pitchFamily="34" charset="0"/>
                <a:ea typeface="Cambria" pitchFamily="34" charset="-122"/>
                <a:cs typeface="Cambria" pitchFamily="34" charset="-120"/>
              </a:rPr>
              <a:t>R</a:t>
            </a:r>
            <a:r>
              <a:rPr lang="en-US" sz="1800" b="1" baseline="30000" dirty="0">
                <a:solidFill>
                  <a:schemeClr val="tx1"/>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4663440" y="2468880"/>
            <a:ext cx="2834640" cy="1097280"/>
          </a:xfrm>
          <a:prstGeom prst="rect">
            <a:avLst/>
          </a:prstGeom>
          <a:noFill/>
          <a:ln/>
        </p:spPr>
        <p:txBody>
          <a:bodyPr wrap="square" lIns="0" tIns="0" rIns="0" bIns="0" rtlCol="0" anchor="t"/>
          <a:lstStyle/>
          <a:p>
            <a:pPr marL="0" indent="0">
              <a:buNone/>
            </a:pPr>
            <a:r>
              <a:rPr lang="en-US" sz="1400" dirty="0">
                <a:solidFill>
                  <a:schemeClr val="tx1"/>
                </a:solidFill>
              </a:rPr>
              <a:t>Chirp mass, merger time and SNR. No numeric threshold was used.</a:t>
            </a:r>
            <a:endParaRPr lang="en-US" sz="1400" dirty="0"/>
          </a:p>
        </p:txBody>
      </p:sp>
      <p:sp>
        <p:nvSpPr>
          <p:cNvPr id="13" name="flow arrow 1"/>
          <p:cNvSpPr/>
          <p:nvPr/>
        </p:nvSpPr>
        <p:spPr>
          <a:xfrm>
            <a:off x="7845552" y="2286000"/>
            <a:ext cx="310896" cy="457200"/>
          </a:xfrm>
          <a:prstGeom prst="rightArrow">
            <a:avLst/>
          </a:prstGeom>
          <a:solidFill>
            <a:schemeClr val="accent1"/>
          </a:solidFill>
          <a:ln w="12700">
            <a:solidFill>
              <a:schemeClr val="accent1"/>
            </a:solidFill>
            <a:prstDash val="solid"/>
          </a:ln>
        </p:spPr>
      </p:sp>
      <p:sp>
        <p:nvSpPr>
          <p:cNvPr id="14" name="flow box 2"/>
          <p:cNvSpPr/>
          <p:nvPr/>
        </p:nvSpPr>
        <p:spPr>
          <a:xfrm>
            <a:off x="8229600" y="1371600"/>
            <a:ext cx="3383280" cy="2286000"/>
          </a:xfrm>
          <a:prstGeom prst="roundRect">
            <a:avLst>
              <a:gd name="adj" fmla="val 4800"/>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5" name="Text 12"/>
          <p:cNvSpPr txBox="1"/>
          <p:nvPr/>
        </p:nvSpPr>
        <p:spPr>
          <a:xfrm>
            <a:off x="8503920" y="1600200"/>
            <a:ext cx="2834640" cy="320040"/>
          </a:xfrm>
          <a:prstGeom prst="rect">
            <a:avLst/>
          </a:prstGeom>
          <a:noFill/>
          <a:ln/>
        </p:spPr>
        <p:txBody>
          <a:bodyPr wrap="square" lIns="0" tIns="0" rIns="0" bIns="0" rtlCol="0" anchor="t"/>
          <a:lstStyle/>
          <a:p>
            <a:pPr marL="0" indent="0">
              <a:buNone/>
            </a:pPr>
            <a:r>
              <a:rPr lang="en-US" sz="1400" b="1" dirty="0">
                <a:solidFill>
                  <a:schemeClr val="accent1"/>
                </a:solidFill>
              </a:rPr>
              <a:t>ANALYSIS SET</a:t>
            </a:r>
            <a:endParaRPr lang="en-US" sz="1400" dirty="0"/>
          </a:p>
        </p:txBody>
      </p:sp>
      <p:sp>
        <p:nvSpPr>
          <p:cNvPr id="16" name="Text 13"/>
          <p:cNvSpPr txBox="1"/>
          <p:nvPr/>
        </p:nvSpPr>
        <p:spPr>
          <a:xfrm>
            <a:off x="8503920" y="1965960"/>
            <a:ext cx="2834640" cy="45720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4 models, 2 trunks</a:t>
            </a:r>
            <a:endParaRPr lang="en-US" sz="1800" dirty="0"/>
          </a:p>
        </p:txBody>
      </p:sp>
      <p:sp>
        <p:nvSpPr>
          <p:cNvPr id="17" name="Text 14"/>
          <p:cNvSpPr txBox="1"/>
          <p:nvPr/>
        </p:nvSpPr>
        <p:spPr>
          <a:xfrm>
            <a:off x="8503920" y="2468880"/>
            <a:ext cx="2834640" cy="1097280"/>
          </a:xfrm>
          <a:prstGeom prst="rect">
            <a:avLst/>
          </a:prstGeom>
          <a:noFill/>
          <a:ln/>
        </p:spPr>
        <p:txBody>
          <a:bodyPr wrap="square" lIns="0" tIns="0" rIns="0" bIns="0" rtlCol="0" anchor="t"/>
          <a:lstStyle/>
          <a:p>
            <a:pPr marL="0" indent="0">
              <a:buNone/>
            </a:pPr>
            <a:r>
              <a:rPr lang="en-US" sz="1400" dirty="0">
                <a:solidFill>
                  <a:schemeClr val="bg1"/>
                </a:solidFill>
              </a:rPr>
              <a:t>POC</a:t>
            </a:r>
            <a:r>
              <a:rPr lang="en-US" sz="1400" baseline="-25000" dirty="0">
                <a:solidFill>
                  <a:schemeClr val="bg1"/>
                </a:solidFill>
              </a:rPr>
              <a:t>A</a:t>
            </a:r>
            <a:r>
              <a:rPr lang="en-US" sz="1400" dirty="0">
                <a:solidFill>
                  <a:schemeClr val="bg1"/>
                </a:solidFill>
              </a:rPr>
              <a:t>, POC</a:t>
            </a:r>
            <a:r>
              <a:rPr lang="en-US" sz="1400" baseline="-25000" dirty="0">
                <a:solidFill>
                  <a:schemeClr val="bg1"/>
                </a:solidFill>
              </a:rPr>
              <a:t>B</a:t>
            </a:r>
            <a:r>
              <a:rPr lang="en-US" sz="1400" dirty="0">
                <a:solidFill>
                  <a:schemeClr val="bg1"/>
                </a:solidFill>
              </a:rPr>
              <a:t>, TCN, CNN</a:t>
            </a:r>
            <a:r>
              <a:rPr lang="en-US" sz="1400" baseline="-25000" dirty="0">
                <a:solidFill>
                  <a:schemeClr val="bg1"/>
                </a:solidFill>
              </a:rPr>
              <a:t>attention</a:t>
            </a:r>
            <a:r>
              <a:rPr lang="en-US" sz="1400" dirty="0">
                <a:solidFill>
                  <a:schemeClr val="bg1"/>
                </a:solidFill>
              </a:rPr>
              <a:t>. The three dropped trunks were never run through the full battery.</a:t>
            </a:r>
            <a:endParaRPr lang="en-US" sz="1400" dirty="0"/>
          </a:p>
        </p:txBody>
      </p:sp>
      <p:sp>
        <p:nvSpPr>
          <p:cNvPr id="18" name="heads card"/>
          <p:cNvSpPr/>
          <p:nvPr/>
        </p:nvSpPr>
        <p:spPr>
          <a:xfrm>
            <a:off x="548640" y="3977640"/>
            <a:ext cx="5394960" cy="2194560"/>
          </a:xfrm>
          <a:prstGeom prst="roundRect">
            <a:avLst>
              <a:gd name="adj" fmla="val 50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9" name="Text 16"/>
          <p:cNvSpPr txBox="1"/>
          <p:nvPr/>
        </p:nvSpPr>
        <p:spPr>
          <a:xfrm>
            <a:off x="822960" y="4160520"/>
            <a:ext cx="4846320" cy="365760"/>
          </a:xfrm>
          <a:prstGeom prst="rect">
            <a:avLst/>
          </a:prstGeom>
          <a:noFill/>
          <a:ln/>
        </p:spPr>
        <p:txBody>
          <a:bodyPr wrap="square" lIns="0" tIns="0" rIns="0" bIns="0" rtlCol="0" anchor="t"/>
          <a:lstStyle/>
          <a:p>
            <a:pPr marL="0" indent="0">
              <a:buNone/>
            </a:pPr>
            <a:r>
              <a:rPr lang="en-US" sz="1800" b="1" dirty="0">
                <a:solidFill>
                  <a:schemeClr val="tx1"/>
                </a:solidFill>
              </a:rPr>
              <a:t>Two head parameterizations</a:t>
            </a:r>
            <a:endParaRPr lang="en-US" sz="1800" dirty="0"/>
          </a:p>
        </p:txBody>
      </p:sp>
      <p:sp>
        <p:nvSpPr>
          <p:cNvPr id="20" name="Text 17"/>
          <p:cNvSpPr txBox="1"/>
          <p:nvPr/>
        </p:nvSpPr>
        <p:spPr>
          <a:xfrm>
            <a:off x="822960" y="461772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POC</a:t>
            </a:r>
            <a:r>
              <a:rPr lang="en-US" sz="1600" baseline="-25000" dirty="0">
                <a:solidFill>
                  <a:schemeClr val="tx1"/>
                </a:solidFill>
              </a:rPr>
              <a:t>A</a:t>
            </a:r>
            <a:r>
              <a:rPr lang="en-US" sz="1600" dirty="0">
                <a:solidFill>
                  <a:schemeClr val="tx1"/>
                </a:solidFill>
              </a:rPr>
              <a:t>: independent-angle baseline</a:t>
            </a:r>
            <a:endParaRPr lang="en-US" sz="1600" dirty="0"/>
          </a:p>
          <a:p>
            <a:pPr marL="342900" indent="-342900">
              <a:spcAft>
                <a:spcPts val="800"/>
              </a:spcAft>
              <a:buSzPct val="100000"/>
              <a:buChar char="•"/>
            </a:pPr>
            <a:r>
              <a:rPr lang="en-US" sz="1600" dirty="0">
                <a:solidFill>
                  <a:schemeClr val="tx1"/>
                </a:solidFill>
              </a:rPr>
              <a:t>POC</a:t>
            </a:r>
            <a:r>
              <a:rPr lang="en-US" sz="1600" baseline="-25000" dirty="0">
                <a:solidFill>
                  <a:schemeClr val="tx1"/>
                </a:solidFill>
              </a:rPr>
              <a:t>B</a:t>
            </a:r>
            <a:r>
              <a:rPr lang="en-US" sz="1600" dirty="0">
                <a:solidFill>
                  <a:schemeClr val="tx1"/>
                </a:solidFill>
              </a:rPr>
              <a:t>: explicit combination-space head (2</a:t>
            </a:r>
            <a:r>
              <a:rPr lang="en-US" sz="1600" i="1" dirty="0">
                <a:solidFill>
                  <a:schemeClr val="tx1"/>
                </a:solidFill>
              </a:rPr>
              <a:t>φ</a:t>
            </a:r>
            <a:r>
              <a:rPr lang="en-US" sz="1600" baseline="-25000" dirty="0">
                <a:solidFill>
                  <a:schemeClr val="tx1"/>
                </a:solidFill>
              </a:rPr>
              <a:t>c</a:t>
            </a:r>
            <a:r>
              <a:rPr lang="en-US" sz="1600" dirty="0">
                <a:solidFill>
                  <a:schemeClr val="tx1"/>
                </a:solidFill>
              </a:rPr>
              <a:t> + 2</a:t>
            </a:r>
            <a:r>
              <a:rPr lang="en-US" sz="1600" i="1" dirty="0">
                <a:solidFill>
                  <a:schemeClr val="tx1"/>
                </a:solidFill>
              </a:rPr>
              <a:t>ψ</a:t>
            </a:r>
            <a:r>
              <a:rPr lang="en-US" sz="1600" dirty="0">
                <a:solidFill>
                  <a:schemeClr val="tx1"/>
                </a:solidFill>
              </a:rPr>
              <a:t>, 2</a:t>
            </a:r>
            <a:r>
              <a:rPr lang="en-US" sz="1600" i="1" dirty="0">
                <a:solidFill>
                  <a:schemeClr val="tx1"/>
                </a:solidFill>
              </a:rPr>
              <a:t>φ</a:t>
            </a:r>
            <a:r>
              <a:rPr lang="en-US" sz="1600" baseline="-25000" dirty="0">
                <a:solidFill>
                  <a:schemeClr val="tx1"/>
                </a:solidFill>
              </a:rPr>
              <a:t>c</a:t>
            </a:r>
            <a:r>
              <a:rPr lang="en-US" sz="1600" dirty="0">
                <a:solidFill>
                  <a:schemeClr val="tx1"/>
                </a:solidFill>
              </a:rPr>
              <a:t> − 2</a:t>
            </a:r>
            <a:r>
              <a:rPr lang="en-US" sz="1600" i="1" dirty="0">
                <a:solidFill>
                  <a:schemeClr val="tx1"/>
                </a:solidFill>
              </a:rPr>
              <a:t>ψ</a:t>
            </a:r>
            <a:r>
              <a:rPr lang="en-US" sz="1600" dirty="0">
                <a:solidFill>
                  <a:schemeClr val="tx1"/>
                </a:solidFill>
              </a:rPr>
              <a:t>)</a:t>
            </a:r>
            <a:endParaRPr lang="en-US" sz="1600" dirty="0"/>
          </a:p>
        </p:txBody>
      </p:sp>
      <p:sp>
        <p:nvSpPr>
          <p:cNvPr id="21" name="lambda card"/>
          <p:cNvSpPr/>
          <p:nvPr/>
        </p:nvSpPr>
        <p:spPr>
          <a:xfrm>
            <a:off x="6217920" y="3977640"/>
            <a:ext cx="5394960" cy="2194560"/>
          </a:xfrm>
          <a:prstGeom prst="roundRect">
            <a:avLst>
              <a:gd name="adj" fmla="val 50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22" name="Text 19"/>
          <p:cNvSpPr txBox="1"/>
          <p:nvPr/>
        </p:nvSpPr>
        <p:spPr>
          <a:xfrm>
            <a:off x="6492240" y="4160520"/>
            <a:ext cx="4846320" cy="365760"/>
          </a:xfrm>
          <a:prstGeom prst="rect">
            <a:avLst/>
          </a:prstGeom>
          <a:noFill/>
          <a:ln/>
        </p:spPr>
        <p:txBody>
          <a:bodyPr wrap="square" lIns="0" tIns="0" rIns="0" bIns="0" rtlCol="0" anchor="t"/>
          <a:lstStyle/>
          <a:p>
            <a:pPr marL="0" indent="0">
              <a:buNone/>
            </a:pPr>
            <a:r>
              <a:rPr lang="en-US" sz="1800" b="1" dirty="0">
                <a:solidFill>
                  <a:schemeClr val="tx1"/>
                </a:solidFill>
              </a:rPr>
              <a:t>Radial magnitude penalty</a:t>
            </a:r>
            <a:endParaRPr lang="en-US" sz="1800" dirty="0"/>
          </a:p>
        </p:txBody>
      </p:sp>
      <p:sp>
        <p:nvSpPr>
          <p:cNvPr id="23" name="Text 20"/>
          <p:cNvSpPr txBox="1"/>
          <p:nvPr/>
        </p:nvSpPr>
        <p:spPr>
          <a:xfrm>
            <a:off x="6492240" y="461772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i="1" dirty="0">
                <a:solidFill>
                  <a:schemeClr val="tx1"/>
                </a:solidFill>
              </a:rPr>
              <a:t>λ</a:t>
            </a:r>
            <a:r>
              <a:rPr lang="en-US" sz="1600" dirty="0">
                <a:solidFill>
                  <a:schemeClr val="tx1"/>
                </a:solidFill>
              </a:rPr>
              <a:t> = 0.01, 0.05 and 0.10 on the TCN models</a:t>
            </a:r>
            <a:endParaRPr lang="en-US" sz="1600" dirty="0"/>
          </a:p>
          <a:p>
            <a:pPr marL="342900" indent="-342900">
              <a:spcAft>
                <a:spcPts val="800"/>
              </a:spcAft>
              <a:buSzPct val="100000"/>
              <a:buChar char="•"/>
            </a:pPr>
            <a:r>
              <a:rPr lang="en-US" sz="1600" dirty="0">
                <a:solidFill>
                  <a:schemeClr val="tx1"/>
                </a:solidFill>
              </a:rPr>
              <a:t>Aim: keep the raw head outputs from shrinking to zero magnitude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The result at a glance</a:t>
            </a:r>
            <a:endParaRPr lang="en-US" sz="3600" dirty="0"/>
          </a:p>
        </p:txBody>
      </p:sp>
      <p:pic>
        <p:nvPicPr>
          <p:cNvPr id="4" name="Image 0" descr="Health-check heatmap: positive-control heads green, φc and ψ heads dead or collapsed in all four models"/>
          <p:cNvPicPr>
            <a:picLocks noChangeAspect="1"/>
          </p:cNvPicPr>
          <p:nvPr/>
        </p:nvPicPr>
        <p:blipFill>
          <a:blip r:embed="rId3"/>
          <a:stretch>
            <a:fillRect/>
          </a:stretch>
        </p:blipFill>
        <p:spPr>
          <a:xfrm>
            <a:off x="1340335" y="1325880"/>
            <a:ext cx="9480850" cy="2286000"/>
          </a:xfrm>
          <a:prstGeom prst="rect">
            <a:avLst/>
          </a:prstGeom>
        </p:spPr>
      </p:pic>
      <p:sp>
        <p:nvSpPr>
          <p:cNvPr id="5" name="takeaway 0"/>
          <p:cNvSpPr/>
          <p:nvPr/>
        </p:nvSpPr>
        <p:spPr>
          <a:xfrm>
            <a:off x="548640" y="3794760"/>
            <a:ext cx="3566160" cy="2377440"/>
          </a:xfrm>
          <a:prstGeom prst="roundRect">
            <a:avLst>
              <a:gd name="adj" fmla="val 4615"/>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6" name="Text 2"/>
          <p:cNvSpPr txBox="1"/>
          <p:nvPr/>
        </p:nvSpPr>
        <p:spPr>
          <a:xfrm>
            <a:off x="822960" y="4023360"/>
            <a:ext cx="3017520" cy="45720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Controls recover</a:t>
            </a:r>
            <a:endParaRPr lang="en-US" sz="2000" dirty="0"/>
          </a:p>
        </p:txBody>
      </p:sp>
      <p:sp>
        <p:nvSpPr>
          <p:cNvPr id="7" name="Text 3"/>
          <p:cNvSpPr txBox="1"/>
          <p:nvPr/>
        </p:nvSpPr>
        <p:spPr>
          <a:xfrm>
            <a:off x="822960" y="4572000"/>
            <a:ext cx="3017520" cy="1463040"/>
          </a:xfrm>
          <a:prstGeom prst="rect">
            <a:avLst/>
          </a:prstGeom>
          <a:noFill/>
          <a:ln/>
        </p:spPr>
        <p:txBody>
          <a:bodyPr wrap="square" lIns="0" tIns="0" rIns="0" bIns="0" rtlCol="0" anchor="t"/>
          <a:lstStyle/>
          <a:p>
            <a:pPr marL="0" indent="0">
              <a:buNone/>
            </a:pPr>
            <a:r>
              <a:rPr lang="en-US" sz="1400" dirty="0">
                <a:solidFill>
                  <a:schemeClr val="tx1"/>
                </a:solidFill>
              </a:rPr>
              <a:t>Chirp mass </a:t>
            </a:r>
            <a:r>
              <a:rPr lang="en-US" sz="1400" i="1" dirty="0">
                <a:solidFill>
                  <a:schemeClr val="tx1"/>
                </a:solidFill>
              </a:rPr>
              <a:t>R</a:t>
            </a:r>
            <a:r>
              <a:rPr lang="en-US" sz="1400" baseline="30000" dirty="0">
                <a:solidFill>
                  <a:schemeClr val="tx1"/>
                </a:solidFill>
              </a:rPr>
              <a:t>2</a:t>
            </a:r>
            <a:r>
              <a:rPr lang="en-US" sz="1400" dirty="0">
                <a:solidFill>
                  <a:schemeClr val="tx1"/>
                </a:solidFill>
              </a:rPr>
              <a:t> 0.92–0.96, merger time 0.90–0.92, SNR 0.75–0.79: the shared features carry real information.</a:t>
            </a:r>
            <a:endParaRPr lang="en-US" sz="1400" dirty="0"/>
          </a:p>
        </p:txBody>
      </p:sp>
      <p:sp>
        <p:nvSpPr>
          <p:cNvPr id="8" name="takeaway 1"/>
          <p:cNvSpPr/>
          <p:nvPr/>
        </p:nvSpPr>
        <p:spPr>
          <a:xfrm>
            <a:off x="4297680" y="3794760"/>
            <a:ext cx="3566160" cy="2377440"/>
          </a:xfrm>
          <a:prstGeom prst="roundRect">
            <a:avLst>
              <a:gd name="adj" fmla="val 4615"/>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9" name="Text 5"/>
          <p:cNvSpPr txBox="1"/>
          <p:nvPr/>
        </p:nvSpPr>
        <p:spPr>
          <a:xfrm>
            <a:off x="4572000" y="4023360"/>
            <a:ext cx="3017520" cy="457200"/>
          </a:xfrm>
          <a:prstGeom prst="rect">
            <a:avLst/>
          </a:prstGeom>
          <a:noFill/>
          <a:ln/>
        </p:spPr>
        <p:txBody>
          <a:bodyPr wrap="square" lIns="0" tIns="0" rIns="0" bIns="0" rtlCol="0" anchor="t"/>
          <a:lstStyle/>
          <a:p>
            <a:pPr marL="0" indent="0">
              <a:buNone/>
            </a:pPr>
            <a:r>
              <a:rPr lang="en-US" sz="2000" b="1" i="1" dirty="0">
                <a:solidFill>
                  <a:schemeClr val="accent4"/>
                </a:solidFill>
                <a:latin typeface="Cambria" pitchFamily="34" charset="0"/>
                <a:ea typeface="Cambria" pitchFamily="34" charset="-122"/>
                <a:cs typeface="Cambria" pitchFamily="34" charset="-120"/>
              </a:rPr>
              <a:t>φ</a:t>
            </a:r>
            <a:r>
              <a:rPr lang="en-US" sz="2000" b="1" baseline="-25000" dirty="0">
                <a:solidFill>
                  <a:schemeClr val="accent4"/>
                </a:solidFill>
                <a:latin typeface="Cambria" pitchFamily="34" charset="0"/>
                <a:ea typeface="Cambria" pitchFamily="34" charset="-122"/>
                <a:cs typeface="Cambria" pitchFamily="34" charset="-120"/>
              </a:rPr>
              <a:t>c</a:t>
            </a:r>
            <a:r>
              <a:rPr lang="en-US" sz="2000" b="1" dirty="0">
                <a:solidFill>
                  <a:schemeClr val="accent4"/>
                </a:solidFill>
                <a:latin typeface="Cambria" pitchFamily="34" charset="0"/>
                <a:ea typeface="Cambria" pitchFamily="34" charset="-122"/>
                <a:cs typeface="Cambria" pitchFamily="34" charset="-120"/>
              </a:rPr>
              <a:t> and </a:t>
            </a:r>
            <a:r>
              <a:rPr lang="en-US" sz="2000" b="1" i="1" dirty="0">
                <a:solidFill>
                  <a:schemeClr val="accent4"/>
                </a:solidFill>
                <a:latin typeface="Cambria" pitchFamily="34" charset="0"/>
                <a:ea typeface="Cambria" pitchFamily="34" charset="-122"/>
                <a:cs typeface="Cambria" pitchFamily="34" charset="-120"/>
              </a:rPr>
              <a:t>ψ</a:t>
            </a:r>
            <a:r>
              <a:rPr lang="en-US" sz="2000" b="1" dirty="0">
                <a:solidFill>
                  <a:schemeClr val="accent4"/>
                </a:solidFill>
                <a:latin typeface="Cambria" pitchFamily="34" charset="0"/>
                <a:ea typeface="Cambria" pitchFamily="34" charset="-122"/>
                <a:cs typeface="Cambria" pitchFamily="34" charset="-120"/>
              </a:rPr>
              <a:t> do not</a:t>
            </a:r>
            <a:endParaRPr lang="en-US" sz="2000" dirty="0"/>
          </a:p>
        </p:txBody>
      </p:sp>
      <p:sp>
        <p:nvSpPr>
          <p:cNvPr id="10" name="Text 6"/>
          <p:cNvSpPr txBox="1"/>
          <p:nvPr/>
        </p:nvSpPr>
        <p:spPr>
          <a:xfrm>
            <a:off x="4572000" y="4572000"/>
            <a:ext cx="3017520" cy="1463040"/>
          </a:xfrm>
          <a:prstGeom prst="rect">
            <a:avLst/>
          </a:prstGeom>
          <a:noFill/>
          <a:ln/>
        </p:spPr>
        <p:txBody>
          <a:bodyPr wrap="square" lIns="0" tIns="0" rIns="0" bIns="0" rtlCol="0" anchor="t"/>
          <a:lstStyle/>
          <a:p>
            <a:pPr marL="0" indent="0">
              <a:buNone/>
            </a:pPr>
            <a:r>
              <a:rPr lang="en-US" sz="1400" dirty="0">
                <a:solidFill>
                  <a:schemeClr val="tx1"/>
                </a:solidFill>
              </a:rPr>
              <a:t>Every configuration converges to the random-guess baseline (MAE ≈ 1.55–1.59 rad for </a:t>
            </a:r>
            <a:r>
              <a:rPr lang="en-US" sz="1400" i="1" dirty="0">
                <a:solidFill>
                  <a:schemeClr val="tx1"/>
                </a:solidFill>
              </a:rPr>
              <a:t>φ</a:t>
            </a:r>
            <a:r>
              <a:rPr lang="en-US" sz="1400" baseline="-25000" dirty="0">
                <a:solidFill>
                  <a:schemeClr val="tx1"/>
                </a:solidFill>
              </a:rPr>
              <a:t>c</a:t>
            </a:r>
            <a:r>
              <a:rPr lang="en-US" sz="1400" dirty="0">
                <a:solidFill>
                  <a:schemeClr val="tx1"/>
                </a:solidFill>
              </a:rPr>
              <a:t>).</a:t>
            </a:r>
            <a:endParaRPr lang="en-US" sz="1400" dirty="0"/>
          </a:p>
        </p:txBody>
      </p:sp>
      <p:sp>
        <p:nvSpPr>
          <p:cNvPr id="11" name="takeaway 2"/>
          <p:cNvSpPr/>
          <p:nvPr/>
        </p:nvSpPr>
        <p:spPr>
          <a:xfrm>
            <a:off x="8046720" y="3794760"/>
            <a:ext cx="3566160" cy="2377440"/>
          </a:xfrm>
          <a:prstGeom prst="roundRect">
            <a:avLst>
              <a:gd name="adj" fmla="val 4615"/>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2" name="Text 8"/>
          <p:cNvSpPr txBox="1"/>
          <p:nvPr/>
        </p:nvSpPr>
        <p:spPr>
          <a:xfrm>
            <a:off x="8321040" y="4023360"/>
            <a:ext cx="3017520" cy="45720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Two modes of failure</a:t>
            </a:r>
            <a:endParaRPr lang="en-US" sz="2000" dirty="0"/>
          </a:p>
        </p:txBody>
      </p:sp>
      <p:sp>
        <p:nvSpPr>
          <p:cNvPr id="13" name="Text 9"/>
          <p:cNvSpPr txBox="1"/>
          <p:nvPr/>
        </p:nvSpPr>
        <p:spPr>
          <a:xfrm>
            <a:off x="8321040" y="4572000"/>
            <a:ext cx="3017520" cy="1463040"/>
          </a:xfrm>
          <a:prstGeom prst="rect">
            <a:avLst/>
          </a:prstGeom>
          <a:noFill/>
          <a:ln/>
        </p:spPr>
        <p:txBody>
          <a:bodyPr wrap="square" lIns="0" tIns="0" rIns="0" bIns="0" rtlCol="0" anchor="t"/>
          <a:lstStyle/>
          <a:p>
            <a:pPr marL="0" indent="0">
              <a:buNone/>
            </a:pPr>
            <a:r>
              <a:rPr lang="en-US" sz="1400" dirty="0">
                <a:solidFill>
                  <a:schemeClr val="tx1"/>
                </a:solidFill>
              </a:rPr>
              <a:t>POC</a:t>
            </a:r>
            <a:r>
              <a:rPr lang="en-US" sz="1400" baseline="-25000" dirty="0">
                <a:solidFill>
                  <a:schemeClr val="tx1"/>
                </a:solidFill>
              </a:rPr>
              <a:t>A</a:t>
            </a:r>
            <a:r>
              <a:rPr lang="en-US" sz="1400" dirty="0">
                <a:solidFill>
                  <a:schemeClr val="tx1"/>
                </a:solidFill>
              </a:rPr>
              <a:t> (</a:t>
            </a:r>
            <a:r>
              <a:rPr lang="en-US" sz="1400" i="1" dirty="0">
                <a:solidFill>
                  <a:schemeClr val="tx1"/>
                </a:solidFill>
              </a:rPr>
              <a:t>ψ</a:t>
            </a:r>
            <a:r>
              <a:rPr lang="en-US" sz="1400" dirty="0">
                <a:solidFill>
                  <a:schemeClr val="tx1"/>
                </a:solidFill>
              </a:rPr>
              <a:t>) and POC</a:t>
            </a:r>
            <a:r>
              <a:rPr lang="en-US" sz="1400" baseline="-25000" dirty="0">
                <a:solidFill>
                  <a:schemeClr val="tx1"/>
                </a:solidFill>
              </a:rPr>
              <a:t>B</a:t>
            </a:r>
            <a:r>
              <a:rPr lang="en-US" sz="1400" dirty="0">
                <a:solidFill>
                  <a:schemeClr val="tx1"/>
                </a:solidFill>
              </a:rPr>
              <a:t> (</a:t>
            </a:r>
            <a:r>
              <a:rPr lang="en-US" sz="1400" i="1" dirty="0">
                <a:solidFill>
                  <a:schemeClr val="tx1"/>
                </a:solidFill>
              </a:rPr>
              <a:t>φ</a:t>
            </a:r>
            <a:r>
              <a:rPr lang="en-US" sz="1400" baseline="-25000" dirty="0">
                <a:solidFill>
                  <a:schemeClr val="tx1"/>
                </a:solidFill>
              </a:rPr>
              <a:t>c</a:t>
            </a:r>
            <a:r>
              <a:rPr lang="en-US" sz="1400" dirty="0">
                <a:solidFill>
                  <a:schemeClr val="tx1"/>
                </a:solidFill>
              </a:rPr>
              <a:t>, </a:t>
            </a:r>
            <a:r>
              <a:rPr lang="en-US" sz="1400" i="1" dirty="0">
                <a:solidFill>
                  <a:schemeClr val="tx1"/>
                </a:solidFill>
              </a:rPr>
              <a:t>ψ</a:t>
            </a:r>
            <a:r>
              <a:rPr lang="en-US" sz="1400" dirty="0">
                <a:solidFill>
                  <a:schemeClr val="tx1"/>
                </a:solidFill>
              </a:rPr>
              <a:t>) collapse to one angle; TCN and CNN</a:t>
            </a:r>
            <a:r>
              <a:rPr lang="en-US" sz="1400" baseline="-25000" dirty="0">
                <a:solidFill>
                  <a:schemeClr val="tx1"/>
                </a:solidFill>
              </a:rPr>
              <a:t>attention</a:t>
            </a:r>
            <a:r>
              <a:rPr lang="en-US" sz="1400" dirty="0">
                <a:solidFill>
                  <a:schemeClr val="tx1"/>
                </a:solidFill>
              </a:rPr>
              <a:t> are noisy and uninformative instead.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Mode collapse on </a:t>
            </a:r>
            <a:r>
              <a:rPr lang="en-US" sz="3600" b="1" i="1" dirty="0">
                <a:solidFill>
                  <a:schemeClr val="tx1"/>
                </a:solidFill>
              </a:rPr>
              <a:t>ψ</a:t>
            </a:r>
            <a:endParaRPr lang="en-US" sz="3600" dirty="0"/>
          </a:p>
        </p:txBody>
      </p:sp>
      <p:pic>
        <p:nvPicPr>
          <p:cNvPr id="4" name="Image 0" descr="Histograms of predicted psi for four models; poc_a and poc_b are single spikes, tcn and cnn_attention are broad uninformative bands, true psi is flat"/>
          <p:cNvPicPr>
            <a:picLocks noChangeAspect="1"/>
          </p:cNvPicPr>
          <p:nvPr/>
        </p:nvPicPr>
        <p:blipFill>
          <a:blip r:embed="rId3"/>
          <a:stretch>
            <a:fillRect/>
          </a:stretch>
        </p:blipFill>
        <p:spPr>
          <a:xfrm>
            <a:off x="548640" y="1325880"/>
            <a:ext cx="7315200" cy="3182112"/>
          </a:xfrm>
          <a:prstGeom prst="rect">
            <a:avLst/>
          </a:prstGeom>
        </p:spPr>
      </p:pic>
      <p:sp>
        <p:nvSpPr>
          <p:cNvPr id="5" name="Text 1"/>
          <p:cNvSpPr txBox="1"/>
          <p:nvPr/>
        </p:nvSpPr>
        <p:spPr>
          <a:xfrm>
            <a:off x="548640" y="4617720"/>
            <a:ext cx="7315200" cy="548640"/>
          </a:xfrm>
          <a:prstGeom prst="rect">
            <a:avLst/>
          </a:prstGeom>
          <a:noFill/>
          <a:ln/>
        </p:spPr>
        <p:txBody>
          <a:bodyPr wrap="square" lIns="0" tIns="0" rIns="0" bIns="0" rtlCol="0" anchor="t"/>
          <a:lstStyle/>
          <a:p>
            <a:pPr marL="0" indent="0">
              <a:buNone/>
            </a:pPr>
            <a:r>
              <a:rPr lang="en-US" sz="1400" dirty="0">
                <a:solidFill>
                  <a:schemeClr val="accent5"/>
                </a:solidFill>
              </a:rPr>
              <a:t>Grey: true </a:t>
            </a:r>
            <a:r>
              <a:rPr lang="en-US" sz="1400" i="1" dirty="0">
                <a:solidFill>
                  <a:schemeClr val="accent5"/>
                </a:solidFill>
              </a:rPr>
              <a:t>ψ</a:t>
            </a:r>
            <a:r>
              <a:rPr lang="en-US" sz="1400" dirty="0">
                <a:solidFill>
                  <a:schemeClr val="accent5"/>
                </a:solidFill>
              </a:rPr>
              <a:t> (flat over 0 to π). Colour: model predictions on the 5,000 validation events.</a:t>
            </a:r>
            <a:endParaRPr lang="en-US" sz="1400" dirty="0"/>
          </a:p>
        </p:txBody>
      </p:sp>
      <p:sp>
        <p:nvSpPr>
          <p:cNvPr id="6" name="Text 2"/>
          <p:cNvSpPr txBox="1"/>
          <p:nvPr/>
        </p:nvSpPr>
        <p:spPr>
          <a:xfrm>
            <a:off x="8229600" y="1325880"/>
            <a:ext cx="3383280" cy="822960"/>
          </a:xfrm>
          <a:prstGeom prst="rect">
            <a:avLst/>
          </a:prstGeom>
          <a:noFill/>
          <a:ln/>
        </p:spPr>
        <p:txBody>
          <a:bodyPr wrap="square" lIns="0" tIns="0" rIns="0" bIns="0" rtlCol="0" anchor="t"/>
          <a:lstStyle/>
          <a:p>
            <a:pPr marL="0" indent="0">
              <a:buNone/>
            </a:pPr>
            <a:r>
              <a:rPr lang="en-US" sz="4600" b="1" dirty="0">
                <a:solidFill>
                  <a:schemeClr val="accent4"/>
                </a:solidFill>
                <a:latin typeface="Cambria" pitchFamily="34" charset="0"/>
                <a:ea typeface="Cambria" pitchFamily="34" charset="-122"/>
                <a:cs typeface="Cambria" pitchFamily="34" charset="-120"/>
              </a:rPr>
              <a:t>99.9%</a:t>
            </a:r>
            <a:endParaRPr lang="en-US" sz="4600" dirty="0"/>
          </a:p>
        </p:txBody>
      </p:sp>
      <p:sp>
        <p:nvSpPr>
          <p:cNvPr id="7" name="Text 3"/>
          <p:cNvSpPr txBox="1"/>
          <p:nvPr/>
        </p:nvSpPr>
        <p:spPr>
          <a:xfrm>
            <a:off x="8229600" y="2194560"/>
            <a:ext cx="3383280" cy="822960"/>
          </a:xfrm>
          <a:prstGeom prst="rect">
            <a:avLst/>
          </a:prstGeom>
          <a:noFill/>
          <a:ln/>
        </p:spPr>
        <p:txBody>
          <a:bodyPr wrap="square" lIns="0" tIns="0" rIns="0" bIns="0" rtlCol="0" anchor="t"/>
          <a:lstStyle/>
          <a:p>
            <a:pPr marL="0" indent="0">
              <a:buNone/>
            </a:pPr>
            <a:r>
              <a:rPr lang="en-US" sz="1400" dirty="0">
                <a:solidFill>
                  <a:schemeClr val="tx1"/>
                </a:solidFill>
              </a:rPr>
              <a:t>of POC</a:t>
            </a:r>
            <a:r>
              <a:rPr lang="en-US" sz="1400" baseline="-25000" dirty="0">
                <a:solidFill>
                  <a:schemeClr val="tx1"/>
                </a:solidFill>
              </a:rPr>
              <a:t>B</a:t>
            </a:r>
            <a:r>
              <a:rPr lang="en-US" sz="1400" dirty="0">
                <a:solidFill>
                  <a:schemeClr val="tx1"/>
                </a:solidFill>
              </a:rPr>
              <a:t>'s 5,000 </a:t>
            </a:r>
            <a:r>
              <a:rPr lang="en-US" sz="1400" i="1" dirty="0">
                <a:solidFill>
                  <a:schemeClr val="tx1"/>
                </a:solidFill>
              </a:rPr>
              <a:t>ψ</a:t>
            </a:r>
            <a:r>
              <a:rPr lang="en-US" sz="1400" dirty="0">
                <a:solidFill>
                  <a:schemeClr val="tx1"/>
                </a:solidFill>
              </a:rPr>
              <a:t> predictions fall in one histogram bin</a:t>
            </a:r>
            <a:endParaRPr lang="en-US" sz="1400" dirty="0"/>
          </a:p>
        </p:txBody>
      </p:sp>
      <p:sp>
        <p:nvSpPr>
          <p:cNvPr id="8" name="collapse notes"/>
          <p:cNvSpPr/>
          <p:nvPr/>
        </p:nvSpPr>
        <p:spPr>
          <a:xfrm>
            <a:off x="8229600" y="3200400"/>
            <a:ext cx="3383280" cy="2971800"/>
          </a:xfrm>
          <a:prstGeom prst="roundRect">
            <a:avLst>
              <a:gd name="adj" fmla="val 3692"/>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9" name="Text 5"/>
          <p:cNvSpPr txBox="1"/>
          <p:nvPr/>
        </p:nvSpPr>
        <p:spPr>
          <a:xfrm>
            <a:off x="8503920" y="3383280"/>
            <a:ext cx="2880360" cy="26517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Collapsed: </a:t>
            </a:r>
            <a:r>
              <a:rPr lang="en-US" sz="1400" dirty="0">
                <a:solidFill>
                  <a:schemeClr val="tx1"/>
                </a:solidFill>
              </a:rPr>
              <a:t>POC</a:t>
            </a:r>
            <a:r>
              <a:rPr lang="en-US" sz="1400" baseline="-25000" dirty="0">
                <a:solidFill>
                  <a:schemeClr val="tx1"/>
                </a:solidFill>
              </a:rPr>
              <a:t>A</a:t>
            </a:r>
            <a:r>
              <a:rPr lang="en-US" sz="1400" dirty="0">
                <a:solidFill>
                  <a:schemeClr val="tx1"/>
                </a:solidFill>
              </a:rPr>
              <a:t>, POC</a:t>
            </a:r>
            <a:r>
              <a:rPr lang="en-US" sz="1400" baseline="-25000" dirty="0">
                <a:solidFill>
                  <a:schemeClr val="tx1"/>
                </a:solidFill>
              </a:rPr>
              <a:t>B</a:t>
            </a:r>
            <a:r>
              <a:rPr lang="en-US" sz="1400" dirty="0">
                <a:solidFill>
                  <a:schemeClr val="tx1"/>
                </a:solidFill>
              </a:rPr>
              <a:t> output a near-constant angle whatever the input</a:t>
            </a:r>
            <a:endParaRPr lang="en-US" sz="1400" dirty="0"/>
          </a:p>
          <a:p>
            <a:pPr marL="342900" indent="-342900">
              <a:spcAft>
                <a:spcPts val="800"/>
              </a:spcAft>
              <a:buSzPct val="100000"/>
              <a:buChar char="•"/>
            </a:pPr>
            <a:r>
              <a:rPr lang="en-US" sz="1400" b="1" dirty="0">
                <a:solidFill>
                  <a:schemeClr val="tx1"/>
                </a:solidFill>
              </a:rPr>
              <a:t>Not collapsed: </a:t>
            </a:r>
            <a:r>
              <a:rPr lang="en-US" sz="1400" dirty="0">
                <a:solidFill>
                  <a:schemeClr val="tx1"/>
                </a:solidFill>
              </a:rPr>
              <a:t>TCN, CNN</a:t>
            </a:r>
            <a:r>
              <a:rPr lang="en-US" sz="1400" baseline="-25000" dirty="0">
                <a:solidFill>
                  <a:schemeClr val="tx1"/>
                </a:solidFill>
              </a:rPr>
              <a:t>attention</a:t>
            </a:r>
            <a:r>
              <a:rPr lang="en-US" sz="1400" dirty="0">
                <a:solidFill>
                  <a:schemeClr val="tx1"/>
                </a:solidFill>
              </a:rPr>
              <a:t> are noisy and uninformative, a different failure with the same conclusion</a:t>
            </a:r>
            <a:endParaRPr lang="en-US" sz="1400" dirty="0"/>
          </a:p>
        </p:txBody>
      </p:sp>
      <p:sp>
        <p:nvSpPr>
          <p:cNvPr id="10" name="collapse take"/>
          <p:cNvSpPr/>
          <p:nvPr/>
        </p:nvSpPr>
        <p:spPr>
          <a:xfrm>
            <a:off x="548640" y="5257800"/>
            <a:ext cx="7315200" cy="914400"/>
          </a:xfrm>
          <a:prstGeom prst="roundRect">
            <a:avLst>
              <a:gd name="adj" fmla="val 12000"/>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1" name="Text 7"/>
          <p:cNvSpPr txBox="1"/>
          <p:nvPr/>
        </p:nvSpPr>
        <p:spPr>
          <a:xfrm>
            <a:off x="822960" y="5257800"/>
            <a:ext cx="6766560" cy="914400"/>
          </a:xfrm>
          <a:prstGeom prst="rect">
            <a:avLst/>
          </a:prstGeom>
          <a:noFill/>
          <a:ln/>
        </p:spPr>
        <p:txBody>
          <a:bodyPr wrap="square" lIns="0" tIns="0" rIns="0" bIns="0" rtlCol="0" anchor="ctr"/>
          <a:lstStyle/>
          <a:p>
            <a:pPr marL="0" indent="0">
              <a:buNone/>
            </a:pPr>
            <a:r>
              <a:rPr lang="en-US" sz="1400" dirty="0">
                <a:solidFill>
                  <a:schemeClr val="bg1"/>
                </a:solidFill>
              </a:rPr>
              <a:t>Collapse is a model failing to find any </a:t>
            </a:r>
            <a:r>
              <a:rPr lang="en-US" sz="1400" i="1" dirty="0">
                <a:solidFill>
                  <a:schemeClr val="bg1"/>
                </a:solidFill>
              </a:rPr>
              <a:t>φ</a:t>
            </a:r>
            <a:r>
              <a:rPr lang="en-US" sz="1400" baseline="-25000" dirty="0">
                <a:solidFill>
                  <a:schemeClr val="bg1"/>
                </a:solidFill>
              </a:rPr>
              <a:t>c</a:t>
            </a:r>
            <a:r>
              <a:rPr lang="en-US" sz="1400" dirty="0">
                <a:solidFill>
                  <a:schemeClr val="bg1"/>
                </a:solidFill>
              </a:rPr>
              <a:t>/</a:t>
            </a:r>
            <a:r>
              <a:rPr lang="en-US" sz="1400" i="1" dirty="0">
                <a:solidFill>
                  <a:schemeClr val="bg1"/>
                </a:solidFill>
              </a:rPr>
              <a:t>ψ</a:t>
            </a:r>
            <a:r>
              <a:rPr lang="en-US" sz="1400" dirty="0">
                <a:solidFill>
                  <a:schemeClr val="bg1"/>
                </a:solidFill>
              </a:rPr>
              <a:t> signal, not a plotting artifact: the loss wiring and gradient chain were checked and are healthy.</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Three at chance, one memorizer</a:t>
            </a:r>
            <a:endParaRPr lang="en-US" sz="3600" dirty="0"/>
          </a:p>
        </p:txBody>
      </p:sp>
      <p:pic>
        <p:nvPicPr>
          <p:cNvPr id="4" name="Image 0" descr="Train and validation circular loss over 80 epochs; three models flat at 1.0, cnn_attention training loss falls to about 0.55 while validation stays at 1.0"/>
          <p:cNvPicPr>
            <a:picLocks noChangeAspect="1"/>
          </p:cNvPicPr>
          <p:nvPr/>
        </p:nvPicPr>
        <p:blipFill>
          <a:blip r:embed="rId3"/>
          <a:stretch>
            <a:fillRect/>
          </a:stretch>
        </p:blipFill>
        <p:spPr>
          <a:xfrm>
            <a:off x="548640" y="1280160"/>
            <a:ext cx="11064240" cy="4379976"/>
          </a:xfrm>
          <a:prstGeom prst="rect">
            <a:avLst/>
          </a:prstGeom>
        </p:spPr>
      </p:pic>
      <p:sp>
        <p:nvSpPr>
          <p:cNvPr id="5" name="Text 1"/>
          <p:cNvSpPr txBox="1"/>
          <p:nvPr/>
        </p:nvSpPr>
        <p:spPr>
          <a:xfrm>
            <a:off x="548640" y="5760720"/>
            <a:ext cx="11064240" cy="548640"/>
          </a:xfrm>
          <a:prstGeom prst="rect">
            <a:avLst/>
          </a:prstGeom>
          <a:noFill/>
          <a:ln/>
        </p:spPr>
        <p:txBody>
          <a:bodyPr wrap="square" lIns="0" tIns="0" rIns="0" bIns="0" rtlCol="0" anchor="t"/>
          <a:lstStyle/>
          <a:p>
            <a:pPr marL="0" indent="0">
              <a:buNone/>
            </a:pPr>
            <a:r>
              <a:rPr lang="en-US" sz="1600" dirty="0">
                <a:solidFill>
                  <a:schemeClr val="tx1"/>
                </a:solidFill>
              </a:rPr>
              <a:t>Three models sit at the null on both splits. </a:t>
            </a:r>
            <a:r>
              <a:rPr lang="en-US" sz="1600" b="1" dirty="0">
                <a:solidFill>
                  <a:schemeClr val="tx1"/>
                </a:solidFill>
              </a:rPr>
              <a:t>CNN</a:t>
            </a:r>
            <a:r>
              <a:rPr lang="en-US" sz="1600" b="1" baseline="-25000" dirty="0">
                <a:solidFill>
                  <a:schemeClr val="tx1"/>
                </a:solidFill>
              </a:rPr>
              <a:t>attention</a:t>
            </a:r>
            <a:r>
              <a:rPr lang="en-US" sz="1600" b="1" dirty="0">
                <a:solidFill>
                  <a:schemeClr val="tx1"/>
                </a:solidFill>
              </a:rPr>
              <a:t> memorizes: </a:t>
            </a:r>
            <a:r>
              <a:rPr lang="en-US" sz="1600" dirty="0">
                <a:solidFill>
                  <a:schemeClr val="tx1"/>
                </a:solidFill>
              </a:rPr>
              <a:t>training loss falls to about 0.55 while validation stays at 1.0.</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bg1"/>
                </a:solidFill>
              </a:rPr>
              <a:t>The pre-registered gate never cleared</a:t>
            </a:r>
            <a:endParaRPr lang="en-US" sz="3600" dirty="0"/>
          </a:p>
        </p:txBody>
      </p:sp>
      <p:sp>
        <p:nvSpPr>
          <p:cNvPr id="4" name="Text 1"/>
          <p:cNvSpPr txBox="1"/>
          <p:nvPr/>
        </p:nvSpPr>
        <p:spPr>
          <a:xfrm>
            <a:off x="548640" y="1280160"/>
            <a:ext cx="11064240" cy="548640"/>
          </a:xfrm>
          <a:prstGeom prst="rect">
            <a:avLst/>
          </a:prstGeom>
          <a:noFill/>
          <a:ln/>
        </p:spPr>
        <p:txBody>
          <a:bodyPr wrap="square" lIns="0" tIns="0" rIns="0" bIns="0" rtlCol="0" anchor="t"/>
          <a:lstStyle/>
          <a:p>
            <a:pPr marL="0" indent="0">
              <a:buNone/>
            </a:pPr>
            <a:r>
              <a:rPr lang="en-US" sz="1800" dirty="0">
                <a:solidFill>
                  <a:schemeClr val="bg2"/>
                </a:solidFill>
              </a:rPr>
              <a:t>Step 0: do POC</a:t>
            </a:r>
            <a:r>
              <a:rPr lang="en-US" sz="1800" baseline="-25000" dirty="0">
                <a:solidFill>
                  <a:schemeClr val="bg2"/>
                </a:solidFill>
              </a:rPr>
              <a:t>B</a:t>
            </a:r>
            <a:r>
              <a:rPr lang="en-US" sz="1800" dirty="0">
                <a:solidFill>
                  <a:schemeClr val="bg2"/>
                </a:solidFill>
              </a:rPr>
              <a:t>'s 2</a:t>
            </a:r>
            <a:r>
              <a:rPr lang="en-US" sz="1800" i="1" dirty="0">
                <a:solidFill>
                  <a:schemeClr val="bg2"/>
                </a:solidFill>
              </a:rPr>
              <a:t>φ</a:t>
            </a:r>
            <a:r>
              <a:rPr lang="en-US" sz="1800" baseline="-25000" dirty="0">
                <a:solidFill>
                  <a:schemeClr val="bg2"/>
                </a:solidFill>
              </a:rPr>
              <a:t>c</a:t>
            </a:r>
            <a:r>
              <a:rPr lang="en-US" sz="1800" dirty="0">
                <a:solidFill>
                  <a:schemeClr val="bg2"/>
                </a:solidFill>
              </a:rPr>
              <a:t> + 2</a:t>
            </a:r>
            <a:r>
              <a:rPr lang="en-US" sz="1800" i="1" dirty="0">
                <a:solidFill>
                  <a:schemeClr val="bg2"/>
                </a:solidFill>
              </a:rPr>
              <a:t>ψ</a:t>
            </a:r>
            <a:r>
              <a:rPr lang="en-US" sz="1800" dirty="0">
                <a:solidFill>
                  <a:schemeClr val="bg2"/>
                </a:solidFill>
              </a:rPr>
              <a:t> / 2</a:t>
            </a:r>
            <a:r>
              <a:rPr lang="en-US" sz="1800" i="1" dirty="0">
                <a:solidFill>
                  <a:schemeClr val="bg2"/>
                </a:solidFill>
              </a:rPr>
              <a:t>φ</a:t>
            </a:r>
            <a:r>
              <a:rPr lang="en-US" sz="1800" baseline="-25000" dirty="0">
                <a:solidFill>
                  <a:schemeClr val="bg2"/>
                </a:solidFill>
              </a:rPr>
              <a:t>c</a:t>
            </a:r>
            <a:r>
              <a:rPr lang="en-US" sz="1800" dirty="0">
                <a:solidFill>
                  <a:schemeClr val="bg2"/>
                </a:solidFill>
              </a:rPr>
              <a:t> − 2</a:t>
            </a:r>
            <a:r>
              <a:rPr lang="en-US" sz="1800" i="1" dirty="0">
                <a:solidFill>
                  <a:schemeClr val="bg2"/>
                </a:solidFill>
              </a:rPr>
              <a:t>ψ</a:t>
            </a:r>
            <a:r>
              <a:rPr lang="en-US" sz="1800" dirty="0">
                <a:solidFill>
                  <a:schemeClr val="bg2"/>
                </a:solidFill>
              </a:rPr>
              <a:t> outputs keep a healthy magnitude (std_ratio) after the penalty?</a:t>
            </a:r>
            <a:endParaRPr lang="en-US" sz="1800" dirty="0"/>
          </a:p>
        </p:txBody>
      </p:sp>
      <p:sp>
        <p:nvSpPr>
          <p:cNvPr id="5" name="lambda 0"/>
          <p:cNvSpPr/>
          <p:nvPr/>
        </p:nvSpPr>
        <p:spPr>
          <a:xfrm>
            <a:off x="548640" y="2011680"/>
            <a:ext cx="3566160" cy="2331720"/>
          </a:xfrm>
          <a:prstGeom prst="roundRect">
            <a:avLst>
              <a:gd name="adj" fmla="val 4706"/>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6" name="Text 3"/>
          <p:cNvSpPr txBox="1"/>
          <p:nvPr/>
        </p:nvSpPr>
        <p:spPr>
          <a:xfrm>
            <a:off x="822960" y="2194560"/>
            <a:ext cx="3017520" cy="365760"/>
          </a:xfrm>
          <a:prstGeom prst="rect">
            <a:avLst/>
          </a:prstGeom>
          <a:noFill/>
          <a:ln/>
        </p:spPr>
        <p:txBody>
          <a:bodyPr wrap="square" lIns="0" tIns="0" rIns="0" bIns="0" rtlCol="0" anchor="t"/>
          <a:lstStyle/>
          <a:p>
            <a:pPr marL="0" indent="0">
              <a:buNone/>
            </a:pPr>
            <a:r>
              <a:rPr lang="en-US" sz="1400" b="1" i="1" dirty="0">
                <a:solidFill>
                  <a:schemeClr val="accent1"/>
                </a:solidFill>
              </a:rPr>
              <a:t>λ</a:t>
            </a:r>
            <a:r>
              <a:rPr lang="en-US" sz="1400" b="1" dirty="0">
                <a:solidFill>
                  <a:schemeClr val="accent1"/>
                </a:solidFill>
              </a:rPr>
              <a:t> = 0.01</a:t>
            </a:r>
            <a:endParaRPr lang="en-US" sz="1400" dirty="0"/>
          </a:p>
        </p:txBody>
      </p:sp>
      <p:sp>
        <p:nvSpPr>
          <p:cNvPr id="7" name="Text 4"/>
          <p:cNvSpPr txBox="1"/>
          <p:nvPr/>
        </p:nvSpPr>
        <p:spPr>
          <a:xfrm>
            <a:off x="822960" y="2606040"/>
            <a:ext cx="3017520" cy="54864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Gate fails</a:t>
            </a:r>
            <a:endParaRPr lang="en-US" sz="2600" dirty="0"/>
          </a:p>
        </p:txBody>
      </p:sp>
      <p:sp>
        <p:nvSpPr>
          <p:cNvPr id="8" name="Text 5"/>
          <p:cNvSpPr txBox="1"/>
          <p:nvPr/>
        </p:nvSpPr>
        <p:spPr>
          <a:xfrm>
            <a:off x="822960" y="3246120"/>
            <a:ext cx="3017520" cy="1005840"/>
          </a:xfrm>
          <a:prstGeom prst="rect">
            <a:avLst/>
          </a:prstGeom>
          <a:noFill/>
          <a:ln/>
        </p:spPr>
        <p:txBody>
          <a:bodyPr wrap="square" lIns="0" tIns="0" rIns="0" bIns="0" rtlCol="0" anchor="t"/>
          <a:lstStyle/>
          <a:p>
            <a:pPr marL="0" indent="0">
              <a:buNone/>
            </a:pPr>
            <a:r>
              <a:rPr lang="en-US" sz="1400" dirty="0">
                <a:solidFill>
                  <a:schemeClr val="bg2"/>
                </a:solidFill>
              </a:rPr>
              <a:t>All readings fail.</a:t>
            </a:r>
            <a:endParaRPr lang="en-US" sz="1400" dirty="0"/>
          </a:p>
        </p:txBody>
      </p:sp>
      <p:sp>
        <p:nvSpPr>
          <p:cNvPr id="9" name="lambda 1"/>
          <p:cNvSpPr/>
          <p:nvPr/>
        </p:nvSpPr>
        <p:spPr>
          <a:xfrm>
            <a:off x="4297680" y="2011680"/>
            <a:ext cx="3566160" cy="2331720"/>
          </a:xfrm>
          <a:prstGeom prst="roundRect">
            <a:avLst>
              <a:gd name="adj" fmla="val 4706"/>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0" name="Text 7"/>
          <p:cNvSpPr txBox="1"/>
          <p:nvPr/>
        </p:nvSpPr>
        <p:spPr>
          <a:xfrm>
            <a:off x="4572000" y="2194560"/>
            <a:ext cx="3017520" cy="365760"/>
          </a:xfrm>
          <a:prstGeom prst="rect">
            <a:avLst/>
          </a:prstGeom>
          <a:noFill/>
          <a:ln/>
        </p:spPr>
        <p:txBody>
          <a:bodyPr wrap="square" lIns="0" tIns="0" rIns="0" bIns="0" rtlCol="0" anchor="t"/>
          <a:lstStyle/>
          <a:p>
            <a:pPr marL="0" indent="0">
              <a:buNone/>
            </a:pPr>
            <a:r>
              <a:rPr lang="en-US" sz="1400" b="1" i="1" dirty="0">
                <a:solidFill>
                  <a:schemeClr val="accent1"/>
                </a:solidFill>
              </a:rPr>
              <a:t>λ</a:t>
            </a:r>
            <a:r>
              <a:rPr lang="en-US" sz="1400" b="1" dirty="0">
                <a:solidFill>
                  <a:schemeClr val="accent1"/>
                </a:solidFill>
              </a:rPr>
              <a:t> = 0.05</a:t>
            </a:r>
            <a:endParaRPr lang="en-US" sz="1400" dirty="0"/>
          </a:p>
        </p:txBody>
      </p:sp>
      <p:sp>
        <p:nvSpPr>
          <p:cNvPr id="11" name="Text 8"/>
          <p:cNvSpPr txBox="1"/>
          <p:nvPr/>
        </p:nvSpPr>
        <p:spPr>
          <a:xfrm>
            <a:off x="4572000" y="2606040"/>
            <a:ext cx="3017520" cy="54864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Gate fails</a:t>
            </a:r>
            <a:endParaRPr lang="en-US" sz="2600" dirty="0"/>
          </a:p>
        </p:txBody>
      </p:sp>
      <p:sp>
        <p:nvSpPr>
          <p:cNvPr id="12" name="Text 9"/>
          <p:cNvSpPr txBox="1"/>
          <p:nvPr/>
        </p:nvSpPr>
        <p:spPr>
          <a:xfrm>
            <a:off x="4572000" y="3246120"/>
            <a:ext cx="3017520" cy="1005840"/>
          </a:xfrm>
          <a:prstGeom prst="rect">
            <a:avLst/>
          </a:prstGeom>
          <a:noFill/>
          <a:ln/>
        </p:spPr>
        <p:txBody>
          <a:bodyPr wrap="square" lIns="0" tIns="0" rIns="0" bIns="0" rtlCol="0" anchor="t"/>
          <a:lstStyle/>
          <a:p>
            <a:pPr marL="0" indent="0">
              <a:buNone/>
            </a:pPr>
            <a:r>
              <a:rPr lang="en-US" sz="1400" dirty="0">
                <a:solidFill>
                  <a:schemeClr val="bg2"/>
                </a:solidFill>
              </a:rPr>
              <a:t>All four readings fail.</a:t>
            </a:r>
            <a:endParaRPr lang="en-US" sz="1400" dirty="0"/>
          </a:p>
        </p:txBody>
      </p:sp>
      <p:sp>
        <p:nvSpPr>
          <p:cNvPr id="13" name="lambda 2"/>
          <p:cNvSpPr/>
          <p:nvPr/>
        </p:nvSpPr>
        <p:spPr>
          <a:xfrm>
            <a:off x="8046720" y="2011680"/>
            <a:ext cx="3566160" cy="2331720"/>
          </a:xfrm>
          <a:prstGeom prst="roundRect">
            <a:avLst>
              <a:gd name="adj" fmla="val 4706"/>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4" name="Text 11"/>
          <p:cNvSpPr txBox="1"/>
          <p:nvPr/>
        </p:nvSpPr>
        <p:spPr>
          <a:xfrm>
            <a:off x="8321040" y="2194560"/>
            <a:ext cx="3017520" cy="365760"/>
          </a:xfrm>
          <a:prstGeom prst="rect">
            <a:avLst/>
          </a:prstGeom>
          <a:noFill/>
          <a:ln/>
        </p:spPr>
        <p:txBody>
          <a:bodyPr wrap="square" lIns="0" tIns="0" rIns="0" bIns="0" rtlCol="0" anchor="t"/>
          <a:lstStyle/>
          <a:p>
            <a:pPr marL="0" indent="0">
              <a:buNone/>
            </a:pPr>
            <a:r>
              <a:rPr lang="en-US" sz="1400" b="1" i="1" dirty="0">
                <a:solidFill>
                  <a:schemeClr val="accent1"/>
                </a:solidFill>
              </a:rPr>
              <a:t>λ</a:t>
            </a:r>
            <a:r>
              <a:rPr lang="en-US" sz="1400" b="1" dirty="0">
                <a:solidFill>
                  <a:schemeClr val="accent1"/>
                </a:solidFill>
              </a:rPr>
              <a:t> = 0.10</a:t>
            </a:r>
            <a:endParaRPr lang="en-US" sz="1400" dirty="0"/>
          </a:p>
        </p:txBody>
      </p:sp>
      <p:sp>
        <p:nvSpPr>
          <p:cNvPr id="15" name="Text 12"/>
          <p:cNvSpPr txBox="1"/>
          <p:nvPr/>
        </p:nvSpPr>
        <p:spPr>
          <a:xfrm>
            <a:off x="8321040" y="2606040"/>
            <a:ext cx="3017520" cy="548640"/>
          </a:xfrm>
          <a:prstGeom prst="rect">
            <a:avLst/>
          </a:prstGeom>
          <a:noFill/>
          <a:ln/>
        </p:spPr>
        <p:txBody>
          <a:bodyPr wrap="square" lIns="0" tIns="0" rIns="0" bIns="0" rtlCol="0" anchor="t"/>
          <a:lstStyle/>
          <a:p>
            <a:pPr marL="0" indent="0">
              <a:buNone/>
            </a:pPr>
            <a:r>
              <a:rPr lang="en-US" sz="2600" b="1" dirty="0">
                <a:solidFill>
                  <a:schemeClr val="accent1"/>
                </a:solidFill>
                <a:latin typeface="Cambria" pitchFamily="34" charset="0"/>
                <a:ea typeface="Cambria" pitchFamily="34" charset="-122"/>
                <a:cs typeface="Cambria" pitchFamily="34" charset="-120"/>
              </a:rPr>
              <a:t>3 of 4 fail</a:t>
            </a:r>
            <a:endParaRPr lang="en-US" sz="2600" dirty="0"/>
          </a:p>
        </p:txBody>
      </p:sp>
      <p:sp>
        <p:nvSpPr>
          <p:cNvPr id="16" name="Text 13"/>
          <p:cNvSpPr txBox="1"/>
          <p:nvPr/>
        </p:nvSpPr>
        <p:spPr>
          <a:xfrm>
            <a:off x="8321040" y="3246120"/>
            <a:ext cx="3017520" cy="1005840"/>
          </a:xfrm>
          <a:prstGeom prst="rect">
            <a:avLst/>
          </a:prstGeom>
          <a:noFill/>
          <a:ln/>
        </p:spPr>
        <p:txBody>
          <a:bodyPr wrap="square" lIns="0" tIns="0" rIns="0" bIns="0" rtlCol="0" anchor="t"/>
          <a:lstStyle/>
          <a:p>
            <a:pPr marL="0" indent="0">
              <a:buNone/>
            </a:pPr>
            <a:r>
              <a:rPr lang="en-US" sz="1400" dirty="0">
                <a:solidFill>
                  <a:schemeClr val="bg2"/>
                </a:solidFill>
              </a:rPr>
              <a:t>The 4th passes numerically; its scatter plot shows two flat bands at one angle.</a:t>
            </a:r>
            <a:endParaRPr lang="en-US" sz="1400" dirty="0"/>
          </a:p>
        </p:txBody>
      </p:sp>
      <p:sp>
        <p:nvSpPr>
          <p:cNvPr id="17" name="verdict banner"/>
          <p:cNvSpPr/>
          <p:nvPr/>
        </p:nvSpPr>
        <p:spPr>
          <a:xfrm>
            <a:off x="548640" y="4617720"/>
            <a:ext cx="1106424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0F1B33">
                <a:alpha val="12000"/>
              </a:srgbClr>
            </a:outerShdw>
          </a:effectLst>
        </p:spPr>
      </p:sp>
      <p:sp>
        <p:nvSpPr>
          <p:cNvPr id="18" name="Text 15"/>
          <p:cNvSpPr txBox="1"/>
          <p:nvPr/>
        </p:nvSpPr>
        <p:spPr>
          <a:xfrm>
            <a:off x="914400" y="4709160"/>
            <a:ext cx="10332720" cy="1417320"/>
          </a:xfrm>
          <a:prstGeom prst="rect">
            <a:avLst/>
          </a:prstGeom>
          <a:noFill/>
          <a:ln/>
        </p:spPr>
        <p:txBody>
          <a:bodyPr wrap="square" lIns="0" tIns="0" rIns="0" bIns="0" rtlCol="0" anchor="ctr"/>
          <a:lstStyle/>
          <a:p>
            <a:pPr marL="0" indent="0">
              <a:spcAft>
                <a:spcPts val="800"/>
              </a:spcAft>
              <a:buNone/>
            </a:pPr>
            <a:r>
              <a:rPr lang="en-US" sz="2200" b="1" dirty="0">
                <a:solidFill>
                  <a:schemeClr val="tx1"/>
                </a:solidFill>
                <a:latin typeface="Cambria" pitchFamily="34" charset="0"/>
                <a:ea typeface="Cambria" pitchFamily="34" charset="-122"/>
                <a:cs typeface="Cambria" pitchFamily="34" charset="-120"/>
              </a:rPr>
              <a:t>Verdict of record: UNINTERPRETABLE</a:t>
            </a:r>
            <a:endParaRPr lang="en-US" sz="1600" dirty="0"/>
          </a:p>
          <a:p>
            <a:pPr marL="0" indent="0">
              <a:buNone/>
            </a:pPr>
            <a:r>
              <a:rPr lang="en-US" sz="1400" dirty="0">
                <a:solidFill>
                  <a:schemeClr val="tx1"/>
                </a:solidFill>
              </a:rPr>
              <a:t>Not a null, and not counter-evidence. The gate measures the magnitude of raw outputs, not their angular diversity, so a mode-collapsed constant output can pass it. Passing an interpretability gate is not proof that the property it stands for holds.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8C4DA"/>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Four gate-independent checks</a:t>
            </a:r>
            <a:endParaRPr lang="en-US" sz="3600" dirty="0"/>
          </a:p>
        </p:txBody>
      </p:sp>
      <p:sp>
        <p:nvSpPr>
          <p:cNvPr id="4" name="check 1"/>
          <p:cNvSpPr/>
          <p:nvPr/>
        </p:nvSpPr>
        <p:spPr>
          <a:xfrm>
            <a:off x="548640" y="1371600"/>
            <a:ext cx="5394960" cy="2286000"/>
          </a:xfrm>
          <a:prstGeom prst="roundRect">
            <a:avLst>
              <a:gd name="adj" fmla="val 48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5" name="badge 1"/>
          <p:cNvSpPr/>
          <p:nvPr/>
        </p:nvSpPr>
        <p:spPr>
          <a:xfrm>
            <a:off x="822960" y="1645920"/>
            <a:ext cx="548640" cy="548640"/>
          </a:xfrm>
          <a:prstGeom prst="ellipse">
            <a:avLst/>
          </a:prstGeom>
          <a:solidFill>
            <a:schemeClr val="accent2"/>
          </a:solidFill>
          <a:ln w="12700">
            <a:solidFill>
              <a:schemeClr val="accent2"/>
            </a:solidFill>
            <a:prstDash val="solid"/>
          </a:ln>
        </p:spPr>
      </p:sp>
      <p:sp>
        <p:nvSpPr>
          <p:cNvPr id="6" name="Text 3"/>
          <p:cNvSpPr txBox="1"/>
          <p:nvPr/>
        </p:nvSpPr>
        <p:spPr>
          <a:xfrm>
            <a:off x="82296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4"/>
          <p:cNvSpPr txBox="1"/>
          <p:nvPr/>
        </p:nvSpPr>
        <p:spPr>
          <a:xfrm>
            <a:off x="1554480" y="1645920"/>
            <a:ext cx="4114800" cy="5486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Prediction inspection</a:t>
            </a:r>
            <a:endParaRPr lang="en-US" sz="2000" dirty="0"/>
          </a:p>
        </p:txBody>
      </p:sp>
      <p:sp>
        <p:nvSpPr>
          <p:cNvPr id="8" name="Text 5"/>
          <p:cNvSpPr txBox="1"/>
          <p:nvPr/>
        </p:nvSpPr>
        <p:spPr>
          <a:xfrm>
            <a:off x="822960" y="2286000"/>
            <a:ext cx="4846320" cy="731520"/>
          </a:xfrm>
          <a:prstGeom prst="rect">
            <a:avLst/>
          </a:prstGeom>
          <a:noFill/>
          <a:ln/>
        </p:spPr>
        <p:txBody>
          <a:bodyPr wrap="square" lIns="0" tIns="0" rIns="0" bIns="0" rtlCol="0" anchor="t"/>
          <a:lstStyle/>
          <a:p>
            <a:pPr marL="0" indent="0">
              <a:buNone/>
            </a:pPr>
            <a:r>
              <a:rPr lang="en-US" sz="1400" dirty="0">
                <a:solidFill>
                  <a:schemeClr val="tx1"/>
                </a:solidFill>
              </a:rPr>
              <a:t>Histograms of predicted angles show whether predictions pile into a few bins.</a:t>
            </a:r>
            <a:endParaRPr lang="en-US" sz="1400" dirty="0"/>
          </a:p>
        </p:txBody>
      </p:sp>
      <p:sp>
        <p:nvSpPr>
          <p:cNvPr id="9" name="Text 6"/>
          <p:cNvSpPr txBox="1"/>
          <p:nvPr/>
        </p:nvSpPr>
        <p:spPr>
          <a:xfrm>
            <a:off x="822960" y="3063240"/>
            <a:ext cx="4846320" cy="548640"/>
          </a:xfrm>
          <a:prstGeom prst="rect">
            <a:avLst/>
          </a:prstGeom>
          <a:noFill/>
          <a:ln/>
        </p:spPr>
        <p:txBody>
          <a:bodyPr wrap="square" lIns="0" tIns="0" rIns="0" bIns="0" rtlCol="0" anchor="t"/>
          <a:lstStyle/>
          <a:p>
            <a:pPr marL="0" indent="0">
              <a:buNone/>
            </a:pPr>
            <a:r>
              <a:rPr lang="en-US" sz="1400" b="1" dirty="0">
                <a:solidFill>
                  <a:schemeClr val="tx1"/>
                </a:solidFill>
              </a:rPr>
              <a:t>Finding: </a:t>
            </a:r>
            <a:r>
              <a:rPr lang="en-US" sz="1400" dirty="0">
                <a:solidFill>
                  <a:schemeClr val="tx1"/>
                </a:solidFill>
              </a:rPr>
              <a:t>POC</a:t>
            </a:r>
            <a:r>
              <a:rPr lang="en-US" sz="1400" baseline="-25000" dirty="0">
                <a:solidFill>
                  <a:schemeClr val="tx1"/>
                </a:solidFill>
              </a:rPr>
              <a:t>A</a:t>
            </a:r>
            <a:r>
              <a:rPr lang="en-US" sz="1400" dirty="0">
                <a:solidFill>
                  <a:schemeClr val="tx1"/>
                </a:solidFill>
              </a:rPr>
              <a:t> and POC</a:t>
            </a:r>
            <a:r>
              <a:rPr lang="en-US" sz="1400" baseline="-25000" dirty="0">
                <a:solidFill>
                  <a:schemeClr val="tx1"/>
                </a:solidFill>
              </a:rPr>
              <a:t>B</a:t>
            </a:r>
            <a:r>
              <a:rPr lang="en-US" sz="1400" dirty="0">
                <a:solidFill>
                  <a:schemeClr val="tx1"/>
                </a:solidFill>
              </a:rPr>
              <a:t> mode-collapse; TCN and CNN</a:t>
            </a:r>
            <a:r>
              <a:rPr lang="en-US" sz="1400" baseline="-25000" dirty="0">
                <a:solidFill>
                  <a:schemeClr val="tx1"/>
                </a:solidFill>
              </a:rPr>
              <a:t>attention</a:t>
            </a:r>
            <a:r>
              <a:rPr lang="en-US" sz="1400" dirty="0">
                <a:solidFill>
                  <a:schemeClr val="tx1"/>
                </a:solidFill>
              </a:rPr>
              <a:t> are noisy.</a:t>
            </a:r>
            <a:endParaRPr lang="en-US" sz="1400" dirty="0"/>
          </a:p>
        </p:txBody>
      </p:sp>
      <p:sp>
        <p:nvSpPr>
          <p:cNvPr id="10" name="check 2"/>
          <p:cNvSpPr/>
          <p:nvPr/>
        </p:nvSpPr>
        <p:spPr>
          <a:xfrm>
            <a:off x="6217920" y="1371600"/>
            <a:ext cx="5394960" cy="2286000"/>
          </a:xfrm>
          <a:prstGeom prst="roundRect">
            <a:avLst>
              <a:gd name="adj" fmla="val 48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1" name="badge 2"/>
          <p:cNvSpPr/>
          <p:nvPr/>
        </p:nvSpPr>
        <p:spPr>
          <a:xfrm>
            <a:off x="6492240" y="1645920"/>
            <a:ext cx="548640" cy="548640"/>
          </a:xfrm>
          <a:prstGeom prst="ellipse">
            <a:avLst/>
          </a:prstGeom>
          <a:solidFill>
            <a:schemeClr val="accent2"/>
          </a:solidFill>
          <a:ln w="12700">
            <a:solidFill>
              <a:schemeClr val="accent2"/>
            </a:solidFill>
            <a:prstDash val="solid"/>
          </a:ln>
        </p:spPr>
      </p:sp>
      <p:sp>
        <p:nvSpPr>
          <p:cNvPr id="12" name="Text 9"/>
          <p:cNvSpPr txBox="1"/>
          <p:nvPr/>
        </p:nvSpPr>
        <p:spPr>
          <a:xfrm>
            <a:off x="649224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3" name="Text 10"/>
          <p:cNvSpPr txBox="1"/>
          <p:nvPr/>
        </p:nvSpPr>
        <p:spPr>
          <a:xfrm>
            <a:off x="7223760" y="1645920"/>
            <a:ext cx="4114800" cy="5486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Gradient trace</a:t>
            </a:r>
            <a:endParaRPr lang="en-US" sz="2000" dirty="0"/>
          </a:p>
        </p:txBody>
      </p:sp>
      <p:sp>
        <p:nvSpPr>
          <p:cNvPr id="14" name="Text 11"/>
          <p:cNvSpPr txBox="1"/>
          <p:nvPr/>
        </p:nvSpPr>
        <p:spPr>
          <a:xfrm>
            <a:off x="6492240" y="2286000"/>
            <a:ext cx="4846320" cy="731520"/>
          </a:xfrm>
          <a:prstGeom prst="rect">
            <a:avLst/>
          </a:prstGeom>
          <a:noFill/>
          <a:ln/>
        </p:spPr>
        <p:txBody>
          <a:bodyPr wrap="square" lIns="0" tIns="0" rIns="0" bIns="0" rtlCol="0" anchor="t"/>
          <a:lstStyle/>
          <a:p>
            <a:pPr marL="0" indent="0">
              <a:buNone/>
            </a:pPr>
            <a:r>
              <a:rPr lang="en-US" sz="1400" dirty="0">
                <a:solidFill>
                  <a:schemeClr val="tx1"/>
                </a:solidFill>
              </a:rPr>
              <a:t>Code-level check that the training signal reaches the angular heads end to end.</a:t>
            </a:r>
            <a:endParaRPr lang="en-US" sz="1400" dirty="0"/>
          </a:p>
        </p:txBody>
      </p:sp>
      <p:sp>
        <p:nvSpPr>
          <p:cNvPr id="15" name="Text 12"/>
          <p:cNvSpPr txBox="1"/>
          <p:nvPr/>
        </p:nvSpPr>
        <p:spPr>
          <a:xfrm>
            <a:off x="6492240" y="3063240"/>
            <a:ext cx="4846320" cy="548640"/>
          </a:xfrm>
          <a:prstGeom prst="rect">
            <a:avLst/>
          </a:prstGeom>
          <a:noFill/>
          <a:ln/>
        </p:spPr>
        <p:txBody>
          <a:bodyPr wrap="square" lIns="0" tIns="0" rIns="0" bIns="0" rtlCol="0" anchor="t"/>
          <a:lstStyle/>
          <a:p>
            <a:pPr marL="0" indent="0">
              <a:buNone/>
            </a:pPr>
            <a:r>
              <a:rPr lang="en-US" sz="1400" b="1" dirty="0">
                <a:solidFill>
                  <a:schemeClr val="tx1"/>
                </a:solidFill>
              </a:rPr>
              <a:t>Finding: </a:t>
            </a:r>
            <a:r>
              <a:rPr lang="en-US" sz="1400" dirty="0">
                <a:solidFill>
                  <a:schemeClr val="tx1"/>
                </a:solidFill>
              </a:rPr>
              <a:t>Loss wiring and gradient chain healthy: rules out an implementation bug.</a:t>
            </a:r>
            <a:endParaRPr lang="en-US" sz="1400" dirty="0"/>
          </a:p>
        </p:txBody>
      </p:sp>
      <p:sp>
        <p:nvSpPr>
          <p:cNvPr id="16" name="check 3"/>
          <p:cNvSpPr/>
          <p:nvPr/>
        </p:nvSpPr>
        <p:spPr>
          <a:xfrm>
            <a:off x="548640" y="3840480"/>
            <a:ext cx="5394960" cy="2286000"/>
          </a:xfrm>
          <a:prstGeom prst="roundRect">
            <a:avLst>
              <a:gd name="adj" fmla="val 48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7" name="badge 3"/>
          <p:cNvSpPr/>
          <p:nvPr/>
        </p:nvSpPr>
        <p:spPr>
          <a:xfrm>
            <a:off x="822960" y="4114800"/>
            <a:ext cx="548640" cy="548640"/>
          </a:xfrm>
          <a:prstGeom prst="ellipse">
            <a:avLst/>
          </a:prstGeom>
          <a:solidFill>
            <a:schemeClr val="accent2"/>
          </a:solidFill>
          <a:ln w="12700">
            <a:solidFill>
              <a:schemeClr val="accent2"/>
            </a:solidFill>
            <a:prstDash val="solid"/>
          </a:ln>
        </p:spPr>
      </p:sp>
      <p:sp>
        <p:nvSpPr>
          <p:cNvPr id="18" name="Text 15"/>
          <p:cNvSpPr txBox="1"/>
          <p:nvPr/>
        </p:nvSpPr>
        <p:spPr>
          <a:xfrm>
            <a:off x="822960" y="41148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9" name="Text 16"/>
          <p:cNvSpPr txBox="1"/>
          <p:nvPr/>
        </p:nvSpPr>
        <p:spPr>
          <a:xfrm>
            <a:off x="1554480" y="4114800"/>
            <a:ext cx="4114800" cy="5486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Permutation bootstrap</a:t>
            </a:r>
            <a:endParaRPr lang="en-US" sz="2000" dirty="0"/>
          </a:p>
        </p:txBody>
      </p:sp>
      <p:sp>
        <p:nvSpPr>
          <p:cNvPr id="20" name="Text 17"/>
          <p:cNvSpPr txBox="1"/>
          <p:nvPr/>
        </p:nvSpPr>
        <p:spPr>
          <a:xfrm>
            <a:off x="822960" y="4754880"/>
            <a:ext cx="4846320" cy="731520"/>
          </a:xfrm>
          <a:prstGeom prst="rect">
            <a:avLst/>
          </a:prstGeom>
          <a:noFill/>
          <a:ln/>
        </p:spPr>
        <p:txBody>
          <a:bodyPr wrap="square" lIns="0" tIns="0" rIns="0" bIns="0" rtlCol="0" anchor="t"/>
          <a:lstStyle/>
          <a:p>
            <a:pPr marL="0" indent="0">
              <a:buNone/>
            </a:pPr>
            <a:r>
              <a:rPr lang="en-US" sz="1400" dirty="0">
                <a:solidFill>
                  <a:schemeClr val="tx1"/>
                </a:solidFill>
              </a:rPr>
              <a:t>10,000 label shuffles: does the angular error beat that of shuffled labels?</a:t>
            </a:r>
            <a:endParaRPr lang="en-US" sz="1400" dirty="0"/>
          </a:p>
        </p:txBody>
      </p:sp>
      <p:sp>
        <p:nvSpPr>
          <p:cNvPr id="21" name="Text 18"/>
          <p:cNvSpPr txBox="1"/>
          <p:nvPr/>
        </p:nvSpPr>
        <p:spPr>
          <a:xfrm>
            <a:off x="822960" y="5532120"/>
            <a:ext cx="4846320" cy="548640"/>
          </a:xfrm>
          <a:prstGeom prst="rect">
            <a:avLst/>
          </a:prstGeom>
          <a:noFill/>
          <a:ln/>
        </p:spPr>
        <p:txBody>
          <a:bodyPr wrap="square" lIns="0" tIns="0" rIns="0" bIns="0" rtlCol="0" anchor="t"/>
          <a:lstStyle/>
          <a:p>
            <a:pPr marL="0" indent="0">
              <a:buNone/>
            </a:pPr>
            <a:r>
              <a:rPr lang="en-US" sz="1400" b="1" dirty="0">
                <a:solidFill>
                  <a:schemeClr val="tx1"/>
                </a:solidFill>
              </a:rPr>
              <a:t>Finding: </a:t>
            </a:r>
            <a:r>
              <a:rPr lang="en-US" sz="1400" dirty="0">
                <a:solidFill>
                  <a:schemeClr val="tx1"/>
                </a:solidFill>
              </a:rPr>
              <a:t>No </a:t>
            </a:r>
            <a:r>
              <a:rPr lang="en-US" sz="1400" i="1" dirty="0">
                <a:solidFill>
                  <a:schemeClr val="tx1"/>
                </a:solidFill>
              </a:rPr>
              <a:t>φ</a:t>
            </a:r>
            <a:r>
              <a:rPr lang="en-US" sz="1400" baseline="-25000" dirty="0">
                <a:solidFill>
                  <a:schemeClr val="tx1"/>
                </a:solidFill>
              </a:rPr>
              <a:t>c</a:t>
            </a:r>
            <a:r>
              <a:rPr lang="en-US" sz="1400" dirty="0">
                <a:solidFill>
                  <a:schemeClr val="tx1"/>
                </a:solidFill>
              </a:rPr>
              <a:t>/</a:t>
            </a:r>
            <a:r>
              <a:rPr lang="en-US" sz="1400" i="1" dirty="0">
                <a:solidFill>
                  <a:schemeClr val="tx1"/>
                </a:solidFill>
              </a:rPr>
              <a:t>ψ</a:t>
            </a:r>
            <a:r>
              <a:rPr lang="en-US" sz="1400" dirty="0">
                <a:solidFill>
                  <a:schemeClr val="tx1"/>
                </a:solidFill>
              </a:rPr>
              <a:t> test is significant; most are on the wrong side of chance.</a:t>
            </a:r>
            <a:endParaRPr lang="en-US" sz="1400" dirty="0"/>
          </a:p>
        </p:txBody>
      </p:sp>
      <p:sp>
        <p:nvSpPr>
          <p:cNvPr id="22" name="check 4"/>
          <p:cNvSpPr/>
          <p:nvPr/>
        </p:nvSpPr>
        <p:spPr>
          <a:xfrm>
            <a:off x="6217920" y="3840480"/>
            <a:ext cx="5394960" cy="2286000"/>
          </a:xfrm>
          <a:prstGeom prst="roundRect">
            <a:avLst>
              <a:gd name="adj" fmla="val 4800"/>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23" name="badge 4"/>
          <p:cNvSpPr/>
          <p:nvPr/>
        </p:nvSpPr>
        <p:spPr>
          <a:xfrm>
            <a:off x="6492240" y="4114800"/>
            <a:ext cx="548640" cy="548640"/>
          </a:xfrm>
          <a:prstGeom prst="ellipse">
            <a:avLst/>
          </a:prstGeom>
          <a:solidFill>
            <a:schemeClr val="accent2"/>
          </a:solidFill>
          <a:ln w="12700">
            <a:solidFill>
              <a:schemeClr val="accent2"/>
            </a:solidFill>
            <a:prstDash val="solid"/>
          </a:ln>
        </p:spPr>
      </p:sp>
      <p:sp>
        <p:nvSpPr>
          <p:cNvPr id="24" name="Text 21"/>
          <p:cNvSpPr txBox="1"/>
          <p:nvPr/>
        </p:nvSpPr>
        <p:spPr>
          <a:xfrm>
            <a:off x="6492240" y="41148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5" name="Text 22"/>
          <p:cNvSpPr txBox="1"/>
          <p:nvPr/>
        </p:nvSpPr>
        <p:spPr>
          <a:xfrm>
            <a:off x="7223760" y="4114800"/>
            <a:ext cx="4114800" cy="5486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Stratification</a:t>
            </a:r>
            <a:endParaRPr lang="en-US" sz="2000" dirty="0"/>
          </a:p>
        </p:txBody>
      </p:sp>
      <p:sp>
        <p:nvSpPr>
          <p:cNvPr id="26" name="Text 23"/>
          <p:cNvSpPr txBox="1"/>
          <p:nvPr/>
        </p:nvSpPr>
        <p:spPr>
          <a:xfrm>
            <a:off x="6492240" y="4754880"/>
            <a:ext cx="4846320" cy="731520"/>
          </a:xfrm>
          <a:prstGeom prst="rect">
            <a:avLst/>
          </a:prstGeom>
          <a:noFill/>
          <a:ln/>
        </p:spPr>
        <p:txBody>
          <a:bodyPr wrap="square" lIns="0" tIns="0" rIns="0" bIns="0" rtlCol="0" anchor="t"/>
          <a:lstStyle/>
          <a:p>
            <a:pPr marL="0" indent="0">
              <a:buNone/>
            </a:pPr>
            <a:r>
              <a:rPr lang="en-US" sz="1400" dirty="0">
                <a:solidFill>
                  <a:schemeClr val="tx1"/>
                </a:solidFill>
              </a:rPr>
              <a:t>Recovery by SNR tercile and by inclination band.</a:t>
            </a:r>
            <a:endParaRPr lang="en-US" sz="1400" dirty="0"/>
          </a:p>
        </p:txBody>
      </p:sp>
      <p:sp>
        <p:nvSpPr>
          <p:cNvPr id="27" name="Text 24"/>
          <p:cNvSpPr txBox="1"/>
          <p:nvPr/>
        </p:nvSpPr>
        <p:spPr>
          <a:xfrm>
            <a:off x="6492240" y="5532120"/>
            <a:ext cx="4846320" cy="548640"/>
          </a:xfrm>
          <a:prstGeom prst="rect">
            <a:avLst/>
          </a:prstGeom>
          <a:noFill/>
          <a:ln/>
        </p:spPr>
        <p:txBody>
          <a:bodyPr wrap="square" lIns="0" tIns="0" rIns="0" bIns="0" rtlCol="0" anchor="t"/>
          <a:lstStyle/>
          <a:p>
            <a:pPr marL="0" indent="0">
              <a:buNone/>
            </a:pPr>
            <a:r>
              <a:rPr lang="en-US" sz="1400" b="1" dirty="0">
                <a:solidFill>
                  <a:schemeClr val="tx1"/>
                </a:solidFill>
              </a:rPr>
              <a:t>Finding: </a:t>
            </a:r>
            <a:r>
              <a:rPr lang="en-US" sz="1400" dirty="0">
                <a:solidFill>
                  <a:schemeClr val="tx1"/>
                </a:solidFill>
              </a:rPr>
              <a:t>No band clears the pre-set 0.10 rad materiality floor.</a:t>
            </a:r>
            <a:endParaRPr lang="en-US" sz="1400" dirty="0"/>
          </a:p>
        </p:txBody>
      </p:sp>
      <p:sp>
        <p:nvSpPr>
          <p:cNvPr id="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Verdict: a statistical null</a:t>
            </a:r>
            <a:endParaRPr lang="en-US" sz="3600" dirty="0"/>
          </a:p>
        </p:txBody>
      </p:sp>
      <p:sp>
        <p:nvSpPr>
          <p:cNvPr id="4" name="verdict stat 0"/>
          <p:cNvSpPr/>
          <p:nvPr/>
        </p:nvSpPr>
        <p:spPr>
          <a:xfrm>
            <a:off x="548640" y="1371600"/>
            <a:ext cx="262890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5" name="Text 2"/>
          <p:cNvSpPr txBox="1"/>
          <p:nvPr/>
        </p:nvSpPr>
        <p:spPr>
          <a:xfrm>
            <a:off x="777240" y="1600200"/>
            <a:ext cx="2194560" cy="731520"/>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 / 8</a:t>
            </a:r>
            <a:endParaRPr lang="en-US" sz="3400" dirty="0"/>
          </a:p>
        </p:txBody>
      </p:sp>
      <p:sp>
        <p:nvSpPr>
          <p:cNvPr id="6" name="Text 3"/>
          <p:cNvSpPr txBox="1"/>
          <p:nvPr/>
        </p:nvSpPr>
        <p:spPr>
          <a:xfrm>
            <a:off x="777240" y="2468880"/>
            <a:ext cx="2194560" cy="1280160"/>
          </a:xfrm>
          <a:prstGeom prst="rect">
            <a:avLst/>
          </a:prstGeom>
          <a:noFill/>
          <a:ln/>
        </p:spPr>
        <p:txBody>
          <a:bodyPr wrap="square" lIns="0" tIns="0" rIns="0" bIns="0" rtlCol="0" anchor="t"/>
          <a:lstStyle/>
          <a:p>
            <a:pPr marL="0" indent="0">
              <a:buNone/>
            </a:pPr>
            <a:r>
              <a:rPr lang="en-US" sz="1400" i="1" dirty="0">
                <a:solidFill>
                  <a:schemeClr val="tx1"/>
                </a:solidFill>
              </a:rPr>
              <a:t>φ</a:t>
            </a:r>
            <a:r>
              <a:rPr lang="en-US" sz="1400" baseline="-25000" dirty="0">
                <a:solidFill>
                  <a:schemeClr val="tx1"/>
                </a:solidFill>
              </a:rPr>
              <a:t>c</a:t>
            </a:r>
            <a:r>
              <a:rPr lang="en-US" sz="1400" dirty="0">
                <a:solidFill>
                  <a:schemeClr val="tx1"/>
                </a:solidFill>
              </a:rPr>
              <a:t> and </a:t>
            </a:r>
            <a:r>
              <a:rPr lang="en-US" sz="1400" i="1" dirty="0">
                <a:solidFill>
                  <a:schemeClr val="tx1"/>
                </a:solidFill>
              </a:rPr>
              <a:t>ψ</a:t>
            </a:r>
            <a:r>
              <a:rPr lang="en-US" sz="1400" dirty="0">
                <a:solidFill>
                  <a:schemeClr val="tx1"/>
                </a:solidFill>
              </a:rPr>
              <a:t> bootstrap tests significant (4 models × 2 heads)</a:t>
            </a:r>
            <a:endParaRPr lang="en-US" sz="1400" dirty="0"/>
          </a:p>
        </p:txBody>
      </p:sp>
      <p:sp>
        <p:nvSpPr>
          <p:cNvPr id="7" name="verdict stat 1"/>
          <p:cNvSpPr/>
          <p:nvPr/>
        </p:nvSpPr>
        <p:spPr>
          <a:xfrm>
            <a:off x="3360420" y="1371600"/>
            <a:ext cx="262890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8" name="Text 5"/>
          <p:cNvSpPr txBox="1"/>
          <p:nvPr/>
        </p:nvSpPr>
        <p:spPr>
          <a:xfrm>
            <a:off x="3589020" y="1600200"/>
            <a:ext cx="2194560" cy="73152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10,000</a:t>
            </a:r>
            <a:endParaRPr lang="en-US" sz="3400" dirty="0"/>
          </a:p>
        </p:txBody>
      </p:sp>
      <p:sp>
        <p:nvSpPr>
          <p:cNvPr id="9" name="Text 6"/>
          <p:cNvSpPr txBox="1"/>
          <p:nvPr/>
        </p:nvSpPr>
        <p:spPr>
          <a:xfrm>
            <a:off x="3589020" y="2468880"/>
            <a:ext cx="2194560" cy="1280160"/>
          </a:xfrm>
          <a:prstGeom prst="rect">
            <a:avLst/>
          </a:prstGeom>
          <a:noFill/>
          <a:ln/>
        </p:spPr>
        <p:txBody>
          <a:bodyPr wrap="square" lIns="0" tIns="0" rIns="0" bIns="0" rtlCol="0" anchor="t"/>
          <a:lstStyle/>
          <a:p>
            <a:pPr marL="0" indent="0">
              <a:buNone/>
            </a:pPr>
            <a:r>
              <a:rPr lang="en-US" sz="1400" dirty="0">
                <a:solidFill>
                  <a:schemeClr val="tx1"/>
                </a:solidFill>
              </a:rPr>
              <a:t>label shuffles per test in the permutation bootstrap</a:t>
            </a:r>
            <a:endParaRPr lang="en-US" sz="1400" dirty="0"/>
          </a:p>
        </p:txBody>
      </p:sp>
      <p:sp>
        <p:nvSpPr>
          <p:cNvPr id="10" name="verdict stat 2"/>
          <p:cNvSpPr/>
          <p:nvPr/>
        </p:nvSpPr>
        <p:spPr>
          <a:xfrm>
            <a:off x="6172200" y="1371600"/>
            <a:ext cx="262890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1" name="Text 8"/>
          <p:cNvSpPr txBox="1"/>
          <p:nvPr/>
        </p:nvSpPr>
        <p:spPr>
          <a:xfrm>
            <a:off x="6400800" y="1600200"/>
            <a:ext cx="2194560" cy="731520"/>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0.10 rad</a:t>
            </a:r>
            <a:endParaRPr lang="en-US" sz="3400" dirty="0"/>
          </a:p>
        </p:txBody>
      </p:sp>
      <p:sp>
        <p:nvSpPr>
          <p:cNvPr id="12" name="Text 9"/>
          <p:cNvSpPr txBox="1"/>
          <p:nvPr/>
        </p:nvSpPr>
        <p:spPr>
          <a:xfrm>
            <a:off x="6400800" y="2468880"/>
            <a:ext cx="2194560" cy="1280160"/>
          </a:xfrm>
          <a:prstGeom prst="rect">
            <a:avLst/>
          </a:prstGeom>
          <a:noFill/>
          <a:ln/>
        </p:spPr>
        <p:txBody>
          <a:bodyPr wrap="square" lIns="0" tIns="0" rIns="0" bIns="0" rtlCol="0" anchor="t"/>
          <a:lstStyle/>
          <a:p>
            <a:pPr marL="0" indent="0">
              <a:buNone/>
            </a:pPr>
            <a:r>
              <a:rPr lang="en-US" sz="1400" dirty="0">
                <a:solidFill>
                  <a:schemeClr val="tx1"/>
                </a:solidFill>
              </a:rPr>
              <a:t>materiality floor: no inclination band or SNR tercile clears it</a:t>
            </a:r>
            <a:endParaRPr lang="en-US" sz="1400" dirty="0"/>
          </a:p>
        </p:txBody>
      </p:sp>
      <p:sp>
        <p:nvSpPr>
          <p:cNvPr id="13" name="verdict stat 3"/>
          <p:cNvSpPr/>
          <p:nvPr/>
        </p:nvSpPr>
        <p:spPr>
          <a:xfrm>
            <a:off x="8983980" y="1371600"/>
            <a:ext cx="2628900" cy="2468880"/>
          </a:xfrm>
          <a:prstGeom prst="roundRect">
            <a:avLst>
              <a:gd name="adj" fmla="val 4444"/>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4" name="Text 11"/>
          <p:cNvSpPr txBox="1"/>
          <p:nvPr/>
        </p:nvSpPr>
        <p:spPr>
          <a:xfrm>
            <a:off x="9212580" y="1600200"/>
            <a:ext cx="2194560" cy="731520"/>
          </a:xfrm>
          <a:prstGeom prst="rect">
            <a:avLst/>
          </a:prstGeom>
          <a:noFill/>
          <a:ln/>
        </p:spPr>
        <p:txBody>
          <a:bodyPr wrap="square" lIns="0" tIns="0" rIns="0" bIns="0" rtlCol="0" anchor="t"/>
          <a:lstStyle/>
          <a:p>
            <a:pPr marL="0" indent="0">
              <a:buNone/>
            </a:pPr>
            <a:r>
              <a:rPr lang="en-US" sz="3400" b="1" dirty="0">
                <a:solidFill>
                  <a:schemeClr val="accent3"/>
                </a:solidFill>
                <a:latin typeface="Cambria" pitchFamily="34" charset="0"/>
                <a:ea typeface="Cambria" pitchFamily="34" charset="-122"/>
                <a:cs typeface="Cambria" pitchFamily="34" charset="-120"/>
              </a:rPr>
              <a:t>4 / 4</a:t>
            </a:r>
            <a:endParaRPr lang="en-US" sz="3400" dirty="0"/>
          </a:p>
        </p:txBody>
      </p:sp>
      <p:sp>
        <p:nvSpPr>
          <p:cNvPr id="15" name="Text 12"/>
          <p:cNvSpPr txBox="1"/>
          <p:nvPr/>
        </p:nvSpPr>
        <p:spPr>
          <a:xfrm>
            <a:off x="9212580" y="2468880"/>
            <a:ext cx="2194560" cy="1280160"/>
          </a:xfrm>
          <a:prstGeom prst="rect">
            <a:avLst/>
          </a:prstGeom>
          <a:noFill/>
          <a:ln/>
        </p:spPr>
        <p:txBody>
          <a:bodyPr wrap="square" lIns="0" tIns="0" rIns="0" bIns="0" rtlCol="0" anchor="t"/>
          <a:lstStyle/>
          <a:p>
            <a:pPr marL="0" indent="0">
              <a:buNone/>
            </a:pPr>
            <a:r>
              <a:rPr lang="en-US" sz="1400" dirty="0">
                <a:solidFill>
                  <a:schemeClr val="tx1"/>
                </a:solidFill>
              </a:rPr>
              <a:t>models with a healthy gradient chain to the angular heads: not a bug</a:t>
            </a:r>
            <a:endParaRPr lang="en-US" sz="1400" dirty="0"/>
          </a:p>
        </p:txBody>
      </p:sp>
      <p:sp>
        <p:nvSpPr>
          <p:cNvPr id="16" name="bottom line"/>
          <p:cNvSpPr/>
          <p:nvPr/>
        </p:nvSpPr>
        <p:spPr>
          <a:xfrm>
            <a:off x="548640" y="4114800"/>
            <a:ext cx="11064240" cy="2057400"/>
          </a:xfrm>
          <a:prstGeom prst="roundRect">
            <a:avLst>
              <a:gd name="adj" fmla="val 5333"/>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7" name="Text 14"/>
          <p:cNvSpPr txBox="1"/>
          <p:nvPr/>
        </p:nvSpPr>
        <p:spPr>
          <a:xfrm>
            <a:off x="914400" y="4297680"/>
            <a:ext cx="3657600" cy="320040"/>
          </a:xfrm>
          <a:prstGeom prst="rect">
            <a:avLst/>
          </a:prstGeom>
          <a:noFill/>
          <a:ln/>
        </p:spPr>
        <p:txBody>
          <a:bodyPr wrap="square" lIns="0" tIns="0" rIns="0" bIns="0" rtlCol="0" anchor="t"/>
          <a:lstStyle/>
          <a:p>
            <a:pPr marL="0" indent="0">
              <a:buNone/>
            </a:pPr>
            <a:r>
              <a:rPr lang="en-US" sz="1400" b="1" dirty="0">
                <a:solidFill>
                  <a:schemeClr val="accent1"/>
                </a:solidFill>
              </a:rPr>
              <a:t>BOTTOM LINE</a:t>
            </a:r>
            <a:endParaRPr lang="en-US" sz="1400" dirty="0"/>
          </a:p>
        </p:txBody>
      </p:sp>
      <p:sp>
        <p:nvSpPr>
          <p:cNvPr id="18" name="Text 15"/>
          <p:cNvSpPr txBox="1"/>
          <p:nvPr/>
        </p:nvSpPr>
        <p:spPr>
          <a:xfrm>
            <a:off x="914400" y="4663440"/>
            <a:ext cx="10332720" cy="73152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On this architecture set, </a:t>
            </a:r>
            <a:r>
              <a:rPr lang="en-US" sz="2000" b="1" i="1" dirty="0">
                <a:solidFill>
                  <a:schemeClr val="bg1"/>
                </a:solidFill>
                <a:latin typeface="Cambria" pitchFamily="34" charset="0"/>
                <a:ea typeface="Cambria" pitchFamily="34" charset="-122"/>
                <a:cs typeface="Cambria" pitchFamily="34" charset="-120"/>
              </a:rPr>
              <a:t>φ</a:t>
            </a:r>
            <a:r>
              <a:rPr lang="en-US" sz="2000" b="1" baseline="-25000" dirty="0">
                <a:solidFill>
                  <a:schemeClr val="bg1"/>
                </a:solidFill>
                <a:latin typeface="Cambria" pitchFamily="34" charset="0"/>
                <a:ea typeface="Cambria" pitchFamily="34" charset="-122"/>
                <a:cs typeface="Cambria" pitchFamily="34" charset="-120"/>
              </a:rPr>
              <a:t>c</a:t>
            </a:r>
            <a:r>
              <a:rPr lang="en-US" sz="2000" b="1" dirty="0">
                <a:solidFill>
                  <a:schemeClr val="bg1"/>
                </a:solidFill>
                <a:latin typeface="Cambria" pitchFamily="34" charset="0"/>
                <a:ea typeface="Cambria" pitchFamily="34" charset="-122"/>
                <a:cs typeface="Cambria" pitchFamily="34" charset="-120"/>
              </a:rPr>
              <a:t> and </a:t>
            </a:r>
            <a:r>
              <a:rPr lang="en-US" sz="2000" b="1" i="1" dirty="0">
                <a:solidFill>
                  <a:schemeClr val="bg1"/>
                </a:solidFill>
                <a:latin typeface="Cambria" pitchFamily="34" charset="0"/>
                <a:ea typeface="Cambria" pitchFamily="34" charset="-122"/>
                <a:cs typeface="Cambria" pitchFamily="34" charset="-120"/>
              </a:rPr>
              <a:t>ψ</a:t>
            </a:r>
            <a:r>
              <a:rPr lang="en-US" sz="2000" b="1" dirty="0">
                <a:solidFill>
                  <a:schemeClr val="bg1"/>
                </a:solidFill>
                <a:latin typeface="Cambria" pitchFamily="34" charset="0"/>
                <a:ea typeface="Cambria" pitchFamily="34" charset="-122"/>
                <a:cs typeface="Cambria" pitchFamily="34" charset="-120"/>
              </a:rPr>
              <a:t> are not recoverable from strain by a regression network, individually or through 2</a:t>
            </a:r>
            <a:r>
              <a:rPr lang="en-US" sz="2000" b="1" i="1" dirty="0">
                <a:solidFill>
                  <a:schemeClr val="bg1"/>
                </a:solidFill>
                <a:latin typeface="Cambria" pitchFamily="34" charset="0"/>
                <a:ea typeface="Cambria" pitchFamily="34" charset="-122"/>
                <a:cs typeface="Cambria" pitchFamily="34" charset="-120"/>
              </a:rPr>
              <a:t>φ</a:t>
            </a:r>
            <a:r>
              <a:rPr lang="en-US" sz="2000" b="1" baseline="-25000" dirty="0">
                <a:solidFill>
                  <a:schemeClr val="bg1"/>
                </a:solidFill>
                <a:latin typeface="Cambria" pitchFamily="34" charset="0"/>
                <a:ea typeface="Cambria" pitchFamily="34" charset="-122"/>
                <a:cs typeface="Cambria" pitchFamily="34" charset="-120"/>
              </a:rPr>
              <a:t>c</a:t>
            </a:r>
            <a:r>
              <a:rPr lang="en-US" sz="2000" b="1" dirty="0">
                <a:solidFill>
                  <a:schemeClr val="bg1"/>
                </a:solidFill>
                <a:latin typeface="Cambria" pitchFamily="34" charset="0"/>
                <a:ea typeface="Cambria" pitchFamily="34" charset="-122"/>
                <a:cs typeface="Cambria" pitchFamily="34" charset="-120"/>
              </a:rPr>
              <a:t> ± 2</a:t>
            </a:r>
            <a:r>
              <a:rPr lang="en-US" sz="2000" b="1" i="1" dirty="0">
                <a:solidFill>
                  <a:schemeClr val="bg1"/>
                </a:solidFill>
                <a:latin typeface="Cambria" pitchFamily="34" charset="0"/>
                <a:ea typeface="Cambria" pitchFamily="34" charset="-122"/>
                <a:cs typeface="Cambria" pitchFamily="34" charset="-120"/>
              </a:rPr>
              <a:t>ψ</a:t>
            </a:r>
            <a:r>
              <a:rPr lang="en-US" sz="2000" b="1" dirty="0">
                <a:solidFill>
                  <a:schemeClr val="bg1"/>
                </a:solidFill>
                <a:latin typeface="Cambria" pitchFamily="34" charset="0"/>
                <a:ea typeface="Cambria" pitchFamily="34" charset="-122"/>
                <a:cs typeface="Cambria" pitchFamily="34" charset="-120"/>
              </a:rPr>
              <a:t>.</a:t>
            </a:r>
            <a:endParaRPr lang="en-US" sz="2000" dirty="0"/>
          </a:p>
        </p:txBody>
      </p:sp>
      <p:sp>
        <p:nvSpPr>
          <p:cNvPr id="19" name="Text 16"/>
          <p:cNvSpPr txBox="1"/>
          <p:nvPr/>
        </p:nvSpPr>
        <p:spPr>
          <a:xfrm>
            <a:off x="914400" y="5440680"/>
            <a:ext cx="10332720" cy="640080"/>
          </a:xfrm>
          <a:prstGeom prst="rect">
            <a:avLst/>
          </a:prstGeom>
          <a:noFill/>
          <a:ln/>
        </p:spPr>
        <p:txBody>
          <a:bodyPr wrap="square" lIns="0" tIns="0" rIns="0" bIns="0" rtlCol="0" anchor="t"/>
          <a:lstStyle/>
          <a:p>
            <a:pPr marL="0" indent="0">
              <a:buNone/>
            </a:pPr>
            <a:r>
              <a:rPr lang="en-US" sz="1400" dirty="0">
                <a:solidFill>
                  <a:schemeClr val="bg2"/>
                </a:solidFill>
              </a:rPr>
              <a:t>A well-evidenced null, not an implementation artifact: the gradient chain is healthy end to end. It rests on four checks assembled after the gated route failed, so it carries less confirmatory weight than a pre-registered test.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Bonus: sky localization is real</a:t>
            </a:r>
            <a:endParaRPr lang="en-US" sz="3600" dirty="0"/>
          </a:p>
        </p:txBody>
      </p:sp>
      <p:graphicFrame>
        <p:nvGraphicFramePr>
          <p:cNvPr id="4" name="Chart 0"/>
          <p:cNvGraphicFramePr/>
          <p:nvPr/>
        </p:nvGraphicFramePr>
        <p:xfrm>
          <a:off x="548640" y="1280160"/>
          <a:ext cx="67665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7680960" y="1280160"/>
            <a:ext cx="3931920" cy="822960"/>
          </a:xfrm>
          <a:prstGeom prst="rect">
            <a:avLst/>
          </a:prstGeom>
          <a:noFill/>
          <a:ln/>
        </p:spPr>
        <p:txBody>
          <a:bodyPr wrap="square" lIns="0" tIns="0" rIns="0" bIns="0" rtlCol="0" anchor="t"/>
          <a:lstStyle/>
          <a:p>
            <a:pPr marL="0" indent="0">
              <a:buNone/>
            </a:pPr>
            <a:r>
              <a:rPr lang="en-US" sz="4600" b="1" dirty="0">
                <a:solidFill>
                  <a:schemeClr val="accent2"/>
                </a:solidFill>
                <a:latin typeface="Cambria" pitchFamily="34" charset="0"/>
                <a:ea typeface="Cambria" pitchFamily="34" charset="-122"/>
                <a:cs typeface="Cambria" pitchFamily="34" charset="-120"/>
              </a:rPr>
              <a:t>+12.6°</a:t>
            </a:r>
            <a:endParaRPr lang="en-US" sz="4600" dirty="0"/>
          </a:p>
        </p:txBody>
      </p:sp>
      <p:sp>
        <p:nvSpPr>
          <p:cNvPr id="6" name="Text 2"/>
          <p:cNvSpPr txBox="1"/>
          <p:nvPr/>
        </p:nvSpPr>
        <p:spPr>
          <a:xfrm>
            <a:off x="7680960" y="2148840"/>
            <a:ext cx="3931920" cy="822960"/>
          </a:xfrm>
          <a:prstGeom prst="rect">
            <a:avLst/>
          </a:prstGeom>
          <a:noFill/>
          <a:ln/>
        </p:spPr>
        <p:txBody>
          <a:bodyPr wrap="square" lIns="0" tIns="0" rIns="0" bIns="0" rtlCol="0" anchor="t"/>
          <a:lstStyle/>
          <a:p>
            <a:pPr marL="0" indent="0">
              <a:buNone/>
            </a:pPr>
            <a:r>
              <a:rPr lang="en-US" sz="1400" dirty="0">
                <a:solidFill>
                  <a:schemeClr val="tx1"/>
                </a:solidFill>
              </a:rPr>
              <a:t>better than the shuffled null (</a:t>
            </a:r>
            <a:r>
              <a:rPr lang="en-US" sz="1400" i="1" dirty="0">
                <a:solidFill>
                  <a:schemeClr val="tx1"/>
                </a:solidFill>
              </a:rPr>
              <a:t>z</a:t>
            </a:r>
            <a:r>
              <a:rPr lang="en-US" sz="1400" dirty="0">
                <a:solidFill>
                  <a:schemeClr val="tx1"/>
                </a:solidFill>
              </a:rPr>
              <a:t> = +23.2σ); clears the 0.10 rad floor</a:t>
            </a:r>
            <a:endParaRPr lang="en-US" sz="1400" dirty="0"/>
          </a:p>
        </p:txBody>
      </p:sp>
      <p:sp>
        <p:nvSpPr>
          <p:cNvPr id="7" name="sky notes"/>
          <p:cNvSpPr/>
          <p:nvPr/>
        </p:nvSpPr>
        <p:spPr>
          <a:xfrm>
            <a:off x="7680960" y="3154680"/>
            <a:ext cx="3931920" cy="3017520"/>
          </a:xfrm>
          <a:prstGeom prst="roundRect">
            <a:avLst>
              <a:gd name="adj" fmla="val 3636"/>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8" name="Text 4"/>
          <p:cNvSpPr txBox="1"/>
          <p:nvPr/>
        </p:nvSpPr>
        <p:spPr>
          <a:xfrm>
            <a:off x="7955280" y="3337560"/>
            <a:ext cx="33832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Error falls monotonically with SNR, the signature of a real strain-to-direction mapping, not a memorization shortcut</a:t>
            </a:r>
            <a:endParaRPr lang="en-US" sz="1400" dirty="0"/>
          </a:p>
          <a:p>
            <a:pPr marL="342900" indent="-342900">
              <a:spcAft>
                <a:spcPts val="800"/>
              </a:spcAft>
              <a:buSzPct val="100000"/>
              <a:buChar char="•"/>
            </a:pPr>
            <a:r>
              <a:rPr lang="en-US" sz="1400" dirty="0">
                <a:solidFill>
                  <a:schemeClr val="tx1"/>
                </a:solidFill>
              </a:rPr>
              <a:t>Always guessing the mean direction scores only about 89.4°</a:t>
            </a:r>
            <a:endParaRPr lang="en-US" sz="1400" dirty="0"/>
          </a:p>
          <a:p>
            <a:pPr marL="342900" indent="-342900">
              <a:spcAft>
                <a:spcPts val="800"/>
              </a:spcAft>
              <a:buSzPct val="100000"/>
              <a:buChar char="•"/>
            </a:pPr>
            <a:r>
              <a:rPr lang="en-US" sz="1400" dirty="0">
                <a:solidFill>
                  <a:schemeClr val="tx1"/>
                </a:solidFill>
              </a:rPr>
              <a:t>Inferred, untested: cross-detector H1/L1 amplitude ratio via antenna pattern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Inclination and memorization</a:t>
            </a:r>
            <a:endParaRPr lang="en-US" sz="3600" dirty="0"/>
          </a:p>
        </p:txBody>
      </p:sp>
      <p:sp>
        <p:nvSpPr>
          <p:cNvPr id="4" name="inclination card"/>
          <p:cNvSpPr/>
          <p:nvPr/>
        </p:nvSpPr>
        <p:spPr>
          <a:xfrm>
            <a:off x="548640" y="1371600"/>
            <a:ext cx="5394960" cy="4800600"/>
          </a:xfrm>
          <a:prstGeom prst="roundRect">
            <a:avLst>
              <a:gd name="adj" fmla="val 2286"/>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5" name="Text 2"/>
          <p:cNvSpPr txBox="1"/>
          <p:nvPr/>
        </p:nvSpPr>
        <p:spPr>
          <a:xfrm>
            <a:off x="822960" y="1600200"/>
            <a:ext cx="4846320" cy="365760"/>
          </a:xfrm>
          <a:prstGeom prst="rect">
            <a:avLst/>
          </a:prstGeom>
          <a:noFill/>
          <a:ln/>
        </p:spPr>
        <p:txBody>
          <a:bodyPr wrap="square" lIns="0" tIns="0" rIns="0" bIns="0" rtlCol="0" anchor="t"/>
          <a:lstStyle/>
          <a:p>
            <a:pPr marL="0" indent="0">
              <a:buNone/>
            </a:pPr>
            <a:r>
              <a:rPr lang="en-US" sz="1400" b="1" dirty="0">
                <a:solidFill>
                  <a:schemeClr val="accent5"/>
                </a:solidFill>
              </a:rPr>
              <a:t>INCLINATION IS NOT A CLEAN NOISE FLOOR</a:t>
            </a:r>
            <a:endParaRPr lang="en-US" sz="1400" dirty="0"/>
          </a:p>
        </p:txBody>
      </p:sp>
      <p:sp>
        <p:nvSpPr>
          <p:cNvPr id="6" name="Text 3"/>
          <p:cNvSpPr txBox="1"/>
          <p:nvPr/>
        </p:nvSpPr>
        <p:spPr>
          <a:xfrm>
            <a:off x="822960" y="2057400"/>
            <a:ext cx="4846320" cy="731520"/>
          </a:xfrm>
          <a:prstGeom prst="rect">
            <a:avLst/>
          </a:prstGeom>
          <a:noFill/>
          <a:ln/>
        </p:spPr>
        <p:txBody>
          <a:bodyPr wrap="square" lIns="0" tIns="0" rIns="0" bIns="0" rtlCol="0" anchor="t"/>
          <a:lstStyle/>
          <a:p>
            <a:pPr marL="0" indent="0">
              <a:buNone/>
            </a:pPr>
            <a:r>
              <a:rPr lang="en-US" sz="3800" b="1" dirty="0">
                <a:solidFill>
                  <a:schemeClr val="accent1"/>
                </a:solidFill>
                <a:latin typeface="Cambria" pitchFamily="34" charset="0"/>
                <a:ea typeface="Cambria" pitchFamily="34" charset="-122"/>
                <a:cs typeface="Cambria" pitchFamily="34" charset="-120"/>
              </a:rPr>
              <a:t>p ≤ 0.022</a:t>
            </a:r>
            <a:endParaRPr lang="en-US" sz="3800" dirty="0"/>
          </a:p>
        </p:txBody>
      </p:sp>
      <p:sp>
        <p:nvSpPr>
          <p:cNvPr id="7" name="Text 4"/>
          <p:cNvSpPr txBox="1"/>
          <p:nvPr/>
        </p:nvSpPr>
        <p:spPr>
          <a:xfrm>
            <a:off x="822960" y="2834640"/>
            <a:ext cx="4846320" cy="822960"/>
          </a:xfrm>
          <a:prstGeom prst="rect">
            <a:avLst/>
          </a:prstGeom>
          <a:noFill/>
          <a:ln/>
        </p:spPr>
        <p:txBody>
          <a:bodyPr wrap="square" lIns="0" tIns="0" rIns="0" bIns="0" rtlCol="0" anchor="t"/>
          <a:lstStyle/>
          <a:p>
            <a:pPr marL="0" indent="0">
              <a:buNone/>
            </a:pPr>
            <a:r>
              <a:rPr lang="en-US" sz="1400" dirty="0">
                <a:solidFill>
                  <a:schemeClr val="tx1"/>
                </a:solidFill>
              </a:rPr>
              <a:t>bootstrap significance in all 4 models, but the effect is only about 0.02–0.04 rad, below the 0.10 rad floor.</a:t>
            </a:r>
            <a:endParaRPr lang="en-US" sz="1400" dirty="0"/>
          </a:p>
        </p:txBody>
      </p:sp>
      <p:sp>
        <p:nvSpPr>
          <p:cNvPr id="8" name="Text 5"/>
          <p:cNvSpPr txBox="1"/>
          <p:nvPr/>
        </p:nvSpPr>
        <p:spPr>
          <a:xfrm>
            <a:off x="822960" y="374904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Predictions cluster at a handful of preferred angles: a partial mode collapse</a:t>
            </a:r>
            <a:endParaRPr lang="en-US" sz="1400" dirty="0"/>
          </a:p>
          <a:p>
            <a:pPr marL="342900" indent="-342900">
              <a:spcAft>
                <a:spcPts val="800"/>
              </a:spcAft>
              <a:buSzPct val="100000"/>
              <a:buChar char="•"/>
            </a:pPr>
            <a:r>
              <a:rPr lang="en-US" sz="1400" dirty="0">
                <a:solidFill>
                  <a:schemeClr val="tx1"/>
                </a:solidFill>
              </a:rPr>
              <a:t>Its severity tracks each model's </a:t>
            </a:r>
            <a:r>
              <a:rPr lang="en-US" sz="1400" i="1" dirty="0">
                <a:solidFill>
                  <a:schemeClr val="tx1"/>
                </a:solidFill>
              </a:rPr>
              <a:t>φ</a:t>
            </a:r>
            <a:r>
              <a:rPr lang="en-US" sz="1400" baseline="-25000" dirty="0">
                <a:solidFill>
                  <a:schemeClr val="tx1"/>
                </a:solidFill>
              </a:rPr>
              <a:t>c</a:t>
            </a:r>
            <a:r>
              <a:rPr lang="en-US" sz="1400" dirty="0">
                <a:solidFill>
                  <a:schemeClr val="tx1"/>
                </a:solidFill>
              </a:rPr>
              <a:t>/</a:t>
            </a:r>
            <a:r>
              <a:rPr lang="en-US" sz="1400" i="1" dirty="0">
                <a:solidFill>
                  <a:schemeClr val="tx1"/>
                </a:solidFill>
              </a:rPr>
              <a:t>ψ</a:t>
            </a:r>
            <a:r>
              <a:rPr lang="en-US" sz="1400" dirty="0">
                <a:solidFill>
                  <a:schemeClr val="tx1"/>
                </a:solidFill>
              </a:rPr>
              <a:t> collapse, pointing to shared training dynamics rather than recoverable physics</a:t>
            </a:r>
            <a:endParaRPr lang="en-US" sz="1400" dirty="0"/>
          </a:p>
        </p:txBody>
      </p:sp>
      <p:sp>
        <p:nvSpPr>
          <p:cNvPr id="9" name="memorization card"/>
          <p:cNvSpPr/>
          <p:nvPr/>
        </p:nvSpPr>
        <p:spPr>
          <a:xfrm>
            <a:off x="6217920" y="1371600"/>
            <a:ext cx="5394960" cy="4800600"/>
          </a:xfrm>
          <a:prstGeom prst="roundRect">
            <a:avLst>
              <a:gd name="adj" fmla="val 2286"/>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0" name="Text 7"/>
          <p:cNvSpPr txBox="1"/>
          <p:nvPr/>
        </p:nvSpPr>
        <p:spPr>
          <a:xfrm>
            <a:off x="6492240" y="1600200"/>
            <a:ext cx="4846320" cy="365760"/>
          </a:xfrm>
          <a:prstGeom prst="rect">
            <a:avLst/>
          </a:prstGeom>
          <a:noFill/>
          <a:ln/>
        </p:spPr>
        <p:txBody>
          <a:bodyPr wrap="square" lIns="0" tIns="0" rIns="0" bIns="0" rtlCol="0" anchor="t"/>
          <a:lstStyle/>
          <a:p>
            <a:pPr marL="0" indent="0">
              <a:buNone/>
            </a:pPr>
            <a:r>
              <a:rPr lang="en-US" sz="1400" b="1" dirty="0">
                <a:solidFill>
                  <a:schemeClr val="accent5"/>
                </a:solidFill>
              </a:rPr>
              <a:t>CNN_ATTENTION MEMORIZES </a:t>
            </a:r>
            <a:r>
              <a:rPr lang="en-US" sz="1400" b="1" i="1" dirty="0">
                <a:solidFill>
                  <a:schemeClr val="accent5"/>
                </a:solidFill>
              </a:rPr>
              <a:t>φ</a:t>
            </a:r>
            <a:r>
              <a:rPr lang="en-US" sz="1400" b="1" baseline="-25000" dirty="0">
                <a:solidFill>
                  <a:schemeClr val="accent5"/>
                </a:solidFill>
              </a:rPr>
              <a:t>c</a:t>
            </a:r>
            <a:r>
              <a:rPr lang="en-US" sz="1400" b="1" dirty="0">
                <a:solidFill>
                  <a:schemeClr val="accent5"/>
                </a:solidFill>
              </a:rPr>
              <a:t> AND </a:t>
            </a:r>
            <a:r>
              <a:rPr lang="en-US" sz="1400" b="1" i="1" dirty="0">
                <a:solidFill>
                  <a:schemeClr val="accent5"/>
                </a:solidFill>
              </a:rPr>
              <a:t>ψ</a:t>
            </a:r>
            <a:endParaRPr lang="en-US" sz="1400" dirty="0"/>
          </a:p>
        </p:txBody>
      </p:sp>
      <p:sp>
        <p:nvSpPr>
          <p:cNvPr id="11" name="Text 8"/>
          <p:cNvSpPr txBox="1"/>
          <p:nvPr/>
        </p:nvSpPr>
        <p:spPr>
          <a:xfrm>
            <a:off x="6492240" y="2057400"/>
            <a:ext cx="4846320" cy="731520"/>
          </a:xfrm>
          <a:prstGeom prst="rect">
            <a:avLst/>
          </a:prstGeom>
          <a:noFill/>
          <a:ln/>
        </p:spPr>
        <p:txBody>
          <a:bodyPr wrap="square" lIns="0" tIns="0" rIns="0" bIns="0" rtlCol="0" anchor="t"/>
          <a:lstStyle/>
          <a:p>
            <a:pPr marL="0" indent="0">
              <a:buNone/>
            </a:pPr>
            <a:r>
              <a:rPr lang="en-US" sz="3800" b="1" dirty="0">
                <a:solidFill>
                  <a:schemeClr val="accent4"/>
                </a:solidFill>
                <a:latin typeface="Cambria" pitchFamily="34" charset="0"/>
                <a:ea typeface="Cambria" pitchFamily="34" charset="-122"/>
                <a:cs typeface="Cambria" pitchFamily="34" charset="-120"/>
              </a:rPr>
              <a:t>0.44–0.47</a:t>
            </a:r>
            <a:endParaRPr lang="en-US" sz="3800" dirty="0"/>
          </a:p>
        </p:txBody>
      </p:sp>
      <p:sp>
        <p:nvSpPr>
          <p:cNvPr id="12" name="Text 9"/>
          <p:cNvSpPr txBox="1"/>
          <p:nvPr/>
        </p:nvSpPr>
        <p:spPr>
          <a:xfrm>
            <a:off x="6492240" y="2834640"/>
            <a:ext cx="4846320" cy="822960"/>
          </a:xfrm>
          <a:prstGeom prst="rect">
            <a:avLst/>
          </a:prstGeom>
          <a:noFill/>
          <a:ln/>
        </p:spPr>
        <p:txBody>
          <a:bodyPr wrap="square" lIns="0" tIns="0" rIns="0" bIns="0" rtlCol="0" anchor="t"/>
          <a:lstStyle/>
          <a:p>
            <a:pPr marL="0" indent="0">
              <a:buNone/>
            </a:pPr>
            <a:r>
              <a:rPr lang="en-US" sz="1400" dirty="0">
                <a:solidFill>
                  <a:schemeClr val="tx1"/>
                </a:solidFill>
              </a:rPr>
              <a:t>train–validation loss gap, against 0.003–0.05 for the other three models.</a:t>
            </a:r>
            <a:endParaRPr lang="en-US" sz="1400" dirty="0"/>
          </a:p>
        </p:txBody>
      </p:sp>
      <p:sp>
        <p:nvSpPr>
          <p:cNvPr id="13" name="Text 10"/>
          <p:cNvSpPr txBox="1"/>
          <p:nvPr/>
        </p:nvSpPr>
        <p:spPr>
          <a:xfrm>
            <a:off x="6492240" y="374904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Training circular loss falls to about 0.55 while validation stays flat at 1.0</a:t>
            </a:r>
            <a:endParaRPr lang="en-US" sz="1400" dirty="0"/>
          </a:p>
          <a:p>
            <a:pPr marL="342900" indent="-342900">
              <a:spcAft>
                <a:spcPts val="800"/>
              </a:spcAft>
              <a:buSzPct val="100000"/>
              <a:buChar char="•"/>
            </a:pPr>
            <a:r>
              <a:rPr lang="en-US" sz="1400" dirty="0">
                <a:solidFill>
                  <a:schemeClr val="tx1"/>
                </a:solidFill>
              </a:rPr>
              <a:t>Invisible in earlier numbers because the Round-1 summary tracked only validation loss</a:t>
            </a:r>
            <a:endParaRPr lang="en-US" sz="1400" dirty="0"/>
          </a:p>
          <a:p>
            <a:pPr marL="342900" indent="-342900">
              <a:spcAft>
                <a:spcPts val="800"/>
              </a:spcAft>
              <a:buSzPct val="100000"/>
              <a:buChar char="•"/>
            </a:pPr>
            <a:r>
              <a:rPr lang="en-US" sz="1400" dirty="0">
                <a:solidFill>
                  <a:schemeClr val="tx1"/>
                </a:solidFill>
              </a:rPr>
              <a:t>Why the sky-position result needed an SNR-stratification check before it was trusted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tx1"/>
                </a:solidFill>
              </a:rPr>
              <a:t>How strong is the evidence?</a:t>
            </a:r>
            <a:endParaRPr lang="en-US" sz="3600" dirty="0"/>
          </a:p>
        </p:txBody>
      </p:sp>
      <p:sp>
        <p:nvSpPr>
          <p:cNvPr id="4" name="solid card"/>
          <p:cNvSpPr/>
          <p:nvPr/>
        </p:nvSpPr>
        <p:spPr>
          <a:xfrm>
            <a:off x="548640" y="1371600"/>
            <a:ext cx="5029200" cy="4800600"/>
          </a:xfrm>
          <a:prstGeom prst="roundRect">
            <a:avLst>
              <a:gd name="adj" fmla="val 2286"/>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5" name="badge ✓"/>
          <p:cNvSpPr/>
          <p:nvPr/>
        </p:nvSpPr>
        <p:spPr>
          <a:xfrm>
            <a:off x="822960" y="1600200"/>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22960" y="1600200"/>
            <a:ext cx="502920" cy="502920"/>
          </a:xfrm>
          <a:prstGeom prst="rect">
            <a:avLst/>
          </a:prstGeom>
          <a:noFill/>
          <a:ln/>
        </p:spPr>
        <p:txBody>
          <a:bodyPr wrap="square" lIns="0" tIns="0" rIns="0" bIns="0" rtlCol="0" anchor="ctr"/>
          <a:lstStyle/>
          <a:p>
            <a:pPr marL="0" indent="0" algn="ctr">
              <a:buNone/>
            </a:pPr>
            <a:r>
              <a:rPr lang="en-US" sz="2200" b="1" dirty="0">
                <a:solidFill>
                  <a:schemeClr val="bg1"/>
                </a:solidFill>
              </a:rPr>
              <a:t>✓</a:t>
            </a:r>
            <a:endParaRPr lang="en-US" sz="2200" dirty="0"/>
          </a:p>
        </p:txBody>
      </p:sp>
      <p:sp>
        <p:nvSpPr>
          <p:cNvPr id="7" name="Text 4"/>
          <p:cNvSpPr txBox="1"/>
          <p:nvPr/>
        </p:nvSpPr>
        <p:spPr>
          <a:xfrm>
            <a:off x="1508760" y="1600200"/>
            <a:ext cx="3840480" cy="50292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What holds up</a:t>
            </a:r>
            <a:endParaRPr lang="en-US" sz="2200" dirty="0"/>
          </a:p>
        </p:txBody>
      </p:sp>
      <p:sp>
        <p:nvSpPr>
          <p:cNvPr id="8" name="Text 5"/>
          <p:cNvSpPr txBox="1"/>
          <p:nvPr/>
        </p:nvSpPr>
        <p:spPr>
          <a:xfrm>
            <a:off x="822960" y="2331720"/>
            <a:ext cx="457200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Four independent methods agree on the null</a:t>
            </a:r>
            <a:endParaRPr lang="en-US" sz="1600" dirty="0"/>
          </a:p>
          <a:p>
            <a:pPr marL="342900" indent="-342900">
              <a:spcAft>
                <a:spcPts val="800"/>
              </a:spcAft>
              <a:buSzPct val="100000"/>
              <a:buChar char="•"/>
            </a:pPr>
            <a:r>
              <a:rPr lang="en-US" sz="1600" dirty="0">
                <a:solidFill>
                  <a:schemeClr val="bg1"/>
                </a:solidFill>
              </a:rPr>
              <a:t>Run uniformly on all four models, none excluded on interpretability grounds</a:t>
            </a:r>
            <a:endParaRPr lang="en-US" sz="1600" dirty="0"/>
          </a:p>
          <a:p>
            <a:pPr marL="342900" indent="-342900">
              <a:spcAft>
                <a:spcPts val="800"/>
              </a:spcAft>
              <a:buSzPct val="100000"/>
              <a:buChar char="•"/>
            </a:pPr>
            <a:r>
              <a:rPr lang="en-US" sz="1600" dirty="0">
                <a:solidFill>
                  <a:schemeClr val="bg1"/>
                </a:solidFill>
              </a:rPr>
              <a:t>Positive controls read correctly in every model</a:t>
            </a:r>
            <a:endParaRPr lang="en-US" sz="1600" dirty="0"/>
          </a:p>
          <a:p>
            <a:pPr marL="342900" indent="-342900">
              <a:spcAft>
                <a:spcPts val="800"/>
              </a:spcAft>
              <a:buSzPct val="100000"/>
              <a:buChar char="•"/>
            </a:pPr>
            <a:r>
              <a:rPr lang="en-US" sz="1600" dirty="0">
                <a:solidFill>
                  <a:schemeClr val="bg1"/>
                </a:solidFill>
              </a:rPr>
              <a:t>An implementation bug is ruled out by the gradient trace</a:t>
            </a:r>
            <a:endParaRPr lang="en-US" sz="1600" dirty="0"/>
          </a:p>
          <a:p>
            <a:pPr marL="342900" indent="-342900">
              <a:spcAft>
                <a:spcPts val="800"/>
              </a:spcAft>
              <a:buSzPct val="100000"/>
              <a:buChar char="•"/>
            </a:pPr>
            <a:r>
              <a:rPr lang="en-US" sz="1600" dirty="0">
                <a:solidFill>
                  <a:schemeClr val="bg1"/>
                </a:solidFill>
              </a:rPr>
              <a:t>Every quantitative claim traces to a repository artifact</a:t>
            </a:r>
            <a:endParaRPr lang="en-US" sz="1600" dirty="0"/>
          </a:p>
        </p:txBody>
      </p:sp>
      <p:sp>
        <p:nvSpPr>
          <p:cNvPr id="9" name="limits card"/>
          <p:cNvSpPr/>
          <p:nvPr/>
        </p:nvSpPr>
        <p:spPr>
          <a:xfrm>
            <a:off x="5852160" y="1371600"/>
            <a:ext cx="5760720" cy="4800600"/>
          </a:xfrm>
          <a:prstGeom prst="roundRect">
            <a:avLst>
              <a:gd name="adj" fmla="val 2286"/>
            </a:avLst>
          </a:prstGeom>
          <a:solidFill>
            <a:schemeClr val="bg2"/>
          </a:solidFill>
          <a:ln w="12700">
            <a:solidFill>
              <a:schemeClr val="bg2"/>
            </a:solidFill>
            <a:prstDash val="solid"/>
          </a:ln>
          <a:effectLst>
            <a:outerShdw blurRad="101600" dist="25400" dir="5400000" algn="bl" rotWithShape="0">
              <a:srgbClr val="0F1B33">
                <a:alpha val="12000"/>
              </a:srgbClr>
            </a:outerShdw>
          </a:effectLst>
        </p:spPr>
      </p:sp>
      <p:sp>
        <p:nvSpPr>
          <p:cNvPr id="10" name="badge !"/>
          <p:cNvSpPr/>
          <p:nvPr/>
        </p:nvSpPr>
        <p:spPr>
          <a:xfrm>
            <a:off x="6126480" y="160020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6126480" y="1600200"/>
            <a:ext cx="502920" cy="502920"/>
          </a:xfrm>
          <a:prstGeom prst="rect">
            <a:avLst/>
          </a:prstGeom>
          <a:noFill/>
          <a:ln/>
        </p:spPr>
        <p:txBody>
          <a:bodyPr wrap="square" lIns="0" tIns="0" rIns="0" bIns="0" rtlCol="0" anchor="ctr"/>
          <a:lstStyle/>
          <a:p>
            <a:pPr marL="0" indent="0" algn="ctr">
              <a:buNone/>
            </a:pPr>
            <a:r>
              <a:rPr lang="en-US" sz="2200" b="1" dirty="0">
                <a:solidFill>
                  <a:schemeClr val="tx1"/>
                </a:solidFill>
              </a:rPr>
              <a:t>!</a:t>
            </a:r>
            <a:endParaRPr lang="en-US" sz="2200" dirty="0"/>
          </a:p>
        </p:txBody>
      </p:sp>
      <p:sp>
        <p:nvSpPr>
          <p:cNvPr id="12" name="Text 9"/>
          <p:cNvSpPr txBox="1"/>
          <p:nvPr/>
        </p:nvSpPr>
        <p:spPr>
          <a:xfrm>
            <a:off x="6812280" y="1600200"/>
            <a:ext cx="4572000" cy="50292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Limitations and open items</a:t>
            </a:r>
            <a:endParaRPr lang="en-US" sz="2200" dirty="0"/>
          </a:p>
        </p:txBody>
      </p:sp>
      <p:sp>
        <p:nvSpPr>
          <p:cNvPr id="13" name="Text 10"/>
          <p:cNvSpPr txBox="1"/>
          <p:nvPr/>
        </p:nvSpPr>
        <p:spPr>
          <a:xfrm>
            <a:off x="6126480" y="2331720"/>
            <a:ext cx="5303520" cy="374904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Narrow pool: </a:t>
            </a:r>
            <a:r>
              <a:rPr lang="en-US" sz="1400" dirty="0">
                <a:solidFill>
                  <a:schemeClr val="tx1"/>
                </a:solidFill>
              </a:rPr>
              <a:t>two trunk families; down-select had no numeric threshold</a:t>
            </a:r>
            <a:endParaRPr lang="en-US" sz="1400" dirty="0"/>
          </a:p>
          <a:p>
            <a:pPr marL="342900" indent="-342900">
              <a:spcAft>
                <a:spcPts val="600"/>
              </a:spcAft>
              <a:buSzPct val="100000"/>
              <a:buChar char="•"/>
            </a:pPr>
            <a:r>
              <a:rPr lang="en-US" sz="1400" b="1" dirty="0">
                <a:solidFill>
                  <a:schemeClr val="tx1"/>
                </a:solidFill>
              </a:rPr>
              <a:t>Single seed (42): </a:t>
            </a:r>
            <a:r>
              <a:rPr lang="en-US" sz="1400" dirty="0">
                <a:solidFill>
                  <a:schemeClr val="tx1"/>
                </a:solidFill>
              </a:rPr>
              <a:t>null holds across configurations, not seeds</a:t>
            </a:r>
            <a:endParaRPr lang="en-US" sz="1400" dirty="0"/>
          </a:p>
          <a:p>
            <a:pPr marL="342900" indent="-342900">
              <a:spcAft>
                <a:spcPts val="600"/>
              </a:spcAft>
              <a:buSzPct val="100000"/>
              <a:buChar char="•"/>
            </a:pPr>
            <a:r>
              <a:rPr lang="en-US" sz="1400" b="1" dirty="0">
                <a:solidFill>
                  <a:schemeClr val="tx1"/>
                </a:solidFill>
              </a:rPr>
              <a:t>Reconstructed branch: </a:t>
            </a:r>
            <a:r>
              <a:rPr lang="en-US" sz="1400" dirty="0">
                <a:solidFill>
                  <a:schemeClr val="tx1"/>
                </a:solidFill>
              </a:rPr>
              <a:t>POC</a:t>
            </a:r>
            <a:r>
              <a:rPr lang="en-US" sz="1400" baseline="-25000" dirty="0">
                <a:solidFill>
                  <a:schemeClr val="tx1"/>
                </a:solidFill>
              </a:rPr>
              <a:t>B</a:t>
            </a:r>
            <a:r>
              <a:rPr lang="en-US" sz="1400" dirty="0">
                <a:solidFill>
                  <a:schemeClr val="tx1"/>
                </a:solidFill>
              </a:rPr>
              <a:t> bootstrap numbers are ground-truth-assisted (disclosed)</a:t>
            </a:r>
            <a:endParaRPr lang="en-US" sz="1400" dirty="0"/>
          </a:p>
          <a:p>
            <a:pPr marL="342900" indent="-342900">
              <a:spcAft>
                <a:spcPts val="600"/>
              </a:spcAft>
              <a:buSzPct val="100000"/>
              <a:buChar char="•"/>
            </a:pPr>
            <a:r>
              <a:rPr lang="en-US" sz="1400" b="1" dirty="0">
                <a:solidFill>
                  <a:schemeClr val="tx1"/>
                </a:solidFill>
              </a:rPr>
              <a:t>Probe parked: </a:t>
            </a:r>
            <a:r>
              <a:rPr lang="en-US" sz="1400" dirty="0">
                <a:solidFill>
                  <a:schemeClr val="tx1"/>
                </a:solidFill>
              </a:rPr>
              <a:t>perturbation trace failed its own positive control</a:t>
            </a:r>
            <a:endParaRPr lang="en-US" sz="1400" dirty="0"/>
          </a:p>
          <a:p>
            <a:pPr marL="342900" indent="-342900">
              <a:spcAft>
                <a:spcPts val="600"/>
              </a:spcAft>
              <a:buSzPct val="100000"/>
              <a:buChar char="•"/>
            </a:pPr>
            <a:r>
              <a:rPr lang="en-US" sz="1400" b="1" dirty="0">
                <a:solidFill>
                  <a:schemeClr val="tx1"/>
                </a:solidFill>
              </a:rPr>
              <a:t>Unrun: </a:t>
            </a:r>
            <a:r>
              <a:rPr lang="en-US" sz="1400" dirty="0">
                <a:solidFill>
                  <a:schemeClr val="tx1"/>
                </a:solidFill>
              </a:rPr>
              <a:t>synthetic ablation, high-SNR / Fisher bound, joint (</a:t>
            </a:r>
            <a:r>
              <a:rPr lang="en-US" sz="1400" i="1" dirty="0">
                <a:solidFill>
                  <a:schemeClr val="tx1"/>
                </a:solidFill>
              </a:rPr>
              <a:t>φ</a:t>
            </a:r>
            <a:r>
              <a:rPr lang="en-US" sz="1400" baseline="-25000" dirty="0">
                <a:solidFill>
                  <a:schemeClr val="tx1"/>
                </a:solidFill>
              </a:rPr>
              <a:t>c</a:t>
            </a:r>
            <a:r>
              <a:rPr lang="en-US" sz="1400" dirty="0">
                <a:solidFill>
                  <a:schemeClr val="tx1"/>
                </a:solidFill>
              </a:rPr>
              <a:t>, </a:t>
            </a:r>
            <a:r>
              <a:rPr lang="en-US" sz="1400" i="1" dirty="0">
                <a:solidFill>
                  <a:schemeClr val="tx1"/>
                </a:solidFill>
              </a:rPr>
              <a:t>ψ</a:t>
            </a:r>
            <a:r>
              <a:rPr lang="en-US" sz="1400" dirty="0">
                <a:solidFill>
                  <a:schemeClr val="tx1"/>
                </a:solidFill>
              </a:rPr>
              <a:t>) scatter</a:t>
            </a:r>
            <a:endParaRPr lang="en-US" sz="1400" dirty="0"/>
          </a:p>
          <a:p>
            <a:pPr marL="342900" indent="-342900">
              <a:spcAft>
                <a:spcPts val="600"/>
              </a:spcAft>
              <a:buSzPct val="100000"/>
              <a:buChar char="•"/>
            </a:pPr>
            <a:r>
              <a:rPr lang="en-US" sz="1400" b="1" dirty="0">
                <a:solidFill>
                  <a:schemeClr val="tx1"/>
                </a:solidFill>
              </a:rPr>
              <a:t>No adversarial review </a:t>
            </a:r>
            <a:r>
              <a:rPr lang="en-US" sz="1400" dirty="0">
                <a:solidFill>
                  <a:schemeClr val="tx1"/>
                </a:solidFill>
              </a:rPr>
              <a:t>of the manuscript yet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27A"/>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65760"/>
            <a:ext cx="11064240" cy="777240"/>
          </a:xfrm>
          <a:prstGeom prst="rect">
            <a:avLst/>
          </a:prstGeom>
          <a:noFill/>
          <a:ln/>
        </p:spPr>
        <p:txBody>
          <a:bodyPr wrap="square" lIns="0" tIns="0" rIns="0" bIns="0" rtlCol="0" anchor="t"/>
          <a:lstStyle/>
          <a:p>
            <a:pPr marL="0" indent="0" algn="l">
              <a:buNone/>
            </a:pPr>
            <a:r>
              <a:rPr lang="en-US" sz="3600" b="1" dirty="0">
                <a:solidFill>
                  <a:schemeClr val="bg1"/>
                </a:solidFill>
              </a:rPr>
              <a:t>Takeaways and open items</a:t>
            </a:r>
            <a:endParaRPr lang="en-US" sz="3600" dirty="0"/>
          </a:p>
        </p:txBody>
      </p:sp>
      <p:sp>
        <p:nvSpPr>
          <p:cNvPr id="4" name="badge 1"/>
          <p:cNvSpPr/>
          <p:nvPr/>
        </p:nvSpPr>
        <p:spPr>
          <a:xfrm>
            <a:off x="548640" y="1508760"/>
            <a:ext cx="640080" cy="640080"/>
          </a:xfrm>
          <a:prstGeom prst="ellipse">
            <a:avLst/>
          </a:prstGeom>
          <a:solidFill>
            <a:schemeClr val="accent1"/>
          </a:solidFill>
          <a:ln w="12700">
            <a:solidFill>
              <a:schemeClr val="accent1"/>
            </a:solidFill>
            <a:prstDash val="solid"/>
          </a:ln>
        </p:spPr>
      </p:sp>
      <p:sp>
        <p:nvSpPr>
          <p:cNvPr id="5" name="Text 2"/>
          <p:cNvSpPr txBox="1"/>
          <p:nvPr/>
        </p:nvSpPr>
        <p:spPr>
          <a:xfrm>
            <a:off x="548640" y="150876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1</a:t>
            </a:r>
            <a:endParaRPr lang="en-US" sz="2400" dirty="0"/>
          </a:p>
        </p:txBody>
      </p:sp>
      <p:sp>
        <p:nvSpPr>
          <p:cNvPr id="6" name="Text 3"/>
          <p:cNvSpPr txBox="1"/>
          <p:nvPr/>
        </p:nvSpPr>
        <p:spPr>
          <a:xfrm>
            <a:off x="1463040" y="1371600"/>
            <a:ext cx="5486400" cy="45720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A null for regression heads</a:t>
            </a:r>
            <a:endParaRPr lang="en-US" sz="2000" dirty="0"/>
          </a:p>
        </p:txBody>
      </p:sp>
      <p:sp>
        <p:nvSpPr>
          <p:cNvPr id="7" name="Text 4"/>
          <p:cNvSpPr txBox="1"/>
          <p:nvPr/>
        </p:nvSpPr>
        <p:spPr>
          <a:xfrm>
            <a:off x="1463040" y="1874520"/>
            <a:ext cx="5486400" cy="822960"/>
          </a:xfrm>
          <a:prstGeom prst="rect">
            <a:avLst/>
          </a:prstGeom>
          <a:noFill/>
          <a:ln/>
        </p:spPr>
        <p:txBody>
          <a:bodyPr wrap="square" lIns="0" tIns="0" rIns="0" bIns="0" rtlCol="0" anchor="t"/>
          <a:lstStyle/>
          <a:p>
            <a:pPr marL="0" indent="0">
              <a:buNone/>
            </a:pPr>
            <a:r>
              <a:rPr lang="en-US" sz="1400" i="1" dirty="0">
                <a:solidFill>
                  <a:schemeClr val="bg2"/>
                </a:solidFill>
              </a:rPr>
              <a:t>φ</a:t>
            </a:r>
            <a:r>
              <a:rPr lang="en-US" sz="1400" baseline="-25000" dirty="0">
                <a:solidFill>
                  <a:schemeClr val="bg2"/>
                </a:solidFill>
              </a:rPr>
              <a:t>c</a:t>
            </a:r>
            <a:r>
              <a:rPr lang="en-US" sz="1400" dirty="0">
                <a:solidFill>
                  <a:schemeClr val="bg2"/>
                </a:solidFill>
              </a:rPr>
              <a:t> and </a:t>
            </a:r>
            <a:r>
              <a:rPr lang="en-US" sz="1400" i="1" dirty="0">
                <a:solidFill>
                  <a:schemeClr val="bg2"/>
                </a:solidFill>
              </a:rPr>
              <a:t>ψ</a:t>
            </a:r>
            <a:r>
              <a:rPr lang="en-US" sz="1400" dirty="0">
                <a:solidFill>
                  <a:schemeClr val="bg2"/>
                </a:solidFill>
              </a:rPr>
              <a:t> are not recoverable from strain on this architecture set, individually or through 2</a:t>
            </a:r>
            <a:r>
              <a:rPr lang="en-US" sz="1400" i="1" dirty="0">
                <a:solidFill>
                  <a:schemeClr val="bg2"/>
                </a:solidFill>
              </a:rPr>
              <a:t>φ</a:t>
            </a:r>
            <a:r>
              <a:rPr lang="en-US" sz="1400" baseline="-25000" dirty="0">
                <a:solidFill>
                  <a:schemeClr val="bg2"/>
                </a:solidFill>
              </a:rPr>
              <a:t>c</a:t>
            </a:r>
            <a:r>
              <a:rPr lang="en-US" sz="1400" dirty="0">
                <a:solidFill>
                  <a:schemeClr val="bg2"/>
                </a:solidFill>
              </a:rPr>
              <a:t> ± 2</a:t>
            </a:r>
            <a:r>
              <a:rPr lang="en-US" sz="1400" i="1" dirty="0">
                <a:solidFill>
                  <a:schemeClr val="bg2"/>
                </a:solidFill>
              </a:rPr>
              <a:t>ψ</a:t>
            </a:r>
            <a:r>
              <a:rPr lang="en-US" sz="1400" dirty="0">
                <a:solidFill>
                  <a:schemeClr val="bg2"/>
                </a:solidFill>
              </a:rPr>
              <a:t>.</a:t>
            </a:r>
            <a:endParaRPr lang="en-US" sz="1400" dirty="0"/>
          </a:p>
        </p:txBody>
      </p:sp>
      <p:sp>
        <p:nvSpPr>
          <p:cNvPr id="8" name="badge 2"/>
          <p:cNvSpPr/>
          <p:nvPr/>
        </p:nvSpPr>
        <p:spPr>
          <a:xfrm>
            <a:off x="548640" y="2926080"/>
            <a:ext cx="640080" cy="640080"/>
          </a:xfrm>
          <a:prstGeom prst="ellipse">
            <a:avLst/>
          </a:prstGeom>
          <a:solidFill>
            <a:schemeClr val="accent1"/>
          </a:solidFill>
          <a:ln w="12700">
            <a:solidFill>
              <a:schemeClr val="accent1"/>
            </a:solidFill>
            <a:prstDash val="solid"/>
          </a:ln>
        </p:spPr>
      </p:sp>
      <p:sp>
        <p:nvSpPr>
          <p:cNvPr id="9" name="Text 6"/>
          <p:cNvSpPr txBox="1"/>
          <p:nvPr/>
        </p:nvSpPr>
        <p:spPr>
          <a:xfrm>
            <a:off x="548640" y="292608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2</a:t>
            </a:r>
            <a:endParaRPr lang="en-US" sz="2400" dirty="0"/>
          </a:p>
        </p:txBody>
      </p:sp>
      <p:sp>
        <p:nvSpPr>
          <p:cNvPr id="10" name="Text 7"/>
          <p:cNvSpPr txBox="1"/>
          <p:nvPr/>
        </p:nvSpPr>
        <p:spPr>
          <a:xfrm>
            <a:off x="1463040" y="2788920"/>
            <a:ext cx="5486400" cy="45720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A practical hazard</a:t>
            </a:r>
            <a:endParaRPr lang="en-US" sz="2000" dirty="0"/>
          </a:p>
        </p:txBody>
      </p:sp>
      <p:sp>
        <p:nvSpPr>
          <p:cNvPr id="11" name="Text 8"/>
          <p:cNvSpPr txBox="1"/>
          <p:nvPr/>
        </p:nvSpPr>
        <p:spPr>
          <a:xfrm>
            <a:off x="1463040" y="3291840"/>
            <a:ext cx="5486400" cy="822960"/>
          </a:xfrm>
          <a:prstGeom prst="rect">
            <a:avLst/>
          </a:prstGeom>
          <a:noFill/>
          <a:ln/>
        </p:spPr>
        <p:txBody>
          <a:bodyPr wrap="square" lIns="0" tIns="0" rIns="0" bIns="0" rtlCol="0" anchor="t"/>
          <a:lstStyle/>
          <a:p>
            <a:pPr marL="0" indent="0">
              <a:buNone/>
            </a:pPr>
            <a:r>
              <a:rPr lang="en-US" sz="1400" dirty="0">
                <a:solidFill>
                  <a:schemeClr val="bg2"/>
                </a:solidFill>
              </a:rPr>
              <a:t>Neural posterior estimators (VItamin, DINGO) represent degenerate targets by construction; point-estimate and hybrid pipelines do not.</a:t>
            </a:r>
            <a:endParaRPr lang="en-US" sz="1400" dirty="0"/>
          </a:p>
        </p:txBody>
      </p:sp>
      <p:sp>
        <p:nvSpPr>
          <p:cNvPr id="12" name="badge 3"/>
          <p:cNvSpPr/>
          <p:nvPr/>
        </p:nvSpPr>
        <p:spPr>
          <a:xfrm>
            <a:off x="548640" y="4343400"/>
            <a:ext cx="640080" cy="640080"/>
          </a:xfrm>
          <a:prstGeom prst="ellipse">
            <a:avLst/>
          </a:prstGeom>
          <a:solidFill>
            <a:schemeClr val="accent1"/>
          </a:solidFill>
          <a:ln w="12700">
            <a:solidFill>
              <a:schemeClr val="accent1"/>
            </a:solidFill>
            <a:prstDash val="solid"/>
          </a:ln>
        </p:spPr>
      </p:sp>
      <p:sp>
        <p:nvSpPr>
          <p:cNvPr id="13" name="Text 10"/>
          <p:cNvSpPr txBox="1"/>
          <p:nvPr/>
        </p:nvSpPr>
        <p:spPr>
          <a:xfrm>
            <a:off x="548640" y="434340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3</a:t>
            </a:r>
            <a:endParaRPr lang="en-US" sz="2400" dirty="0"/>
          </a:p>
        </p:txBody>
      </p:sp>
      <p:sp>
        <p:nvSpPr>
          <p:cNvPr id="14" name="Text 11"/>
          <p:cNvSpPr txBox="1"/>
          <p:nvPr/>
        </p:nvSpPr>
        <p:spPr>
          <a:xfrm>
            <a:off x="1463040" y="4206240"/>
            <a:ext cx="5486400" cy="45720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Discipline is the contribution</a:t>
            </a:r>
            <a:endParaRPr lang="en-US" sz="2000" dirty="0"/>
          </a:p>
        </p:txBody>
      </p:sp>
      <p:sp>
        <p:nvSpPr>
          <p:cNvPr id="15" name="Text 12"/>
          <p:cNvSpPr txBox="1"/>
          <p:nvPr/>
        </p:nvSpPr>
        <p:spPr>
          <a:xfrm>
            <a:off x="1463040" y="4709160"/>
            <a:ext cx="5486400" cy="822960"/>
          </a:xfrm>
          <a:prstGeom prst="rect">
            <a:avLst/>
          </a:prstGeom>
          <a:noFill/>
          <a:ln/>
        </p:spPr>
        <p:txBody>
          <a:bodyPr wrap="square" lIns="0" tIns="0" rIns="0" bIns="0" rtlCol="0" anchor="t"/>
          <a:lstStyle/>
          <a:p>
            <a:pPr marL="0" indent="0">
              <a:buNone/>
            </a:pPr>
            <a:r>
              <a:rPr lang="en-US" sz="1400" dirty="0">
                <a:solidFill>
                  <a:schemeClr val="bg2"/>
                </a:solidFill>
              </a:rPr>
              <a:t>Positive controls on every instrument, and the lesson that passing an interpretability gate is not proof the property holds.</a:t>
            </a:r>
            <a:endParaRPr lang="en-US" sz="1400" dirty="0"/>
          </a:p>
        </p:txBody>
      </p:sp>
      <p:sp>
        <p:nvSpPr>
          <p:cNvPr id="16" name="open card"/>
          <p:cNvSpPr/>
          <p:nvPr/>
        </p:nvSpPr>
        <p:spPr>
          <a:xfrm>
            <a:off x="7406640" y="1371600"/>
            <a:ext cx="4206240" cy="4572000"/>
          </a:xfrm>
          <a:prstGeom prst="roundRect">
            <a:avLst>
              <a:gd name="adj" fmla="val 2609"/>
            </a:avLst>
          </a:prstGeom>
          <a:solidFill>
            <a:schemeClr val="tx2"/>
          </a:solidFill>
          <a:ln w="12700">
            <a:solidFill>
              <a:schemeClr val="tx2"/>
            </a:solidFill>
            <a:prstDash val="solid"/>
          </a:ln>
          <a:effectLst>
            <a:outerShdw blurRad="101600" dist="25400" dir="5400000" algn="bl" rotWithShape="0">
              <a:srgbClr val="0F1B33">
                <a:alpha val="12000"/>
              </a:srgbClr>
            </a:outerShdw>
          </a:effectLst>
        </p:spPr>
      </p:sp>
      <p:sp>
        <p:nvSpPr>
          <p:cNvPr id="17" name="Text 14"/>
          <p:cNvSpPr txBox="1"/>
          <p:nvPr/>
        </p:nvSpPr>
        <p:spPr>
          <a:xfrm>
            <a:off x="7680960" y="1600200"/>
            <a:ext cx="3657600" cy="365760"/>
          </a:xfrm>
          <a:prstGeom prst="rect">
            <a:avLst/>
          </a:prstGeom>
          <a:noFill/>
          <a:ln/>
        </p:spPr>
        <p:txBody>
          <a:bodyPr wrap="square" lIns="0" tIns="0" rIns="0" bIns="0" rtlCol="0" anchor="t"/>
          <a:lstStyle/>
          <a:p>
            <a:pPr marL="0" indent="0">
              <a:buNone/>
            </a:pPr>
            <a:r>
              <a:rPr lang="en-US" sz="1400" b="1" dirty="0">
                <a:solidFill>
                  <a:schemeClr val="accent1"/>
                </a:solidFill>
              </a:rPr>
              <a:t>STILL OPEN</a:t>
            </a:r>
            <a:endParaRPr lang="en-US" sz="1400" dirty="0"/>
          </a:p>
        </p:txBody>
      </p:sp>
      <p:sp>
        <p:nvSpPr>
          <p:cNvPr id="18" name="Text 15"/>
          <p:cNvSpPr txBox="1"/>
          <p:nvPr/>
        </p:nvSpPr>
        <p:spPr>
          <a:xfrm>
            <a:off x="7680960" y="2103120"/>
            <a:ext cx="365760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Separate degeneracy from a sensitivity floor: high-SNR (25–30) set or Fisher bound</a:t>
            </a:r>
            <a:endParaRPr lang="en-US" sz="1400" dirty="0"/>
          </a:p>
          <a:p>
            <a:pPr marL="342900" indent="-342900">
              <a:spcAft>
                <a:spcPts val="800"/>
              </a:spcAft>
              <a:buSzPct val="100000"/>
              <a:buChar char="•"/>
            </a:pPr>
            <a:r>
              <a:rPr lang="en-US" sz="1400" dirty="0">
                <a:solidFill>
                  <a:schemeClr val="bg1"/>
                </a:solidFill>
              </a:rPr>
              <a:t>Joint (</a:t>
            </a:r>
            <a:r>
              <a:rPr lang="en-US" sz="1400" i="1" dirty="0">
                <a:solidFill>
                  <a:schemeClr val="bg1"/>
                </a:solidFill>
              </a:rPr>
              <a:t>φ</a:t>
            </a:r>
            <a:r>
              <a:rPr lang="en-US" sz="1400" baseline="-25000" dirty="0">
                <a:solidFill>
                  <a:schemeClr val="bg1"/>
                </a:solidFill>
              </a:rPr>
              <a:t>c</a:t>
            </a:r>
            <a:r>
              <a:rPr lang="en-US" sz="1400" dirty="0">
                <a:solidFill>
                  <a:schemeClr val="bg1"/>
                </a:solidFill>
              </a:rPr>
              <a:t>, </a:t>
            </a:r>
            <a:r>
              <a:rPr lang="en-US" sz="1400" i="1" dirty="0">
                <a:solidFill>
                  <a:schemeClr val="bg1"/>
                </a:solidFill>
              </a:rPr>
              <a:t>ψ</a:t>
            </a:r>
            <a:r>
              <a:rPr lang="en-US" sz="1400" dirty="0">
                <a:solidFill>
                  <a:schemeClr val="bg1"/>
                </a:solidFill>
              </a:rPr>
              <a:t>) scatter to test for the degenerate ridge</a:t>
            </a:r>
            <a:endParaRPr lang="en-US" sz="1400" dirty="0"/>
          </a:p>
          <a:p>
            <a:pPr marL="342900" indent="-342900">
              <a:spcAft>
                <a:spcPts val="800"/>
              </a:spcAft>
              <a:buSzPct val="100000"/>
              <a:buChar char="•"/>
            </a:pPr>
            <a:r>
              <a:rPr lang="en-US" sz="1400" dirty="0">
                <a:solidFill>
                  <a:schemeClr val="bg1"/>
                </a:solidFill>
              </a:rPr>
              <a:t>Multiple seeds; the three dropped trunks through the full battery</a:t>
            </a:r>
            <a:endParaRPr lang="en-US" sz="1400" dirty="0"/>
          </a:p>
          <a:p>
            <a:pPr marL="342900" indent="-342900">
              <a:spcAft>
                <a:spcPts val="800"/>
              </a:spcAft>
              <a:buSzPct val="100000"/>
              <a:buChar char="•"/>
            </a:pPr>
            <a:r>
              <a:rPr lang="en-US" sz="1400" dirty="0">
                <a:solidFill>
                  <a:schemeClr val="bg1"/>
                </a:solidFill>
              </a:rPr>
              <a:t>Direct test of the H1/L1 amplitude-ratio explanation for sky localization</a:t>
            </a:r>
            <a:endParaRPr lang="en-US" sz="1400" dirty="0"/>
          </a:p>
          <a:p>
            <a:pPr marL="342900" indent="-342900">
              <a:spcAft>
                <a:spcPts val="800"/>
              </a:spcAft>
              <a:buSzPct val="100000"/>
              <a:buChar char="•"/>
            </a:pPr>
            <a:r>
              <a:rPr lang="en-US" sz="1400" dirty="0">
                <a:solidFill>
                  <a:schemeClr val="bg1"/>
                </a:solidFill>
              </a:rPr>
              <a:t>Independent adversarial review</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8C4DA"/>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Phic Psi">
  <a:themeElements>
    <a:clrScheme name="Phic Psi">
      <a:dk1>
        <a:srgbClr val="0F1B33"/>
      </a:dk1>
      <a:lt1>
        <a:srgbClr val="FFFFFF"/>
      </a:lt1>
      <a:dk2>
        <a:srgbClr val="1F3A68"/>
      </a:dk2>
      <a:lt2>
        <a:srgbClr val="EEF2F8"/>
      </a:lt2>
      <a:accent1>
        <a:srgbClr val="F2A541"/>
      </a:accent1>
      <a:accent2>
        <a:srgbClr val="2EA7A0"/>
      </a:accent2>
      <a:accent3>
        <a:srgbClr val="7B6FD6"/>
      </a:accent3>
      <a:accent4>
        <a:srgbClr val="C94F4F"/>
      </a:accent4>
      <a:accent5>
        <a:srgbClr val="55627A"/>
      </a:accent5>
      <a:accent6>
        <a:srgbClr val="5E9A3B"/>
      </a:accent6>
      <a:hlink>
        <a:srgbClr val="1F3A68"/>
      </a:hlink>
      <a:folHlink>
        <a:srgbClr val="55627A"/>
      </a:folHlink>
    </a:clrScheme>
    <a:fontScheme name="Phic Ps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3380</Words>
  <Application>Microsoft Office PowerPoint</Application>
  <PresentationFormat>Widescreen</PresentationFormat>
  <Paragraphs>215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Phic Psi</vt:lpstr>
      <vt:lpstr>Can a regression network recover φc and ψ from gravitational-wave strain?</vt:lpstr>
      <vt:lpstr>Can a network recover φc and ψ?</vt:lpstr>
      <vt:lpstr>The study at a glance</vt:lpstr>
      <vt:lpstr>The degeneracy, checked analytically</vt:lpstr>
      <vt:lpstr>Data and targets</vt:lpstr>
      <vt:lpstr>From five trunks to four models</vt:lpstr>
      <vt:lpstr>The result at a glance</vt:lpstr>
      <vt:lpstr>Mode collapse on ψ</vt:lpstr>
      <vt:lpstr>Three at chance, one memorizer</vt:lpstr>
      <vt:lpstr>The pre-registered gate never cleared</vt:lpstr>
      <vt:lpstr>Four gate-independent checks</vt:lpstr>
      <vt:lpstr>Verdict: a statistical null</vt:lpstr>
      <vt:lpstr>Bonus: sky localization is real</vt:lpstr>
      <vt:lpstr>Inclination and memorization</vt:lpstr>
      <vt:lpstr>How strong is the evidence?</vt:lpstr>
      <vt:lpstr>Takeaways and open items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Recoverability of phi_c and psi from GW strain</dc:title>
  <dc:subject>PptxGenJS Presentation</dc:subject>
  <dc:creator>Syed Ali Mohsin Bukhari</dc:creator>
  <cp:lastModifiedBy>Syed Ali Mohsin Bukhari</cp:lastModifiedBy>
  <cp:revision>2</cp:revision>
  <dcterms:created xsi:type="dcterms:W3CDTF">2026-10-21T06:32:35Z</dcterms:created>
  <dcterms:modified xsi:type="dcterms:W3CDTF">2026-10-22T08:11:14Z</dcterms:modified>
</cp:coreProperties>
</file>