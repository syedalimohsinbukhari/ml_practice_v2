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charts/chart1.xml" ContentType="application/vnd.openxmlformats-officedocument.drawingml.chart+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9"/>
  </p:notesMasterIdLst>
  <p:sldIdLst>
    <p:sldId id="256" r:id="rId2"/>
    <p:sldId id="257" r:id="rId3"/>
    <p:sldId id="258" r:id="rId4"/>
    <p:sldId id="259" r:id="rId5"/>
    <p:sldId id="260" r:id="rId6"/>
    <p:sldId id="261" r:id="rId7"/>
    <p:sldId id="272" r:id="rId8"/>
    <p:sldId id="262" r:id="rId9"/>
    <p:sldId id="263" r:id="rId10"/>
    <p:sldId id="264" r:id="rId11"/>
    <p:sldId id="265" r:id="rId12"/>
    <p:sldId id="266" r:id="rId13"/>
    <p:sldId id="267" r:id="rId14"/>
    <p:sldId id="268" r:id="rId15"/>
    <p:sldId id="269" r:id="rId16"/>
    <p:sldId id="270" r:id="rId17"/>
    <p:sldId id="271" r:id="rId18"/>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Context" id="{349CA52F-01BB-C6FB-32B8-B64D000A6BEC}">
          <p14:sldIdLst>
            <p14:sldId id="256"/>
            <p14:sldId id="257"/>
            <p14:sldId id="258"/>
            <p14:sldId id="259"/>
          </p14:sldIdLst>
        </p14:section>
        <p14:section name="Method" id="{583303D7-2A3C-71F1-67EF-BFA847F96DED}">
          <p14:sldIdLst>
            <p14:sldId id="260"/>
          </p14:sldIdLst>
        </p14:section>
        <p14:section name="Results" id="{85B9FFF3-AD1F-603F-94D3-EE720AF15E16}">
          <p14:sldIdLst>
            <p14:sldId id="261"/>
            <p14:sldId id="272"/>
            <p14:sldId id="262"/>
            <p14:sldId id="263"/>
            <p14:sldId id="264"/>
            <p14:sldId id="265"/>
            <p14:sldId id="266"/>
            <p14:sldId id="267"/>
          </p14:sldIdLst>
        </p14:section>
        <p14:section name="Side findings" id="{F3EDE28A-EDDA-105D-8B83-4883C7EB3FC5}">
          <p14:sldIdLst>
            <p14:sldId id="268"/>
            <p14:sldId id="269"/>
          </p14:sldIdLst>
        </p14:section>
        <p14:section name="Evidence and outlook" id="{9E09527A-F229-6D82-A47E-FA3109E70B91}">
          <p14:sldIdLst>
            <p14:sldId id="270"/>
            <p14:sldId id="27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85" d="100"/>
          <a:sy n="85" d="100"/>
        </p:scale>
        <p:origin x="108" y="9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heme" Target="theme/theme1.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tx>
        <c:rich>
          <a:bodyPr/>
          <a:lstStyle/>
          <a:p>
            <a:pPr>
              <a:defRPr sz="1400" b="0" i="0" u="none" strike="noStrike">
                <a:solidFill>
                  <a:srgbClr val="0F1B33"/>
                </a:solidFill>
                <a:latin typeface="+mn-lt"/>
              </a:defRPr>
            </a:pPr>
            <a:r>
              <a:rPr lang="en-US" sz="1400" b="0" i="0" u="none" strike="noStrike">
                <a:solidFill>
                  <a:srgbClr val="0F1B33"/>
                </a:solidFill>
                <a:latin typeface="+mn-lt"/>
              </a:rPr>
              <a:t>cnn_attention: mean sky-position error (lower is better)</a:t>
            </a:r>
          </a:p>
        </c:rich>
      </c:tx>
      <c:overlay val="0"/>
    </c:title>
    <c:autoTitleDeleted val="0"/>
    <c:plotArea>
      <c:layout/>
      <c:barChart>
        <c:barDir val="col"/>
        <c:grouping val="clustered"/>
        <c:varyColors val="0"/>
        <c:ser>
          <c:idx val="0"/>
          <c:order val="0"/>
          <c:tx>
            <c:strRef>
              <c:f>Sheet1!$B$1</c:f>
              <c:strCache>
                <c:ptCount val="1"/>
                <c:pt idx="0">
                  <c:v>Mean angular error (°)</c:v>
                </c:pt>
              </c:strCache>
            </c:strRef>
          </c:tx>
          <c:spPr>
            <a:solidFill>
              <a:srgbClr val="2EA7A0"/>
            </a:solidFill>
            <a:effectLst/>
          </c:spPr>
          <c:invertIfNegative val="0"/>
          <c:dPt>
            <c:idx val="0"/>
            <c:invertIfNegative val="0"/>
            <c:bubble3D val="0"/>
            <c:extLst>
              <c:ext xmlns:c16="http://schemas.microsoft.com/office/drawing/2014/chart" uri="{C3380CC4-5D6E-409C-BE32-E72D297353CC}">
                <c16:uniqueId val="{00000001-A442-48C4-BEDF-2A941B2F19C3}"/>
              </c:ext>
            </c:extLst>
          </c:dPt>
          <c:dPt>
            <c:idx val="1"/>
            <c:invertIfNegative val="0"/>
            <c:bubble3D val="0"/>
            <c:extLst>
              <c:ext xmlns:c16="http://schemas.microsoft.com/office/drawing/2014/chart" uri="{C3380CC4-5D6E-409C-BE32-E72D297353CC}">
                <c16:uniqueId val="{00000003-A442-48C4-BEDF-2A941B2F19C3}"/>
              </c:ext>
            </c:extLst>
          </c:dPt>
          <c:dPt>
            <c:idx val="2"/>
            <c:invertIfNegative val="0"/>
            <c:bubble3D val="0"/>
            <c:extLst>
              <c:ext xmlns:c16="http://schemas.microsoft.com/office/drawing/2014/chart" uri="{C3380CC4-5D6E-409C-BE32-E72D297353CC}">
                <c16:uniqueId val="{00000005-A442-48C4-BEDF-2A941B2F19C3}"/>
              </c:ext>
            </c:extLst>
          </c:dPt>
          <c:dPt>
            <c:idx val="3"/>
            <c:invertIfNegative val="0"/>
            <c:bubble3D val="0"/>
            <c:spPr>
              <a:solidFill>
                <a:srgbClr val="55627A"/>
              </a:solidFill>
              <a:effectLst/>
            </c:spPr>
            <c:extLst>
              <c:ext xmlns:c16="http://schemas.microsoft.com/office/drawing/2014/chart" uri="{C3380CC4-5D6E-409C-BE32-E72D297353CC}">
                <c16:uniqueId val="{00000007-A442-48C4-BEDF-2A941B2F19C3}"/>
              </c:ext>
            </c:extLst>
          </c:dPt>
          <c:dLbls>
            <c:numFmt formatCode="0.0" sourceLinked="0"/>
            <c:spPr>
              <a:noFill/>
              <a:ln>
                <a:noFill/>
              </a:ln>
              <a:effectLst/>
            </c:spPr>
            <c:txPr>
              <a:bodyPr/>
              <a:lstStyle/>
              <a:p>
                <a:pPr>
                  <a:defRPr sz="1400" b="0" i="0" u="none" strike="noStrike">
                    <a:solidFill>
                      <a:srgbClr val="0F1B33"/>
                    </a:solidFill>
                    <a:latin typeface="+mn-lt"/>
                  </a:defRPr>
                </a:pPr>
                <a:endParaRPr lang="en-001"/>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Low SNR</c:v>
                </c:pt>
                <c:pt idx="1">
                  <c:v>Mid SNR</c:v>
                </c:pt>
                <c:pt idx="2">
                  <c:v>High SNR</c:v>
                </c:pt>
                <c:pt idx="3">
                  <c:v>Always guess mean direction</c:v>
                </c:pt>
              </c:strCache>
            </c:strRef>
          </c:cat>
          <c:val>
            <c:numRef>
              <c:f>Sheet1!$B$2:$B$5</c:f>
              <c:numCache>
                <c:formatCode>General</c:formatCode>
                <c:ptCount val="4"/>
                <c:pt idx="0">
                  <c:v>80.150000000000006</c:v>
                </c:pt>
                <c:pt idx="1">
                  <c:v>77.95</c:v>
                </c:pt>
                <c:pt idx="2">
                  <c:v>74.47</c:v>
                </c:pt>
                <c:pt idx="3">
                  <c:v>89.4</c:v>
                </c:pt>
              </c:numCache>
            </c:numRef>
          </c:val>
          <c:extLst>
            <c:ext xmlns:c16="http://schemas.microsoft.com/office/drawing/2014/chart" uri="{C3380CC4-5D6E-409C-BE32-E72D297353CC}">
              <c16:uniqueId val="{00000008-A442-48C4-BEDF-2A941B2F19C3}"/>
            </c:ext>
          </c:extLst>
        </c:ser>
        <c:dLbls>
          <c:showLegendKey val="0"/>
          <c:showVal val="1"/>
          <c:showCatName val="0"/>
          <c:showSerName val="0"/>
          <c:showPercent val="0"/>
          <c:showBubbleSize val="0"/>
        </c:dLbls>
        <c:gapWidth val="15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F1B33"/>
                </a:solidFill>
                <a:latin typeface="+mn-lt"/>
              </a:defRPr>
            </a:pPr>
            <a:endParaRPr lang="en-US"/>
          </a:p>
        </c:txPr>
        <c:crossAx val="2094734552"/>
        <c:crosses val="autoZero"/>
        <c:auto val="1"/>
        <c:lblAlgn val="ctr"/>
        <c:lblOffset val="100"/>
        <c:noMultiLvlLbl val="1"/>
      </c:catAx>
      <c:valAx>
        <c:axId val="2094734552"/>
        <c:scaling>
          <c:orientation val="minMax"/>
          <c:max val="95"/>
          <c:min val="60"/>
        </c:scaling>
        <c:delete val="0"/>
        <c:axPos val="l"/>
        <c:majorGridlines>
          <c:spPr>
            <a:ln w="9525" cap="flat">
              <a:solidFill>
                <a:srgbClr val="DDE3EE"/>
              </a:solidFill>
              <a:prstDash val="solid"/>
              <a:round/>
            </a:ln>
          </c:spPr>
        </c:majorGridlines>
        <c:title>
          <c:tx>
            <c:rich>
              <a:bodyPr/>
              <a:lstStyle/>
              <a:p>
                <a:pPr>
                  <a:defRPr sz="1200" b="0" i="0" u="none" strike="noStrike">
                    <a:solidFill>
                      <a:srgbClr val="55627A"/>
                    </a:solidFill>
                    <a:latin typeface="Arial"/>
                  </a:defRPr>
                </a:pPr>
                <a:r>
                  <a:rPr lang="en-US" sz="1200" b="0" i="0" u="none" strike="noStrike">
                    <a:solidFill>
                      <a:srgbClr val="55627A"/>
                    </a:solidFill>
                    <a:latin typeface="Arial"/>
                  </a:rPr>
                  <a:t>degrees</a:t>
                </a:r>
              </a:p>
            </c:rich>
          </c:tx>
          <c:overlay val="0"/>
        </c:title>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5627A"/>
                </a:solidFill>
                <a:latin typeface="+mn-lt"/>
              </a:defRPr>
            </a:pPr>
            <a:endParaRPr lang="en-US"/>
          </a:p>
        </c:txPr>
        <c:crossAx val="2094734554"/>
        <c:crosses val="autoZero"/>
        <c:crossBetween val="between"/>
        <c:majorUnit val="10"/>
      </c:valAx>
      <c:spPr>
        <a:noFill/>
        <a:ln>
          <a:noFill/>
        </a:ln>
        <a:effectLst/>
      </c:spPr>
    </c:plotArea>
    <c:plotVisOnly val="1"/>
    <c:dispBlanksAs val="span"/>
    <c:showDLblsOverMax val="1"/>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98383849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Frame: a self-contained study of whether a point-estimating regression network can recover the coalescence phase and polarization angle from two-detector strain. The answer is a systematically verified null. Source: closing_summary.md, paper_summary.md.</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these two angles: for the dominant quadrupole mode both phi_c and psi enter the strain doubled. Face-on, only 2phi_c +/- 2psi is constrained. A Bayesian sampler or neural posterior estimator can express that degeneracy as a ridge; a point-estimating regression head cannot. Source: paper_summary.md, The question.</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Executive summary up front. Question: can a regression network recover phi_c and psi from two-detector strain, individually or through the better-conditioned 2phi_c +/- 2psi combinations? Approach: 25,000 training and 5,000 validation simulated events, four models from two trunks, two head parameterizations, a radial penalty at three strengths, with chirp mass, merger time and SNR as positive controls. Answer: a null; every configuration converges to the random-guess baseline while the controls are recovered. Also found: partial sky localization, a non-clean inclination head, and memorization in cnn_attention. Source: paper_summary.md, closing_summary.md.</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1.1 prerequisite check. The analytic study first confirmed the degeneracy structure: (R, delta) stays constant along 2phi_c + 2psi = const at face-on, to machine precision. The preference for the well-constrained combination falls from about 1.62-1.65x face-on to 1.04-1.07x edge-on, i.e. the degeneracy lifts only partially. Source: sweep_1_1_ratio_vs_iota.png/.csv, paper_summary.md.</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Population: 25,000 train and 5,000 validation simulated events, IMRPhenomD dominant mode only, 2 s windows at 2048 Hz for H1 and L1. Periodic targets are regressed on the unit circle with a circular loss, so a random guess scores exactly 1; a constant prediction has angular MAE of pi/2 for phi_c and pi/4 for psi. Chirp mass, merger time and SNR serve as positive controls. Note the dataset is unseeded (documented limitation in NOTES.md). Source: paper_summary.md, What we did.</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Round 1 screened five trunk architectures in seven configurations. All seven sat at the random-guessing level on phi_c and psi, so the screen could not discriminate on the target question. We down-selected on the positive controls instead, keeping the TCN and the attention model. There was no numeric threshold for that down-selection, and the three dropped trunks were never run through the full battery. Two head parameterizations (independent-angle baseline vs combination-space) and a radial penalty lambda at three strengths on the TCN models. Source: paper_summary.md, closing_summary.md addendum.</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Health check across the four models and seven heads. Green: good. Yellow: marginal. XX: dead. COLLAPSE: mode collapse. The positive controls (mchirp R2 0.92-0.96, merger time 0.90-0.92, SNR 0.75-0.79) read healthy in every model; the same shared features give MAE around 1.55-1.59 rad (about pi/2, i.e. chance) on phi_c, and poc_a/poc_b collapse outright on psi/phi_c. Source: analysis_output/health_check_20261019_125442.png.</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Predicted vs true psi for the four models, validation set. poc_a and poc_b are genuinely mode-collapsed: near-delta-function output regardless of input; poc_b has 99.9% of 5,000 validation predictions in one histogram bin. tcn and cnn_attention are not collapsed but spread over a narrow band and uninformative: a different failure with the same conclusion. Source: analysis_output/histogram_polarization_angle_20261019_125442.png, closing_summary.md.</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 vs validation circular loss for phi_c and psi (rows) across the four models (columns). Three models sit at the null (loss about 1.0) on both splits. cnn_attention drives its training loss down to about 0.55 while validation stays flat at about 1.0: memorization, invisible in every earlier number because the Round-1 summary only tracked validation loss. This is why its sky_position result needed an SNR-stratification check before being trusted. Source: diagnostic_output/redo_models_train_val_loss.png.</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running the retune at higher penalty strengths we pre-registered a metric-health gate (Step 0 std_ratio), checking that the raw head outputs have healthy magnitude. It never cleared at any of the three lambda values: 12 readings fail, or in one case pass numerically but fail on inspection. The one nominal pass (phi_c of the combination model at lambda=0.10) shows two flat bands at a single angle on the scatter plot: a literal two-point collapse. The gate measures the magnitude of raw outputs, not their angular diversity. Verdict of record: UNINTERPRETABLE, not null, not counter-evidence. Steps 1-3 of the preregistration never ran because they were gated on Step 0. Source: preregistration_lam_retune.md, NOTES.md 2026-09-15/16.</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Because the gated route stayed uninterpretable, the null rests on four checks that do not depend on the gate, run uniformly on all four models without excluding any on interpretability grounds. We argue this is a legitimate substitute, but it was assembled after the pre-registered route failed, so it carries less confirmatory weight than a pre-registered test. Source: closing_summary.md, paper_summary.md.</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Bottom line, evidence-weighted: under the 2phi_c +/- 2psi degeneracy structure, on this architecture set, phi_c/psi information is not recoverable from strain by a regression network. 0 of 8 phi_c/psi bootstrap tests (4 models x 2 heads) are significant, with 10,000 shuffles; no band clears the 0.10 rad floor. Caveat labelled honestly: the substitute battery was assembled after the gated path failed. The gated path's own language (UNINTERPRETABLE) is left on the record unedited; it is superseded in practical confidence, not contradicted. Source: bootstrap_output, closing_summary.md.</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cnn_attention shows genuine partial sky-localization skill: 12.58 degrees better than the shuffled null (z = +23.23 sigma), error falling monotonically across SNR terciles (80.15, 77.95, 74.47 degrees), while a predictor that always guesses the population-mean direction scores about 89.4 degrees. The other three models are small-but-real and sub-floor (about 2.9-3.4 degrees). The leading explanation is cross-detector H1/L1 amplitude-ratio information via the antenna pattern; that is INFERRED, consistent with the evidence, and has not been tested directly. Source: bootstrap_sky_separation.py, snr_stratification_sky_position.py.</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findings from looking further than the main question required. (1) The inclination head, which had been used as a noise-floor calibration, is not clean noise: the bootstrap finds it significant but sub-floor in all four models (p &lt;= 0.022, effect about 0.02-0.04 rad), and the paper summary reads its predictions as clustering at a few preferred angles, a partial mode collapse whose severity tracks each model's phi_c/psi collapse, pointing to shared training dynamics rather than recoverable physics. Note the closing summary (2026-09-18) framed it as 'a small real sub-floor signal'; the later paper summary (2026-09-30) is the interpretation used here. (2) cnn_attention memorizes phi_c/psi in the training split without generalizing. Source: bootstrap_ang_mae.py, plot_certified_memorization.py.</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part we most want scrutinized. The null is established across configurations, not across seeds (all runs use seed 42; the dataset is unseeded). Two trunk families only; down-selection used positive-control R2 with no numeric threshold. poc_b's individual-head bootstrap numbers rest on ground-truth-assisted branch reconstruction (formulae_reference.md A.8), which does not change the verdict and is disclosed. The perturbation-trace probe failed its own positive control (mchirp reads AMBIGUOUS for all 4 models at the early stage) so 'final' was never run: parked, not closed. Unrun: synthetic-data ablation, high-SNR (25-30) validation set or Fisher-matrix bound, dataset regeneration from a version-controlled generator, joint (phi_c, psi) scatter. No independent adversarial review of the manuscript yet. Source: paper_summary.md, closing_summary.md.</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Positioning: this does not reopen a settled question. Neural posterior estimation (VItamin, DINGO, DINGO-IS) represents degenerate targets correctly by construction. What the study documents is a practical hazard for point-estimate and hybrid pipelines still built on regression heads, and the diagnostic discipline needed to notice the failure. Open items are those not yet run or not yet mechanistically confirmed. Source: paper_summary.md, closing_summary.md.</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solidFill>
          <a:schemeClr val="tx1"/>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822960" y="1554480"/>
            <a:ext cx="8229600" cy="2194560"/>
          </a:xfrm>
          <a:prstGeom prst="rect">
            <a:avLst/>
          </a:prstGeom>
          <a:noFill/>
          <a:ln/>
        </p:spPr>
        <p:txBody>
          <a:bodyPr wrap="square" rtlCol="0"/>
          <a:lstStyle>
            <a:lvl1pPr marL="0" indent="0" algn="l">
              <a:buNone/>
              <a:defRPr lang="en-US" sz="4000" b="1" dirty="0">
                <a:solidFill>
                  <a:schemeClr val="bg1"/>
                </a:solidFill>
              </a:defRPr>
            </a:lvl1pPr>
          </a:lstStyle>
          <a:p>
            <a:pPr marL="0" indent="0" algn="l">
              <a:buNone/>
            </a:pPr>
            <a:endParaRPr lang="en-US" sz="4000" dirty="0"/>
          </a:p>
        </p:txBody>
      </p:sp>
      <p:sp>
        <p:nvSpPr>
          <p:cNvPr id="3" name="Text 0"/>
          <p:cNvSpPr>
            <a:spLocks noGrp="1"/>
          </p:cNvSpPr>
          <p:nvPr>
            <p:ph type="body" idx="101" hasCustomPrompt="1"/>
          </p:nvPr>
        </p:nvSpPr>
        <p:spPr>
          <a:xfrm>
            <a:off x="822960" y="4114800"/>
            <a:ext cx="8229600" cy="1097280"/>
          </a:xfrm>
          <a:prstGeom prst="rect">
            <a:avLst/>
          </a:prstGeom>
          <a:noFill/>
          <a:ln/>
        </p:spPr>
        <p:txBody>
          <a:bodyPr wrap="square" rtlCol="0"/>
          <a:lstStyle>
            <a:lvl1pPr marL="0" indent="0" algn="l">
              <a:buNone/>
              <a:defRPr lang="en-US" sz="2000" dirty="0">
                <a:solidFill>
                  <a:schemeClr val="bg2"/>
                </a:solidFill>
              </a:defRPr>
            </a:lvl1pPr>
          </a:lstStyle>
          <a:p>
            <a:pPr marL="0" indent="0" algn="l">
              <a:buNone/>
            </a:pPr>
            <a:endParaRPr lang="en-US" sz="2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777240"/>
          </a:xfrm>
          <a:prstGeom prst="rect">
            <a:avLst/>
          </a:prstGeom>
          <a:noFill/>
          <a:ln/>
        </p:spPr>
        <p:txBody>
          <a:bodyPr wrap="square" rtlCol="0"/>
          <a:lstStyle>
            <a:lvl1pPr marL="0" indent="0" algn="l">
              <a:buNone/>
              <a:defRPr lang="en-US" sz="3600" b="1" dirty="0">
                <a:solidFill>
                  <a:schemeClr val="tx1"/>
                </a:solidFill>
              </a:defRPr>
            </a:lvl1pPr>
          </a:lstStyle>
          <a:p>
            <a:pPr marL="0" indent="0" algn="l">
              <a:buNone/>
            </a:pPr>
            <a:endParaRPr lang="en-US" sz="36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100">
                <a:solidFill>
                  <a:srgbClr val="55627A"/>
                </a:solidFill>
              </a:defRPr>
            </a:lvl1pPr>
          </a:lstStyle>
          <a:p>
            <a:pPr algn="r"/>
            <a:fld id="{F7021451-1387-4CA6-816F-3879F97B5CBC}" type="slidenum">
              <a:rPr lang="en-US" b="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DARK">
    <p:bg>
      <p:bgPr>
        <a:solidFill>
          <a:schemeClr val="tx1"/>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777240"/>
          </a:xfrm>
          <a:prstGeom prst="rect">
            <a:avLst/>
          </a:prstGeom>
          <a:noFill/>
          <a:ln/>
        </p:spPr>
        <p:txBody>
          <a:bodyPr wrap="square" rtlCol="0"/>
          <a:lstStyle>
            <a:lvl1pPr marL="0" indent="0" algn="l">
              <a:buNone/>
              <a:defRPr lang="en-US" sz="3600" b="1" dirty="0">
                <a:solidFill>
                  <a:schemeClr val="bg1"/>
                </a:solidFill>
              </a:defRPr>
            </a:lvl1pPr>
          </a:lstStyle>
          <a:p>
            <a:pPr marL="0" indent="0" algn="l">
              <a:buNone/>
            </a:pPr>
            <a:endParaRPr lang="en-US" sz="36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100">
                <a:solidFill>
                  <a:srgbClr val="B8C4DA"/>
                </a:solidFill>
              </a:defRPr>
            </a:lvl1pPr>
          </a:lstStyle>
          <a:p>
            <a:pPr algn="r"/>
            <a:fld id="{F7021451-1387-4CA6-816F-3879F97B5CBC}" type="slidenum">
              <a:rPr lang="en-US" b="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5" Type="http://schemas.openxmlformats.org/officeDocument/2006/relationships/theme" Target="../theme/theme1.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100">
                <a:solidFill>
                  <a:srgbClr val="55627A"/>
                </a:solidFill>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xml"/><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7.xml"/><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8.xml"/><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9.xml"/><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4.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3.xml"/></Relationships>
</file>

<file path=ppt/slides/_rels/slide14.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13.xml"/><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3.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3.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Text 0"/>
          <p:cNvSpPr>
            <a:spLocks noGrp="1"/>
          </p:cNvSpPr>
          <p:nvPr>
            <p:ph type="title" idx="100" hasCustomPrompt="1"/>
          </p:nvPr>
        </p:nvSpPr>
        <p:spPr>
          <a:xfrm>
            <a:off x="822960" y="1554480"/>
            <a:ext cx="8229600" cy="2194560"/>
          </a:xfrm>
          <a:prstGeom prst="rect">
            <a:avLst/>
          </a:prstGeom>
          <a:noFill/>
          <a:ln/>
        </p:spPr>
        <p:txBody>
          <a:bodyPr wrap="square" lIns="0" tIns="0" rIns="0" bIns="0" rtlCol="0" anchor="t"/>
          <a:lstStyle/>
          <a:p>
            <a:pPr marL="0" indent="0" algn="l">
              <a:buNone/>
            </a:pPr>
            <a:r>
              <a:rPr lang="en-US" sz="4000" b="1" dirty="0">
                <a:solidFill>
                  <a:schemeClr val="bg1"/>
                </a:solidFill>
              </a:rPr>
              <a:t>Recoverability of </a:t>
            </a:r>
            <a:r>
              <a:rPr lang="en-US" sz="4000" b="1" i="1" dirty="0" err="1">
                <a:solidFill>
                  <a:schemeClr val="bg1"/>
                </a:solidFill>
              </a:rPr>
              <a:t>φ</a:t>
            </a:r>
            <a:r>
              <a:rPr lang="en-US" sz="4000" b="1" baseline="-25000" dirty="0" err="1">
                <a:solidFill>
                  <a:schemeClr val="bg1"/>
                </a:solidFill>
              </a:rPr>
              <a:t>c</a:t>
            </a:r>
            <a:r>
              <a:rPr lang="en-US" sz="4000" b="1" dirty="0">
                <a:solidFill>
                  <a:schemeClr val="bg1"/>
                </a:solidFill>
              </a:rPr>
              <a:t> and </a:t>
            </a:r>
            <a:r>
              <a:rPr lang="en-US" sz="4000" b="1" i="1" dirty="0">
                <a:solidFill>
                  <a:schemeClr val="bg1"/>
                </a:solidFill>
              </a:rPr>
              <a:t>ψ</a:t>
            </a:r>
            <a:r>
              <a:rPr lang="en-US" sz="4000" b="1" dirty="0">
                <a:solidFill>
                  <a:schemeClr val="bg1"/>
                </a:solidFill>
              </a:rPr>
              <a:t> from gravitational-wave strain</a:t>
            </a:r>
            <a:endParaRPr lang="en-US" sz="4000" dirty="0"/>
          </a:p>
        </p:txBody>
      </p:sp>
      <p:sp>
        <p:nvSpPr>
          <p:cNvPr id="4" name="Text 0"/>
          <p:cNvSpPr>
            <a:spLocks noGrp="1"/>
          </p:cNvSpPr>
          <p:nvPr>
            <p:ph type="body" idx="101" hasCustomPrompt="1"/>
          </p:nvPr>
        </p:nvSpPr>
        <p:spPr>
          <a:xfrm>
            <a:off x="822960" y="4114800"/>
            <a:ext cx="8229600" cy="1097280"/>
          </a:xfrm>
          <a:prstGeom prst="rect">
            <a:avLst/>
          </a:prstGeom>
          <a:noFill/>
          <a:ln/>
        </p:spPr>
        <p:txBody>
          <a:bodyPr wrap="square" lIns="0" tIns="0" rIns="0" bIns="0" rtlCol="0" anchor="t"/>
          <a:lstStyle/>
          <a:p>
            <a:pPr marL="0" indent="0" algn="ctr">
              <a:buNone/>
            </a:pPr>
            <a:r>
              <a:rPr lang="en-US" sz="2000" dirty="0">
                <a:solidFill>
                  <a:schemeClr val="bg2"/>
                </a:solidFill>
              </a:rPr>
              <a:t>A systematically verified null result on the 2</a:t>
            </a:r>
            <a:r>
              <a:rPr lang="en-US" sz="2000" i="1" dirty="0">
                <a:solidFill>
                  <a:schemeClr val="bg2"/>
                </a:solidFill>
              </a:rPr>
              <a:t>φ</a:t>
            </a:r>
            <a:r>
              <a:rPr lang="en-US" sz="2000" baseline="-25000" dirty="0">
                <a:solidFill>
                  <a:schemeClr val="bg2"/>
                </a:solidFill>
              </a:rPr>
              <a:t>c</a:t>
            </a:r>
            <a:r>
              <a:rPr lang="en-US" sz="2000" dirty="0">
                <a:solidFill>
                  <a:schemeClr val="bg2"/>
                </a:solidFill>
              </a:rPr>
              <a:t> ± 2</a:t>
            </a:r>
            <a:r>
              <a:rPr lang="en-US" sz="2000" i="1" dirty="0">
                <a:solidFill>
                  <a:schemeClr val="bg2"/>
                </a:solidFill>
              </a:rPr>
              <a:t>ψ</a:t>
            </a:r>
            <a:r>
              <a:rPr lang="en-US" sz="2000" dirty="0">
                <a:solidFill>
                  <a:schemeClr val="bg2"/>
                </a:solidFill>
              </a:rPr>
              <a:t> degeneracy</a:t>
            </a:r>
            <a:endParaRPr lang="en-US" sz="2000" dirty="0"/>
          </a:p>
        </p:txBody>
      </p:sp>
      <p:sp>
        <p:nvSpPr>
          <p:cNvPr id="5" name="byline"/>
          <p:cNvSpPr txBox="1"/>
          <p:nvPr/>
        </p:nvSpPr>
        <p:spPr>
          <a:xfrm>
            <a:off x="822960" y="5212080"/>
            <a:ext cx="10058400" cy="1097280"/>
          </a:xfrm>
          <a:prstGeom prst="rect">
            <a:avLst/>
          </a:prstGeom>
          <a:noFill/>
          <a:ln/>
        </p:spPr>
        <p:txBody>
          <a:bodyPr wrap="square" lIns="0" tIns="0" rIns="0" bIns="0" rtlCol="0" anchor="t"/>
          <a:lstStyle/>
          <a:p>
            <a:pPr marL="0" indent="0" algn="ctr">
              <a:buNone/>
            </a:pPr>
            <a:r>
              <a:rPr lang="en-US" b="1" dirty="0">
                <a:solidFill>
                  <a:schemeClr val="accent1"/>
                </a:solidFill>
              </a:rPr>
              <a:t>Syed Ali Mohsin Bukhari</a:t>
            </a:r>
          </a:p>
          <a:p>
            <a:pPr marL="0" indent="0" algn="ctr">
              <a:buNone/>
            </a:pPr>
            <a:r>
              <a:rPr lang="en-US" b="1" dirty="0">
                <a:solidFill>
                  <a:schemeClr val="accent1"/>
                </a:solidFill>
              </a:rPr>
              <a:t>220821001</a:t>
            </a:r>
          </a:p>
          <a:p>
            <a:pPr marL="0" indent="0" algn="ctr">
              <a:buNone/>
            </a:pPr>
            <a:r>
              <a:rPr lang="en-US" b="1" dirty="0">
                <a:solidFill>
                  <a:schemeClr val="accent1"/>
                </a:solidFill>
              </a:rPr>
              <a:t>Supervisor: Prof. Dr. Asad Ali </a:t>
            </a:r>
            <a:endParaRPr lang="en-US" b="1" dirty="0"/>
          </a:p>
        </p:txBody>
      </p:sp>
      <p:sp>
        <p:nvSpPr>
          <p:cNvPr id="6" name="motif a"/>
          <p:cNvSpPr/>
          <p:nvPr/>
        </p:nvSpPr>
        <p:spPr>
          <a:xfrm>
            <a:off x="9601200" y="640080"/>
            <a:ext cx="1645920" cy="1645920"/>
          </a:xfrm>
          <a:prstGeom prst="ellipse">
            <a:avLst/>
          </a:prstGeom>
          <a:solidFill>
            <a:schemeClr val="accent2">
              <a:alpha val="75000"/>
            </a:schemeClr>
          </a:solidFill>
          <a:ln w="12700">
            <a:solidFill>
              <a:schemeClr val="accent2"/>
            </a:solidFill>
            <a:prstDash val="solid"/>
          </a:ln>
        </p:spPr>
      </p:sp>
      <p:sp>
        <p:nvSpPr>
          <p:cNvPr id="7" name="motif b"/>
          <p:cNvSpPr/>
          <p:nvPr/>
        </p:nvSpPr>
        <p:spPr>
          <a:xfrm>
            <a:off x="10424160" y="1005840"/>
            <a:ext cx="1280160" cy="1280160"/>
          </a:xfrm>
          <a:prstGeom prst="ellipse">
            <a:avLst/>
          </a:prstGeom>
          <a:solidFill>
            <a:schemeClr val="accent1">
              <a:alpha val="75000"/>
            </a:schemeClr>
          </a:solidFill>
          <a:ln w="12700">
            <a:solidFill>
              <a:schemeClr val="accent1"/>
            </a:solidFill>
            <a:prstDash val="solid"/>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ext 0"/>
          <p:cNvSpPr>
            <a:spLocks noGrp="1"/>
          </p:cNvSpPr>
          <p:nvPr>
            <p:ph type="title" idx="100" hasCustomPrompt="1"/>
          </p:nvPr>
        </p:nvSpPr>
        <p:spPr>
          <a:xfrm>
            <a:off x="548640" y="365760"/>
            <a:ext cx="11064240" cy="777240"/>
          </a:xfrm>
          <a:prstGeom prst="rect">
            <a:avLst/>
          </a:prstGeom>
          <a:noFill/>
          <a:ln/>
        </p:spPr>
        <p:txBody>
          <a:bodyPr wrap="square" lIns="0" tIns="0" rIns="0" bIns="0" rtlCol="0" anchor="t"/>
          <a:lstStyle/>
          <a:p>
            <a:pPr marL="0" indent="0" algn="l">
              <a:buNone/>
            </a:pPr>
            <a:r>
              <a:rPr lang="en-US" sz="3600" b="1" dirty="0">
                <a:solidFill>
                  <a:schemeClr val="tx1"/>
                </a:solidFill>
              </a:rPr>
              <a:t>Can a network recover </a:t>
            </a:r>
            <a:r>
              <a:rPr lang="en-US" sz="3600" b="1" i="1" dirty="0">
                <a:solidFill>
                  <a:schemeClr val="tx1"/>
                </a:solidFill>
              </a:rPr>
              <a:t>φ</a:t>
            </a:r>
            <a:r>
              <a:rPr lang="en-US" sz="3600" b="1" baseline="-25000" dirty="0">
                <a:solidFill>
                  <a:schemeClr val="tx1"/>
                </a:solidFill>
              </a:rPr>
              <a:t>c</a:t>
            </a:r>
            <a:r>
              <a:rPr lang="en-US" sz="3600" b="1" dirty="0">
                <a:solidFill>
                  <a:schemeClr val="tx1"/>
                </a:solidFill>
              </a:rPr>
              <a:t> and </a:t>
            </a:r>
            <a:r>
              <a:rPr lang="en-US" sz="3600" b="1" i="1" dirty="0">
                <a:solidFill>
                  <a:schemeClr val="tx1"/>
                </a:solidFill>
              </a:rPr>
              <a:t>ψ</a:t>
            </a:r>
            <a:r>
              <a:rPr lang="en-US" sz="3600" b="1" dirty="0">
                <a:solidFill>
                  <a:schemeClr val="tx1"/>
                </a:solidFill>
              </a:rPr>
              <a:t>?</a:t>
            </a:r>
            <a:endParaRPr lang="en-US" sz="3600" dirty="0"/>
          </a:p>
        </p:txBody>
      </p:sp>
      <p:sp>
        <p:nvSpPr>
          <p:cNvPr id="4" name="Text 1"/>
          <p:cNvSpPr txBox="1"/>
          <p:nvPr/>
        </p:nvSpPr>
        <p:spPr>
          <a:xfrm>
            <a:off x="548640" y="1371600"/>
            <a:ext cx="5852160" cy="731520"/>
          </a:xfrm>
          <a:prstGeom prst="rect">
            <a:avLst/>
          </a:prstGeom>
          <a:noFill/>
          <a:ln/>
        </p:spPr>
        <p:txBody>
          <a:bodyPr wrap="square" lIns="0" tIns="0" rIns="0" bIns="0" rtlCol="0" anchor="t"/>
          <a:lstStyle/>
          <a:p>
            <a:pPr marL="0" indent="0">
              <a:buNone/>
            </a:pPr>
            <a:r>
              <a:rPr lang="en-US" sz="1800" b="1" dirty="0">
                <a:solidFill>
                  <a:schemeClr val="tx1"/>
                </a:solidFill>
              </a:rPr>
              <a:t>Two extrinsic angles, rarely regression targets:</a:t>
            </a:r>
            <a:endParaRPr lang="en-US" sz="1800" dirty="0"/>
          </a:p>
        </p:txBody>
      </p:sp>
      <p:sp>
        <p:nvSpPr>
          <p:cNvPr id="5" name="Text 2"/>
          <p:cNvSpPr txBox="1"/>
          <p:nvPr/>
        </p:nvSpPr>
        <p:spPr>
          <a:xfrm>
            <a:off x="548640" y="2194560"/>
            <a:ext cx="5852160" cy="2743200"/>
          </a:xfrm>
          <a:prstGeom prst="rect">
            <a:avLst/>
          </a:prstGeom>
          <a:noFill/>
          <a:ln/>
        </p:spPr>
        <p:txBody>
          <a:bodyPr wrap="square" lIns="0" tIns="0" rIns="0" bIns="0" rtlCol="0" anchor="t"/>
          <a:lstStyle/>
          <a:p>
            <a:pPr marL="342900" indent="-342900">
              <a:spcAft>
                <a:spcPts val="800"/>
              </a:spcAft>
              <a:buSzPct val="100000"/>
              <a:buChar char="•"/>
            </a:pPr>
            <a:r>
              <a:rPr lang="en-US" sz="1600" i="1" dirty="0">
                <a:solidFill>
                  <a:schemeClr val="tx1"/>
                </a:solidFill>
              </a:rPr>
              <a:t>φ</a:t>
            </a:r>
            <a:r>
              <a:rPr lang="en-US" sz="1600" baseline="-25000" dirty="0">
                <a:solidFill>
                  <a:schemeClr val="tx1"/>
                </a:solidFill>
              </a:rPr>
              <a:t>c</a:t>
            </a:r>
            <a:r>
              <a:rPr lang="en-US" sz="1600" dirty="0">
                <a:solidFill>
                  <a:schemeClr val="tx1"/>
                </a:solidFill>
              </a:rPr>
              <a:t> is the coalescence phase</a:t>
            </a:r>
            <a:endParaRPr lang="en-US" sz="1600" dirty="0"/>
          </a:p>
          <a:p>
            <a:pPr marL="342900" indent="-342900">
              <a:spcAft>
                <a:spcPts val="800"/>
              </a:spcAft>
              <a:buSzPct val="100000"/>
              <a:buChar char="•"/>
            </a:pPr>
            <a:r>
              <a:rPr lang="en-US" sz="1600" i="1" dirty="0">
                <a:solidFill>
                  <a:schemeClr val="tx1"/>
                </a:solidFill>
              </a:rPr>
              <a:t>ψ</a:t>
            </a:r>
            <a:r>
              <a:rPr lang="en-US" sz="1600" dirty="0">
                <a:solidFill>
                  <a:schemeClr val="tx1"/>
                </a:solidFill>
              </a:rPr>
              <a:t> is the polarization angle</a:t>
            </a:r>
            <a:endParaRPr lang="en-US" sz="1600" dirty="0"/>
          </a:p>
          <a:p>
            <a:pPr marL="342900" indent="-342900">
              <a:spcAft>
                <a:spcPts val="800"/>
              </a:spcAft>
              <a:buSzPct val="100000"/>
              <a:buChar char="•"/>
            </a:pPr>
            <a:r>
              <a:rPr lang="en-US" sz="1600" dirty="0">
                <a:solidFill>
                  <a:schemeClr val="tx1"/>
                </a:solidFill>
              </a:rPr>
              <a:t>For the dominant quadrupole mode both enter the strain doubled</a:t>
            </a:r>
            <a:endParaRPr lang="en-US" sz="1600" dirty="0"/>
          </a:p>
          <a:p>
            <a:pPr marL="342900" indent="-342900">
              <a:spcAft>
                <a:spcPts val="800"/>
              </a:spcAft>
              <a:buSzPct val="100000"/>
              <a:buChar char="•"/>
            </a:pPr>
            <a:r>
              <a:rPr lang="en-US" sz="1600" dirty="0">
                <a:solidFill>
                  <a:schemeClr val="tx1"/>
                </a:solidFill>
              </a:rPr>
              <a:t>Face-on, only the combination 2</a:t>
            </a:r>
            <a:r>
              <a:rPr lang="en-US" sz="1600" i="1" dirty="0">
                <a:solidFill>
                  <a:schemeClr val="tx1"/>
                </a:solidFill>
              </a:rPr>
              <a:t>φ</a:t>
            </a:r>
            <a:r>
              <a:rPr lang="en-US" sz="1600" baseline="-25000" dirty="0">
                <a:solidFill>
                  <a:schemeClr val="tx1"/>
                </a:solidFill>
              </a:rPr>
              <a:t>c</a:t>
            </a:r>
            <a:r>
              <a:rPr lang="en-US" sz="1600" dirty="0">
                <a:solidFill>
                  <a:schemeClr val="tx1"/>
                </a:solidFill>
              </a:rPr>
              <a:t> ± 2</a:t>
            </a:r>
            <a:r>
              <a:rPr lang="en-US" sz="1600" i="1" dirty="0">
                <a:solidFill>
                  <a:schemeClr val="tx1"/>
                </a:solidFill>
              </a:rPr>
              <a:t>ψ</a:t>
            </a:r>
            <a:r>
              <a:rPr lang="en-US" sz="1600" dirty="0">
                <a:solidFill>
                  <a:schemeClr val="tx1"/>
                </a:solidFill>
              </a:rPr>
              <a:t> is constrained; the individual angles cannot be told apart</a:t>
            </a:r>
            <a:endParaRPr lang="en-US" sz="1600" dirty="0"/>
          </a:p>
          <a:p>
            <a:pPr marL="342900" indent="-342900">
              <a:spcAft>
                <a:spcPts val="800"/>
              </a:spcAft>
              <a:buSzPct val="100000"/>
              <a:buChar char="•"/>
            </a:pPr>
            <a:r>
              <a:rPr lang="en-US" sz="1600" dirty="0">
                <a:solidFill>
                  <a:schemeClr val="tx1"/>
                </a:solidFill>
              </a:rPr>
              <a:t>They separate only partially toward edge-on</a:t>
            </a:r>
            <a:endParaRPr lang="en-US" sz="1600" dirty="0"/>
          </a:p>
        </p:txBody>
      </p:sp>
      <p:sp>
        <p:nvSpPr>
          <p:cNvPr id="6" name="Text 3"/>
          <p:cNvSpPr txBox="1"/>
          <p:nvPr/>
        </p:nvSpPr>
        <p:spPr>
          <a:xfrm>
            <a:off x="548640" y="5029200"/>
            <a:ext cx="5852160" cy="822960"/>
          </a:xfrm>
          <a:prstGeom prst="rect">
            <a:avLst/>
          </a:prstGeom>
          <a:noFill/>
          <a:ln/>
        </p:spPr>
        <p:txBody>
          <a:bodyPr wrap="square" lIns="0" tIns="0" rIns="0" bIns="0" rtlCol="0" anchor="t"/>
          <a:lstStyle/>
          <a:p>
            <a:pPr marL="0" indent="0">
              <a:buNone/>
            </a:pPr>
            <a:r>
              <a:rPr lang="en-US" sz="1800" i="1" dirty="0">
                <a:solidFill>
                  <a:schemeClr val="accent5"/>
                </a:solidFill>
              </a:rPr>
              <a:t>A posterior can represent that degeneracy. A single point estimate cannot.</a:t>
            </a:r>
            <a:endParaRPr lang="en-US" sz="1800" dirty="0"/>
          </a:p>
        </p:txBody>
      </p:sp>
      <p:grpSp>
        <p:nvGrpSpPr>
          <p:cNvPr id="2" name="Group 1">
            <a:extLst>
              <a:ext uri="{FF2B5EF4-FFF2-40B4-BE49-F238E27FC236}">
                <a16:creationId xmlns:a16="http://schemas.microsoft.com/office/drawing/2014/main" id="{28749DFC-46F3-D3FF-F201-6EEBD9D05459}"/>
              </a:ext>
            </a:extLst>
          </p:cNvPr>
          <p:cNvGrpSpPr/>
          <p:nvPr/>
        </p:nvGrpSpPr>
        <p:grpSpPr>
          <a:xfrm>
            <a:off x="6858000" y="1371600"/>
            <a:ext cx="4754880" cy="4480560"/>
            <a:chOff x="6858000" y="1371600"/>
            <a:chExt cx="4754880" cy="4480560"/>
          </a:xfrm>
        </p:grpSpPr>
        <p:sp>
          <p:nvSpPr>
            <p:cNvPr id="7" name="question card"/>
            <p:cNvSpPr/>
            <p:nvPr/>
          </p:nvSpPr>
          <p:spPr>
            <a:xfrm>
              <a:off x="6858000" y="1371600"/>
              <a:ext cx="4754880" cy="4480560"/>
            </a:xfrm>
            <a:prstGeom prst="roundRect">
              <a:avLst>
                <a:gd name="adj" fmla="val 2449"/>
              </a:avLst>
            </a:prstGeom>
            <a:solidFill>
              <a:schemeClr val="tx2"/>
            </a:solidFill>
            <a:ln w="12700">
              <a:solidFill>
                <a:schemeClr val="tx2"/>
              </a:solidFill>
              <a:prstDash val="solid"/>
            </a:ln>
            <a:effectLst>
              <a:outerShdw blurRad="101600" dist="25400" dir="5400000" algn="bl" rotWithShape="0">
                <a:srgbClr val="0F1B33">
                  <a:alpha val="12000"/>
                </a:srgbClr>
              </a:outerShdw>
            </a:effectLst>
          </p:spPr>
        </p:sp>
        <p:sp>
          <p:nvSpPr>
            <p:cNvPr id="8" name="Text 5"/>
            <p:cNvSpPr txBox="1"/>
            <p:nvPr/>
          </p:nvSpPr>
          <p:spPr>
            <a:xfrm>
              <a:off x="7223760" y="1645920"/>
              <a:ext cx="4023360" cy="365760"/>
            </a:xfrm>
            <a:prstGeom prst="rect">
              <a:avLst/>
            </a:prstGeom>
            <a:noFill/>
            <a:ln/>
          </p:spPr>
          <p:txBody>
            <a:bodyPr wrap="square" lIns="0" tIns="0" rIns="0" bIns="0" rtlCol="0" anchor="t"/>
            <a:lstStyle/>
            <a:p>
              <a:pPr marL="0" indent="0">
                <a:buNone/>
              </a:pPr>
              <a:r>
                <a:rPr lang="en-US" sz="1400" b="1" dirty="0">
                  <a:solidFill>
                    <a:schemeClr val="accent1"/>
                  </a:solidFill>
                </a:rPr>
                <a:t>THE TEST</a:t>
              </a:r>
              <a:endParaRPr lang="en-US" sz="1400" dirty="0"/>
            </a:p>
          </p:txBody>
        </p:sp>
      </p:grpSp>
      <p:sp>
        <p:nvSpPr>
          <p:cNvPr id="9" name="Text 6"/>
          <p:cNvSpPr txBox="1"/>
          <p:nvPr/>
        </p:nvSpPr>
        <p:spPr>
          <a:xfrm>
            <a:off x="7223760" y="2103120"/>
            <a:ext cx="4023360" cy="914400"/>
          </a:xfrm>
          <a:prstGeom prst="rect">
            <a:avLst/>
          </a:prstGeom>
          <a:noFill/>
          <a:ln/>
        </p:spPr>
        <p:txBody>
          <a:bodyPr wrap="square" lIns="0" tIns="0" rIns="0" bIns="0" rtlCol="0" anchor="t"/>
          <a:lstStyle/>
          <a:p>
            <a:pPr marL="0" indent="0">
              <a:buNone/>
            </a:pPr>
            <a:r>
              <a:rPr lang="en-US" sz="1800" dirty="0">
                <a:solidFill>
                  <a:schemeClr val="bg1"/>
                </a:solidFill>
              </a:rPr>
              <a:t>Train a regression network on two-detector (H1, L1) strain.</a:t>
            </a:r>
            <a:endParaRPr lang="en-US" sz="1800" dirty="0"/>
          </a:p>
        </p:txBody>
      </p:sp>
      <p:sp>
        <p:nvSpPr>
          <p:cNvPr id="10" name="Text 7"/>
          <p:cNvSpPr txBox="1"/>
          <p:nvPr/>
        </p:nvSpPr>
        <p:spPr>
          <a:xfrm>
            <a:off x="7223760" y="3108960"/>
            <a:ext cx="4023360" cy="1463040"/>
          </a:xfrm>
          <a:prstGeom prst="rect">
            <a:avLst/>
          </a:prstGeom>
          <a:noFill/>
          <a:ln/>
        </p:spPr>
        <p:txBody>
          <a:bodyPr wrap="square" lIns="0" tIns="0" rIns="0" bIns="0" rtlCol="0" anchor="t"/>
          <a:lstStyle/>
          <a:p>
            <a:pPr marL="0" indent="0">
              <a:buNone/>
            </a:pPr>
            <a:r>
              <a:rPr lang="en-US" sz="1800" dirty="0">
                <a:solidFill>
                  <a:schemeClr val="bg1"/>
                </a:solidFill>
              </a:rPr>
              <a:t>Can it recover </a:t>
            </a:r>
            <a:r>
              <a:rPr lang="en-US" sz="1800" i="1" dirty="0">
                <a:solidFill>
                  <a:schemeClr val="bg1"/>
                </a:solidFill>
              </a:rPr>
              <a:t>φ</a:t>
            </a:r>
            <a:r>
              <a:rPr lang="en-US" sz="1800" baseline="-25000" dirty="0">
                <a:solidFill>
                  <a:schemeClr val="bg1"/>
                </a:solidFill>
              </a:rPr>
              <a:t>c</a:t>
            </a:r>
            <a:r>
              <a:rPr lang="en-US" sz="1800" dirty="0">
                <a:solidFill>
                  <a:schemeClr val="bg1"/>
                </a:solidFill>
              </a:rPr>
              <a:t> and </a:t>
            </a:r>
            <a:r>
              <a:rPr lang="en-US" sz="1800" i="1" dirty="0">
                <a:solidFill>
                  <a:schemeClr val="bg1"/>
                </a:solidFill>
              </a:rPr>
              <a:t>ψ</a:t>
            </a:r>
            <a:r>
              <a:rPr lang="en-US" sz="1800" dirty="0">
                <a:solidFill>
                  <a:schemeClr val="bg1"/>
                </a:solidFill>
              </a:rPr>
              <a:t> at all, individually or through the better-conditioned sum and difference combinations?</a:t>
            </a:r>
            <a:endParaRPr lang="en-US" sz="1800" dirty="0"/>
          </a:p>
        </p:txBody>
      </p:sp>
      <p:sp>
        <p:nvSpPr>
          <p:cNvPr id="11" name="Text 8"/>
          <p:cNvSpPr txBox="1"/>
          <p:nvPr/>
        </p:nvSpPr>
        <p:spPr>
          <a:xfrm>
            <a:off x="7223760" y="4754880"/>
            <a:ext cx="4023360" cy="731520"/>
          </a:xfrm>
          <a:prstGeom prst="rect">
            <a:avLst/>
          </a:prstGeom>
          <a:noFill/>
          <a:ln/>
        </p:spPr>
        <p:txBody>
          <a:bodyPr wrap="square" lIns="0" tIns="0" rIns="0" bIns="0" rtlCol="0" anchor="t"/>
          <a:lstStyle/>
          <a:p>
            <a:pPr marL="0" indent="0">
              <a:buNone/>
            </a:pPr>
            <a:r>
              <a:rPr lang="en-US" sz="3800" b="1" dirty="0">
                <a:solidFill>
                  <a:schemeClr val="accent1"/>
                </a:solidFill>
                <a:latin typeface="Cambria" pitchFamily="34" charset="0"/>
                <a:ea typeface="Cambria" pitchFamily="34" charset="-122"/>
                <a:cs typeface="Cambria" pitchFamily="34" charset="-120"/>
              </a:rPr>
              <a:t>2</a:t>
            </a:r>
            <a:r>
              <a:rPr lang="en-US" sz="3800" b="1" i="1" dirty="0">
                <a:solidFill>
                  <a:schemeClr val="accent1"/>
                </a:solidFill>
                <a:latin typeface="Cambria" pitchFamily="34" charset="0"/>
                <a:ea typeface="Cambria" pitchFamily="34" charset="-122"/>
                <a:cs typeface="Cambria" pitchFamily="34" charset="-120"/>
              </a:rPr>
              <a:t>φ</a:t>
            </a:r>
            <a:r>
              <a:rPr lang="en-US" sz="3800" b="1" baseline="-25000" dirty="0">
                <a:solidFill>
                  <a:schemeClr val="accent1"/>
                </a:solidFill>
                <a:latin typeface="Cambria" pitchFamily="34" charset="0"/>
                <a:ea typeface="Cambria" pitchFamily="34" charset="-122"/>
                <a:cs typeface="Cambria" pitchFamily="34" charset="-120"/>
              </a:rPr>
              <a:t>c</a:t>
            </a:r>
            <a:r>
              <a:rPr lang="en-US" sz="3800" b="1" dirty="0">
                <a:solidFill>
                  <a:schemeClr val="accent1"/>
                </a:solidFill>
                <a:latin typeface="Cambria" pitchFamily="34" charset="0"/>
                <a:ea typeface="Cambria" pitchFamily="34" charset="-122"/>
                <a:cs typeface="Cambria" pitchFamily="34" charset="-120"/>
              </a:rPr>
              <a:t> ± 2</a:t>
            </a:r>
            <a:r>
              <a:rPr lang="en-US" sz="3800" b="1" i="1" dirty="0">
                <a:solidFill>
                  <a:schemeClr val="accent1"/>
                </a:solidFill>
                <a:latin typeface="Cambria" pitchFamily="34" charset="0"/>
                <a:ea typeface="Cambria" pitchFamily="34" charset="-122"/>
                <a:cs typeface="Cambria" pitchFamily="34" charset="-120"/>
              </a:rPr>
              <a:t>ψ</a:t>
            </a:r>
            <a:endParaRPr lang="en-US" sz="38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100">
                <a:solidFill>
                  <a:srgbClr val="55627A"/>
                </a:solidFill>
              </a:defRPr>
            </a:lvl1pPr>
          </a:lstStyle>
          <a:p>
            <a:pPr algn="r"/>
            <a:fld id="{F7021451-1387-4CA6-816F-3879F97B5CBC}" type="slidenum">
              <a:rPr lang="en-US" b="0"/>
              <a:t>2</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additive="base">
                                        <p:cTn id="7" dur="500" fill="hold"/>
                                        <p:tgtEl>
                                          <p:spTgt spid="4"/>
                                        </p:tgtEl>
                                        <p:attrNameLst>
                                          <p:attrName>ppt_x</p:attrName>
                                        </p:attrNameLst>
                                      </p:cBhvr>
                                      <p:tavLst>
                                        <p:tav tm="0">
                                          <p:val>
                                            <p:strVal val="#ppt_x"/>
                                          </p:val>
                                        </p:tav>
                                        <p:tav tm="100000">
                                          <p:val>
                                            <p:strVal val="#ppt_x"/>
                                          </p:val>
                                        </p:tav>
                                      </p:tavLst>
                                    </p:anim>
                                    <p:anim calcmode="lin" valueType="num">
                                      <p:cBhvr additive="base">
                                        <p:cTn id="8" dur="500" fill="hold"/>
                                        <p:tgtEl>
                                          <p:spTgt spid="4"/>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nodeType="clickEffect">
                                  <p:stCondLst>
                                    <p:cond delay="0"/>
                                  </p:stCondLst>
                                  <p:childTnLst>
                                    <p:set>
                                      <p:cBhvr>
                                        <p:cTn id="12" dur="1" fill="hold">
                                          <p:stCondLst>
                                            <p:cond delay="0"/>
                                          </p:stCondLst>
                                        </p:cTn>
                                        <p:tgtEl>
                                          <p:spTgt spid="5">
                                            <p:txEl>
                                              <p:pRg st="0" end="0"/>
                                            </p:txEl>
                                          </p:spTgt>
                                        </p:tgtEl>
                                        <p:attrNameLst>
                                          <p:attrName>style.visibility</p:attrName>
                                        </p:attrNameLst>
                                      </p:cBhvr>
                                      <p:to>
                                        <p:strVal val="visible"/>
                                      </p:to>
                                    </p:set>
                                    <p:anim calcmode="lin" valueType="num">
                                      <p:cBhvr additive="base">
                                        <p:cTn id="13" dur="500" fill="hold"/>
                                        <p:tgtEl>
                                          <p:spTgt spid="5">
                                            <p:txEl>
                                              <p:pRg st="0" end="0"/>
                                            </p:txEl>
                                          </p:spTgt>
                                        </p:tgtEl>
                                        <p:attrNameLst>
                                          <p:attrName>ppt_x</p:attrName>
                                        </p:attrNameLst>
                                      </p:cBhvr>
                                      <p:tavLst>
                                        <p:tav tm="0">
                                          <p:val>
                                            <p:strVal val="#ppt_x"/>
                                          </p:val>
                                        </p:tav>
                                        <p:tav tm="100000">
                                          <p:val>
                                            <p:strVal val="#ppt_x"/>
                                          </p:val>
                                        </p:tav>
                                      </p:tavLst>
                                    </p:anim>
                                    <p:anim calcmode="lin" valueType="num">
                                      <p:cBhvr additive="base">
                                        <p:cTn id="14" dur="500" fill="hold"/>
                                        <p:tgtEl>
                                          <p:spTgt spid="5">
                                            <p:txEl>
                                              <p:pRg st="0" end="0"/>
                                            </p:txEl>
                                          </p:spTgt>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nodeType="clickEffect">
                                  <p:stCondLst>
                                    <p:cond delay="0"/>
                                  </p:stCondLst>
                                  <p:childTnLst>
                                    <p:set>
                                      <p:cBhvr>
                                        <p:cTn id="18" dur="1" fill="hold">
                                          <p:stCondLst>
                                            <p:cond delay="0"/>
                                          </p:stCondLst>
                                        </p:cTn>
                                        <p:tgtEl>
                                          <p:spTgt spid="5">
                                            <p:txEl>
                                              <p:pRg st="1" end="1"/>
                                            </p:txEl>
                                          </p:spTgt>
                                        </p:tgtEl>
                                        <p:attrNameLst>
                                          <p:attrName>style.visibility</p:attrName>
                                        </p:attrNameLst>
                                      </p:cBhvr>
                                      <p:to>
                                        <p:strVal val="visible"/>
                                      </p:to>
                                    </p:set>
                                    <p:anim calcmode="lin" valueType="num">
                                      <p:cBhvr additive="base">
                                        <p:cTn id="19" dur="500" fill="hold"/>
                                        <p:tgtEl>
                                          <p:spTgt spid="5">
                                            <p:txEl>
                                              <p:pRg st="1" end="1"/>
                                            </p:txEl>
                                          </p:spTgt>
                                        </p:tgtEl>
                                        <p:attrNameLst>
                                          <p:attrName>ppt_x</p:attrName>
                                        </p:attrNameLst>
                                      </p:cBhvr>
                                      <p:tavLst>
                                        <p:tav tm="0">
                                          <p:val>
                                            <p:strVal val="#ppt_x"/>
                                          </p:val>
                                        </p:tav>
                                        <p:tav tm="100000">
                                          <p:val>
                                            <p:strVal val="#ppt_x"/>
                                          </p:val>
                                        </p:tav>
                                      </p:tavLst>
                                    </p:anim>
                                    <p:anim calcmode="lin" valueType="num">
                                      <p:cBhvr additive="base">
                                        <p:cTn id="20" dur="500" fill="hold"/>
                                        <p:tgtEl>
                                          <p:spTgt spid="5">
                                            <p:txEl>
                                              <p:pRg st="1" end="1"/>
                                            </p:txEl>
                                          </p:spTgt>
                                        </p:tgtEl>
                                        <p:attrNameLst>
                                          <p:attrName>ppt_y</p:attrName>
                                        </p:attrNameLst>
                                      </p:cBhvr>
                                      <p:tavLst>
                                        <p:tav tm="0">
                                          <p:val>
                                            <p:strVal val="1+#ppt_h/2"/>
                                          </p:val>
                                        </p:tav>
                                        <p:tav tm="100000">
                                          <p:val>
                                            <p:strVal val="#ppt_y"/>
                                          </p:val>
                                        </p:tav>
                                      </p:tavLst>
                                    </p:anim>
                                  </p:childTnLst>
                                </p:cTn>
                              </p:par>
                            </p:childTnLst>
                          </p:cTn>
                        </p:par>
                      </p:childTnLst>
                    </p:cTn>
                  </p:par>
                  <p:par>
                    <p:cTn id="21" fill="hold">
                      <p:stCondLst>
                        <p:cond delay="indefinite"/>
                      </p:stCondLst>
                      <p:childTnLst>
                        <p:par>
                          <p:cTn id="22" fill="hold">
                            <p:stCondLst>
                              <p:cond delay="0"/>
                            </p:stCondLst>
                            <p:childTnLst>
                              <p:par>
                                <p:cTn id="23" presetID="2" presetClass="entr" presetSubtype="4" fill="hold" nodeType="clickEffect">
                                  <p:stCondLst>
                                    <p:cond delay="0"/>
                                  </p:stCondLst>
                                  <p:childTnLst>
                                    <p:set>
                                      <p:cBhvr>
                                        <p:cTn id="24" dur="1" fill="hold">
                                          <p:stCondLst>
                                            <p:cond delay="0"/>
                                          </p:stCondLst>
                                        </p:cTn>
                                        <p:tgtEl>
                                          <p:spTgt spid="5">
                                            <p:txEl>
                                              <p:pRg st="2" end="2"/>
                                            </p:txEl>
                                          </p:spTgt>
                                        </p:tgtEl>
                                        <p:attrNameLst>
                                          <p:attrName>style.visibility</p:attrName>
                                        </p:attrNameLst>
                                      </p:cBhvr>
                                      <p:to>
                                        <p:strVal val="visible"/>
                                      </p:to>
                                    </p:set>
                                    <p:anim calcmode="lin" valueType="num">
                                      <p:cBhvr additive="base">
                                        <p:cTn id="25" dur="500" fill="hold"/>
                                        <p:tgtEl>
                                          <p:spTgt spid="5">
                                            <p:txEl>
                                              <p:pRg st="2" end="2"/>
                                            </p:txEl>
                                          </p:spTgt>
                                        </p:tgtEl>
                                        <p:attrNameLst>
                                          <p:attrName>ppt_x</p:attrName>
                                        </p:attrNameLst>
                                      </p:cBhvr>
                                      <p:tavLst>
                                        <p:tav tm="0">
                                          <p:val>
                                            <p:strVal val="#ppt_x"/>
                                          </p:val>
                                        </p:tav>
                                        <p:tav tm="100000">
                                          <p:val>
                                            <p:strVal val="#ppt_x"/>
                                          </p:val>
                                        </p:tav>
                                      </p:tavLst>
                                    </p:anim>
                                    <p:anim calcmode="lin" valueType="num">
                                      <p:cBhvr additive="base">
                                        <p:cTn id="26" dur="500" fill="hold"/>
                                        <p:tgtEl>
                                          <p:spTgt spid="5">
                                            <p:txEl>
                                              <p:pRg st="2" end="2"/>
                                            </p:txEl>
                                          </p:spTgt>
                                        </p:tgtEl>
                                        <p:attrNameLst>
                                          <p:attrName>ppt_y</p:attrName>
                                        </p:attrNameLst>
                                      </p:cBhvr>
                                      <p:tavLst>
                                        <p:tav tm="0">
                                          <p:val>
                                            <p:strVal val="1+#ppt_h/2"/>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9" presetID="2" presetClass="entr" presetSubtype="4" fill="hold" nodeType="clickEffect">
                                  <p:stCondLst>
                                    <p:cond delay="0"/>
                                  </p:stCondLst>
                                  <p:childTnLst>
                                    <p:set>
                                      <p:cBhvr>
                                        <p:cTn id="30" dur="1" fill="hold">
                                          <p:stCondLst>
                                            <p:cond delay="0"/>
                                          </p:stCondLst>
                                        </p:cTn>
                                        <p:tgtEl>
                                          <p:spTgt spid="5">
                                            <p:txEl>
                                              <p:pRg st="3" end="3"/>
                                            </p:txEl>
                                          </p:spTgt>
                                        </p:tgtEl>
                                        <p:attrNameLst>
                                          <p:attrName>style.visibility</p:attrName>
                                        </p:attrNameLst>
                                      </p:cBhvr>
                                      <p:to>
                                        <p:strVal val="visible"/>
                                      </p:to>
                                    </p:set>
                                    <p:anim calcmode="lin" valueType="num">
                                      <p:cBhvr additive="base">
                                        <p:cTn id="31" dur="500" fill="hold"/>
                                        <p:tgtEl>
                                          <p:spTgt spid="5">
                                            <p:txEl>
                                              <p:pRg st="3" end="3"/>
                                            </p:txEl>
                                          </p:spTgt>
                                        </p:tgtEl>
                                        <p:attrNameLst>
                                          <p:attrName>ppt_x</p:attrName>
                                        </p:attrNameLst>
                                      </p:cBhvr>
                                      <p:tavLst>
                                        <p:tav tm="0">
                                          <p:val>
                                            <p:strVal val="#ppt_x"/>
                                          </p:val>
                                        </p:tav>
                                        <p:tav tm="100000">
                                          <p:val>
                                            <p:strVal val="#ppt_x"/>
                                          </p:val>
                                        </p:tav>
                                      </p:tavLst>
                                    </p:anim>
                                    <p:anim calcmode="lin" valueType="num">
                                      <p:cBhvr additive="base">
                                        <p:cTn id="32" dur="500" fill="hold"/>
                                        <p:tgtEl>
                                          <p:spTgt spid="5">
                                            <p:txEl>
                                              <p:pRg st="3" end="3"/>
                                            </p:txEl>
                                          </p:spTgt>
                                        </p:tgtEl>
                                        <p:attrNameLst>
                                          <p:attrName>ppt_y</p:attrName>
                                        </p:attrNameLst>
                                      </p:cBhvr>
                                      <p:tavLst>
                                        <p:tav tm="0">
                                          <p:val>
                                            <p:strVal val="1+#ppt_h/2"/>
                                          </p:val>
                                        </p:tav>
                                        <p:tav tm="100000">
                                          <p:val>
                                            <p:strVal val="#ppt_y"/>
                                          </p:val>
                                        </p:tav>
                                      </p:tavLst>
                                    </p:anim>
                                  </p:childTnLst>
                                </p:cTn>
                              </p:par>
                            </p:childTnLst>
                          </p:cTn>
                        </p:par>
                      </p:childTnLst>
                    </p:cTn>
                  </p:par>
                  <p:par>
                    <p:cTn id="33" fill="hold">
                      <p:stCondLst>
                        <p:cond delay="indefinite"/>
                      </p:stCondLst>
                      <p:childTnLst>
                        <p:par>
                          <p:cTn id="34" fill="hold">
                            <p:stCondLst>
                              <p:cond delay="0"/>
                            </p:stCondLst>
                            <p:childTnLst>
                              <p:par>
                                <p:cTn id="35" presetID="2" presetClass="entr" presetSubtype="4" fill="hold" nodeType="clickEffect">
                                  <p:stCondLst>
                                    <p:cond delay="0"/>
                                  </p:stCondLst>
                                  <p:childTnLst>
                                    <p:set>
                                      <p:cBhvr>
                                        <p:cTn id="36" dur="1" fill="hold">
                                          <p:stCondLst>
                                            <p:cond delay="0"/>
                                          </p:stCondLst>
                                        </p:cTn>
                                        <p:tgtEl>
                                          <p:spTgt spid="5">
                                            <p:txEl>
                                              <p:pRg st="4" end="4"/>
                                            </p:txEl>
                                          </p:spTgt>
                                        </p:tgtEl>
                                        <p:attrNameLst>
                                          <p:attrName>style.visibility</p:attrName>
                                        </p:attrNameLst>
                                      </p:cBhvr>
                                      <p:to>
                                        <p:strVal val="visible"/>
                                      </p:to>
                                    </p:set>
                                    <p:anim calcmode="lin" valueType="num">
                                      <p:cBhvr additive="base">
                                        <p:cTn id="37" dur="500" fill="hold"/>
                                        <p:tgtEl>
                                          <p:spTgt spid="5">
                                            <p:txEl>
                                              <p:pRg st="4" end="4"/>
                                            </p:txEl>
                                          </p:spTgt>
                                        </p:tgtEl>
                                        <p:attrNameLst>
                                          <p:attrName>ppt_x</p:attrName>
                                        </p:attrNameLst>
                                      </p:cBhvr>
                                      <p:tavLst>
                                        <p:tav tm="0">
                                          <p:val>
                                            <p:strVal val="#ppt_x"/>
                                          </p:val>
                                        </p:tav>
                                        <p:tav tm="100000">
                                          <p:val>
                                            <p:strVal val="#ppt_x"/>
                                          </p:val>
                                        </p:tav>
                                      </p:tavLst>
                                    </p:anim>
                                    <p:anim calcmode="lin" valueType="num">
                                      <p:cBhvr additive="base">
                                        <p:cTn id="38" dur="500" fill="hold"/>
                                        <p:tgtEl>
                                          <p:spTgt spid="5">
                                            <p:txEl>
                                              <p:pRg st="4" end="4"/>
                                            </p:txEl>
                                          </p:spTgt>
                                        </p:tgtEl>
                                        <p:attrNameLst>
                                          <p:attrName>ppt_y</p:attrName>
                                        </p:attrNameLst>
                                      </p:cBhvr>
                                      <p:tavLst>
                                        <p:tav tm="0">
                                          <p:val>
                                            <p:strVal val="1+#ppt_h/2"/>
                                          </p:val>
                                        </p:tav>
                                        <p:tav tm="100000">
                                          <p:val>
                                            <p:strVal val="#ppt_y"/>
                                          </p:val>
                                        </p:tav>
                                      </p:tavLst>
                                    </p:anim>
                                  </p:childTnLst>
                                </p:cTn>
                              </p:par>
                            </p:childTnLst>
                          </p:cTn>
                        </p:par>
                      </p:childTnLst>
                    </p:cTn>
                  </p:par>
                  <p:par>
                    <p:cTn id="39" fill="hold">
                      <p:stCondLst>
                        <p:cond delay="indefinite"/>
                      </p:stCondLst>
                      <p:childTnLst>
                        <p:par>
                          <p:cTn id="40" fill="hold">
                            <p:stCondLst>
                              <p:cond delay="0"/>
                            </p:stCondLst>
                            <p:childTnLst>
                              <p:par>
                                <p:cTn id="41" presetID="2" presetClass="entr" presetSubtype="4" fill="hold" nodeType="clickEffect">
                                  <p:stCondLst>
                                    <p:cond delay="0"/>
                                  </p:stCondLst>
                                  <p:childTnLst>
                                    <p:set>
                                      <p:cBhvr>
                                        <p:cTn id="42" dur="1" fill="hold">
                                          <p:stCondLst>
                                            <p:cond delay="0"/>
                                          </p:stCondLst>
                                        </p:cTn>
                                        <p:tgtEl>
                                          <p:spTgt spid="2"/>
                                        </p:tgtEl>
                                        <p:attrNameLst>
                                          <p:attrName>style.visibility</p:attrName>
                                        </p:attrNameLst>
                                      </p:cBhvr>
                                      <p:to>
                                        <p:strVal val="visible"/>
                                      </p:to>
                                    </p:set>
                                    <p:anim calcmode="lin" valueType="num">
                                      <p:cBhvr additive="base">
                                        <p:cTn id="43" dur="500" fill="hold"/>
                                        <p:tgtEl>
                                          <p:spTgt spid="2"/>
                                        </p:tgtEl>
                                        <p:attrNameLst>
                                          <p:attrName>ppt_x</p:attrName>
                                        </p:attrNameLst>
                                      </p:cBhvr>
                                      <p:tavLst>
                                        <p:tav tm="0">
                                          <p:val>
                                            <p:strVal val="#ppt_x"/>
                                          </p:val>
                                        </p:tav>
                                        <p:tav tm="100000">
                                          <p:val>
                                            <p:strVal val="#ppt_x"/>
                                          </p:val>
                                        </p:tav>
                                      </p:tavLst>
                                    </p:anim>
                                    <p:anim calcmode="lin" valueType="num">
                                      <p:cBhvr additive="base">
                                        <p:cTn id="44" dur="500" fill="hold"/>
                                        <p:tgtEl>
                                          <p:spTgt spid="2"/>
                                        </p:tgtEl>
                                        <p:attrNameLst>
                                          <p:attrName>ppt_y</p:attrName>
                                        </p:attrNameLst>
                                      </p:cBhvr>
                                      <p:tavLst>
                                        <p:tav tm="0">
                                          <p:val>
                                            <p:strVal val="1+#ppt_h/2"/>
                                          </p:val>
                                        </p:tav>
                                        <p:tav tm="100000">
                                          <p:val>
                                            <p:strVal val="#ppt_y"/>
                                          </p:val>
                                        </p:tav>
                                      </p:tavLst>
                                    </p:anim>
                                  </p:childTnLst>
                                </p:cTn>
                              </p:par>
                            </p:childTnLst>
                          </p:cTn>
                        </p:par>
                      </p:childTnLst>
                    </p:cTn>
                  </p:par>
                  <p:par>
                    <p:cTn id="45" fill="hold">
                      <p:stCondLst>
                        <p:cond delay="indefinite"/>
                      </p:stCondLst>
                      <p:childTnLst>
                        <p:par>
                          <p:cTn id="46" fill="hold">
                            <p:stCondLst>
                              <p:cond delay="0"/>
                            </p:stCondLst>
                            <p:childTnLst>
                              <p:par>
                                <p:cTn id="47" presetID="2" presetClass="entr" presetSubtype="4" fill="hold" grpId="0" nodeType="clickEffect">
                                  <p:stCondLst>
                                    <p:cond delay="0"/>
                                  </p:stCondLst>
                                  <p:childTnLst>
                                    <p:set>
                                      <p:cBhvr>
                                        <p:cTn id="48" dur="1" fill="hold">
                                          <p:stCondLst>
                                            <p:cond delay="0"/>
                                          </p:stCondLst>
                                        </p:cTn>
                                        <p:tgtEl>
                                          <p:spTgt spid="9"/>
                                        </p:tgtEl>
                                        <p:attrNameLst>
                                          <p:attrName>style.visibility</p:attrName>
                                        </p:attrNameLst>
                                      </p:cBhvr>
                                      <p:to>
                                        <p:strVal val="visible"/>
                                      </p:to>
                                    </p:set>
                                    <p:anim calcmode="lin" valueType="num">
                                      <p:cBhvr additive="base">
                                        <p:cTn id="49" dur="500" fill="hold"/>
                                        <p:tgtEl>
                                          <p:spTgt spid="9"/>
                                        </p:tgtEl>
                                        <p:attrNameLst>
                                          <p:attrName>ppt_x</p:attrName>
                                        </p:attrNameLst>
                                      </p:cBhvr>
                                      <p:tavLst>
                                        <p:tav tm="0">
                                          <p:val>
                                            <p:strVal val="#ppt_x"/>
                                          </p:val>
                                        </p:tav>
                                        <p:tav tm="100000">
                                          <p:val>
                                            <p:strVal val="#ppt_x"/>
                                          </p:val>
                                        </p:tav>
                                      </p:tavLst>
                                    </p:anim>
                                    <p:anim calcmode="lin" valueType="num">
                                      <p:cBhvr additive="base">
                                        <p:cTn id="50" dur="500" fill="hold"/>
                                        <p:tgtEl>
                                          <p:spTgt spid="9"/>
                                        </p:tgtEl>
                                        <p:attrNameLst>
                                          <p:attrName>ppt_y</p:attrName>
                                        </p:attrNameLst>
                                      </p:cBhvr>
                                      <p:tavLst>
                                        <p:tav tm="0">
                                          <p:val>
                                            <p:strVal val="1+#ppt_h/2"/>
                                          </p:val>
                                        </p:tav>
                                        <p:tav tm="100000">
                                          <p:val>
                                            <p:strVal val="#ppt_y"/>
                                          </p:val>
                                        </p:tav>
                                      </p:tavLst>
                                    </p:anim>
                                  </p:childTnLst>
                                </p:cTn>
                              </p:par>
                            </p:childTnLst>
                          </p:cTn>
                        </p:par>
                      </p:childTnLst>
                    </p:cTn>
                  </p:par>
                  <p:par>
                    <p:cTn id="51" fill="hold">
                      <p:stCondLst>
                        <p:cond delay="indefinite"/>
                      </p:stCondLst>
                      <p:childTnLst>
                        <p:par>
                          <p:cTn id="52" fill="hold">
                            <p:stCondLst>
                              <p:cond delay="0"/>
                            </p:stCondLst>
                            <p:childTnLst>
                              <p:par>
                                <p:cTn id="53" presetID="2" presetClass="entr" presetSubtype="4" fill="hold" grpId="0" nodeType="clickEffect">
                                  <p:stCondLst>
                                    <p:cond delay="0"/>
                                  </p:stCondLst>
                                  <p:childTnLst>
                                    <p:set>
                                      <p:cBhvr>
                                        <p:cTn id="54" dur="1" fill="hold">
                                          <p:stCondLst>
                                            <p:cond delay="0"/>
                                          </p:stCondLst>
                                        </p:cTn>
                                        <p:tgtEl>
                                          <p:spTgt spid="10"/>
                                        </p:tgtEl>
                                        <p:attrNameLst>
                                          <p:attrName>style.visibility</p:attrName>
                                        </p:attrNameLst>
                                      </p:cBhvr>
                                      <p:to>
                                        <p:strVal val="visible"/>
                                      </p:to>
                                    </p:set>
                                    <p:anim calcmode="lin" valueType="num">
                                      <p:cBhvr additive="base">
                                        <p:cTn id="55" dur="500" fill="hold"/>
                                        <p:tgtEl>
                                          <p:spTgt spid="10"/>
                                        </p:tgtEl>
                                        <p:attrNameLst>
                                          <p:attrName>ppt_x</p:attrName>
                                        </p:attrNameLst>
                                      </p:cBhvr>
                                      <p:tavLst>
                                        <p:tav tm="0">
                                          <p:val>
                                            <p:strVal val="#ppt_x"/>
                                          </p:val>
                                        </p:tav>
                                        <p:tav tm="100000">
                                          <p:val>
                                            <p:strVal val="#ppt_x"/>
                                          </p:val>
                                        </p:tav>
                                      </p:tavLst>
                                    </p:anim>
                                    <p:anim calcmode="lin" valueType="num">
                                      <p:cBhvr additive="base">
                                        <p:cTn id="56" dur="500" fill="hold"/>
                                        <p:tgtEl>
                                          <p:spTgt spid="10"/>
                                        </p:tgtEl>
                                        <p:attrNameLst>
                                          <p:attrName>ppt_y</p:attrName>
                                        </p:attrNameLst>
                                      </p:cBhvr>
                                      <p:tavLst>
                                        <p:tav tm="0">
                                          <p:val>
                                            <p:strVal val="1+#ppt_h/2"/>
                                          </p:val>
                                        </p:tav>
                                        <p:tav tm="100000">
                                          <p:val>
                                            <p:strVal val="#ppt_y"/>
                                          </p:val>
                                        </p:tav>
                                      </p:tavLst>
                                    </p:anim>
                                  </p:childTnLst>
                                </p:cTn>
                              </p:par>
                            </p:childTnLst>
                          </p:cTn>
                        </p:par>
                      </p:childTnLst>
                    </p:cTn>
                  </p:par>
                  <p:par>
                    <p:cTn id="57" fill="hold">
                      <p:stCondLst>
                        <p:cond delay="indefinite"/>
                      </p:stCondLst>
                      <p:childTnLst>
                        <p:par>
                          <p:cTn id="58" fill="hold">
                            <p:stCondLst>
                              <p:cond delay="0"/>
                            </p:stCondLst>
                            <p:childTnLst>
                              <p:par>
                                <p:cTn id="59" presetID="2" presetClass="entr" presetSubtype="4" fill="hold" grpId="0" nodeType="clickEffect">
                                  <p:stCondLst>
                                    <p:cond delay="0"/>
                                  </p:stCondLst>
                                  <p:childTnLst>
                                    <p:set>
                                      <p:cBhvr>
                                        <p:cTn id="60" dur="1" fill="hold">
                                          <p:stCondLst>
                                            <p:cond delay="0"/>
                                          </p:stCondLst>
                                        </p:cTn>
                                        <p:tgtEl>
                                          <p:spTgt spid="11"/>
                                        </p:tgtEl>
                                        <p:attrNameLst>
                                          <p:attrName>style.visibility</p:attrName>
                                        </p:attrNameLst>
                                      </p:cBhvr>
                                      <p:to>
                                        <p:strVal val="visible"/>
                                      </p:to>
                                    </p:set>
                                    <p:anim calcmode="lin" valueType="num">
                                      <p:cBhvr additive="base">
                                        <p:cTn id="61" dur="500" fill="hold"/>
                                        <p:tgtEl>
                                          <p:spTgt spid="11"/>
                                        </p:tgtEl>
                                        <p:attrNameLst>
                                          <p:attrName>ppt_x</p:attrName>
                                        </p:attrNameLst>
                                      </p:cBhvr>
                                      <p:tavLst>
                                        <p:tav tm="0">
                                          <p:val>
                                            <p:strVal val="#ppt_x"/>
                                          </p:val>
                                        </p:tav>
                                        <p:tav tm="100000">
                                          <p:val>
                                            <p:strVal val="#ppt_x"/>
                                          </p:val>
                                        </p:tav>
                                      </p:tavLst>
                                    </p:anim>
                                    <p:anim calcmode="lin" valueType="num">
                                      <p:cBhvr additive="base">
                                        <p:cTn id="62" dur="500" fill="hold"/>
                                        <p:tgtEl>
                                          <p:spTgt spid="11"/>
                                        </p:tgtEl>
                                        <p:attrNameLst>
                                          <p:attrName>ppt_y</p:attrName>
                                        </p:attrNameLst>
                                      </p:cBhvr>
                                      <p:tavLst>
                                        <p:tav tm="0">
                                          <p:val>
                                            <p:strVal val="1+#ppt_h/2"/>
                                          </p:val>
                                        </p:tav>
                                        <p:tav tm="100000">
                                          <p:val>
                                            <p:strVal val="#ppt_y"/>
                                          </p:val>
                                        </p:tav>
                                      </p:tavLst>
                                    </p:anim>
                                  </p:childTnLst>
                                </p:cTn>
                              </p:par>
                            </p:childTnLst>
                          </p:cTn>
                        </p:par>
                      </p:childTnLst>
                    </p:cTn>
                  </p:par>
                  <p:par>
                    <p:cTn id="63" fill="hold">
                      <p:stCondLst>
                        <p:cond delay="indefinite"/>
                      </p:stCondLst>
                      <p:childTnLst>
                        <p:par>
                          <p:cTn id="64" fill="hold">
                            <p:stCondLst>
                              <p:cond delay="0"/>
                            </p:stCondLst>
                            <p:childTnLst>
                              <p:par>
                                <p:cTn id="65" presetID="2" presetClass="entr" presetSubtype="4" fill="hold" grpId="0" nodeType="clickEffect">
                                  <p:stCondLst>
                                    <p:cond delay="0"/>
                                  </p:stCondLst>
                                  <p:childTnLst>
                                    <p:set>
                                      <p:cBhvr>
                                        <p:cTn id="66" dur="1" fill="hold">
                                          <p:stCondLst>
                                            <p:cond delay="0"/>
                                          </p:stCondLst>
                                        </p:cTn>
                                        <p:tgtEl>
                                          <p:spTgt spid="6"/>
                                        </p:tgtEl>
                                        <p:attrNameLst>
                                          <p:attrName>style.visibility</p:attrName>
                                        </p:attrNameLst>
                                      </p:cBhvr>
                                      <p:to>
                                        <p:strVal val="visible"/>
                                      </p:to>
                                    </p:set>
                                    <p:anim calcmode="lin" valueType="num">
                                      <p:cBhvr additive="base">
                                        <p:cTn id="67" dur="500" fill="hold"/>
                                        <p:tgtEl>
                                          <p:spTgt spid="6"/>
                                        </p:tgtEl>
                                        <p:attrNameLst>
                                          <p:attrName>ppt_x</p:attrName>
                                        </p:attrNameLst>
                                      </p:cBhvr>
                                      <p:tavLst>
                                        <p:tav tm="0">
                                          <p:val>
                                            <p:strVal val="#ppt_x"/>
                                          </p:val>
                                        </p:tav>
                                        <p:tav tm="100000">
                                          <p:val>
                                            <p:strVal val="#ppt_x"/>
                                          </p:val>
                                        </p:tav>
                                      </p:tavLst>
                                    </p:anim>
                                    <p:anim calcmode="lin" valueType="num">
                                      <p:cBhvr additive="base">
                                        <p:cTn id="68" dur="500" fill="hold"/>
                                        <p:tgtEl>
                                          <p:spTgt spid="6"/>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6" grpId="0" animBg="1"/>
      <p:bldP spid="9" grpId="0" animBg="1"/>
      <p:bldP spid="10" grpId="0" animBg="1"/>
      <p:bldP spid="11" grpId="0" animBg="1"/>
    </p:bldLst>
  </p:timing>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ext 0"/>
          <p:cNvSpPr>
            <a:spLocks noGrp="1"/>
          </p:cNvSpPr>
          <p:nvPr>
            <p:ph type="title" idx="100" hasCustomPrompt="1"/>
          </p:nvPr>
        </p:nvSpPr>
        <p:spPr>
          <a:xfrm>
            <a:off x="548640" y="365760"/>
            <a:ext cx="11064240" cy="777240"/>
          </a:xfrm>
          <a:prstGeom prst="rect">
            <a:avLst/>
          </a:prstGeom>
          <a:noFill/>
          <a:ln/>
        </p:spPr>
        <p:txBody>
          <a:bodyPr wrap="square" lIns="0" tIns="0" rIns="0" bIns="0" rtlCol="0" anchor="t"/>
          <a:lstStyle/>
          <a:p>
            <a:pPr marL="0" indent="0" algn="l">
              <a:buNone/>
            </a:pPr>
            <a:r>
              <a:rPr lang="en-US" sz="3600" b="1" dirty="0">
                <a:solidFill>
                  <a:schemeClr val="tx1"/>
                </a:solidFill>
              </a:rPr>
              <a:t>The study at a glance</a:t>
            </a:r>
            <a:endParaRPr lang="en-US" sz="3600" dirty="0"/>
          </a:p>
        </p:txBody>
      </p:sp>
      <p:grpSp>
        <p:nvGrpSpPr>
          <p:cNvPr id="2" name="Group 1">
            <a:extLst>
              <a:ext uri="{FF2B5EF4-FFF2-40B4-BE49-F238E27FC236}">
                <a16:creationId xmlns:a16="http://schemas.microsoft.com/office/drawing/2014/main" id="{699E9086-3982-3780-1C2B-50E6869E5971}"/>
              </a:ext>
            </a:extLst>
          </p:cNvPr>
          <p:cNvGrpSpPr/>
          <p:nvPr/>
        </p:nvGrpSpPr>
        <p:grpSpPr>
          <a:xfrm>
            <a:off x="548640" y="1371600"/>
            <a:ext cx="3566160" cy="3383280"/>
            <a:chOff x="548640" y="1371600"/>
            <a:chExt cx="3566160" cy="3383280"/>
          </a:xfrm>
        </p:grpSpPr>
        <p:sp>
          <p:nvSpPr>
            <p:cNvPr id="4" name="glance card 0"/>
            <p:cNvSpPr/>
            <p:nvPr/>
          </p:nvSpPr>
          <p:spPr>
            <a:xfrm>
              <a:off x="548640" y="1371600"/>
              <a:ext cx="3566160" cy="3383280"/>
            </a:xfrm>
            <a:prstGeom prst="roundRect">
              <a:avLst>
                <a:gd name="adj" fmla="val 3243"/>
              </a:avLst>
            </a:prstGeom>
            <a:solidFill>
              <a:schemeClr val="bg2"/>
            </a:solidFill>
            <a:ln w="12700">
              <a:solidFill>
                <a:schemeClr val="bg2"/>
              </a:solidFill>
              <a:prstDash val="solid"/>
            </a:ln>
            <a:effectLst>
              <a:outerShdw blurRad="101600" dist="25400" dir="5400000" algn="bl" rotWithShape="0">
                <a:srgbClr val="0F1B33">
                  <a:alpha val="12000"/>
                </a:srgbClr>
              </a:outerShdw>
            </a:effectLst>
          </p:spPr>
        </p:sp>
        <p:sp>
          <p:nvSpPr>
            <p:cNvPr id="5" name="Text 2"/>
            <p:cNvSpPr txBox="1"/>
            <p:nvPr/>
          </p:nvSpPr>
          <p:spPr>
            <a:xfrm>
              <a:off x="822960" y="1600200"/>
              <a:ext cx="3017520" cy="365760"/>
            </a:xfrm>
            <a:prstGeom prst="rect">
              <a:avLst/>
            </a:prstGeom>
            <a:noFill/>
            <a:ln/>
          </p:spPr>
          <p:txBody>
            <a:bodyPr wrap="square" lIns="0" tIns="0" rIns="0" bIns="0" rtlCol="0" anchor="t"/>
            <a:lstStyle/>
            <a:p>
              <a:pPr marL="0" indent="0">
                <a:buNone/>
              </a:pPr>
              <a:r>
                <a:rPr lang="en-US" sz="1600" b="1" dirty="0">
                  <a:solidFill>
                    <a:schemeClr val="accent2"/>
                  </a:solidFill>
                </a:rPr>
                <a:t>QUESTION</a:t>
              </a:r>
              <a:endParaRPr lang="en-US" sz="1600" dirty="0"/>
            </a:p>
          </p:txBody>
        </p:sp>
        <p:sp>
          <p:nvSpPr>
            <p:cNvPr id="6" name="Text 3"/>
            <p:cNvSpPr txBox="1"/>
            <p:nvPr/>
          </p:nvSpPr>
          <p:spPr>
            <a:xfrm>
              <a:off x="822960" y="2103120"/>
              <a:ext cx="3017520" cy="2468880"/>
            </a:xfrm>
            <a:prstGeom prst="rect">
              <a:avLst/>
            </a:prstGeom>
            <a:noFill/>
            <a:ln/>
          </p:spPr>
          <p:txBody>
            <a:bodyPr wrap="square" lIns="0" tIns="0" rIns="0" bIns="0" rtlCol="0" anchor="t"/>
            <a:lstStyle/>
            <a:p>
              <a:pPr marL="0" indent="0">
                <a:buNone/>
              </a:pPr>
              <a:r>
                <a:rPr lang="en-US" sz="1600" dirty="0">
                  <a:solidFill>
                    <a:schemeClr val="tx1"/>
                  </a:solidFill>
                </a:rPr>
                <a:t>Can a regression network recover </a:t>
              </a:r>
              <a:r>
                <a:rPr lang="en-US" sz="1600" i="1" dirty="0">
                  <a:solidFill>
                    <a:schemeClr val="tx1"/>
                  </a:solidFill>
                </a:rPr>
                <a:t>φ</a:t>
              </a:r>
              <a:r>
                <a:rPr lang="en-US" sz="1600" baseline="-25000" dirty="0">
                  <a:solidFill>
                    <a:schemeClr val="tx1"/>
                  </a:solidFill>
                </a:rPr>
                <a:t>c</a:t>
              </a:r>
              <a:r>
                <a:rPr lang="en-US" sz="1600" dirty="0">
                  <a:solidFill>
                    <a:schemeClr val="tx1"/>
                  </a:solidFill>
                </a:rPr>
                <a:t> and </a:t>
              </a:r>
              <a:r>
                <a:rPr lang="en-US" sz="1600" i="1" dirty="0">
                  <a:solidFill>
                    <a:schemeClr val="tx1"/>
                  </a:solidFill>
                </a:rPr>
                <a:t>ψ</a:t>
              </a:r>
              <a:r>
                <a:rPr lang="en-US" sz="1600" dirty="0">
                  <a:solidFill>
                    <a:schemeClr val="tx1"/>
                  </a:solidFill>
                </a:rPr>
                <a:t> from two-detector strain, individually or through the better-conditioned combinations 2</a:t>
              </a:r>
              <a:r>
                <a:rPr lang="en-US" sz="1600" i="1" dirty="0">
                  <a:solidFill>
                    <a:schemeClr val="tx1"/>
                  </a:solidFill>
                </a:rPr>
                <a:t>φ</a:t>
              </a:r>
              <a:r>
                <a:rPr lang="en-US" sz="1600" baseline="-25000" dirty="0">
                  <a:solidFill>
                    <a:schemeClr val="tx1"/>
                  </a:solidFill>
                </a:rPr>
                <a:t>c</a:t>
              </a:r>
              <a:r>
                <a:rPr lang="en-US" sz="1600" dirty="0">
                  <a:solidFill>
                    <a:schemeClr val="tx1"/>
                  </a:solidFill>
                </a:rPr>
                <a:t> ± 2</a:t>
              </a:r>
              <a:r>
                <a:rPr lang="en-US" sz="1600" i="1" dirty="0">
                  <a:solidFill>
                    <a:schemeClr val="tx1"/>
                  </a:solidFill>
                </a:rPr>
                <a:t>ψ</a:t>
              </a:r>
              <a:r>
                <a:rPr lang="en-US" sz="1600" dirty="0">
                  <a:solidFill>
                    <a:schemeClr val="tx1"/>
                  </a:solidFill>
                </a:rPr>
                <a:t>?</a:t>
              </a:r>
              <a:endParaRPr lang="en-US" sz="1600" dirty="0"/>
            </a:p>
          </p:txBody>
        </p:sp>
      </p:grpSp>
      <p:grpSp>
        <p:nvGrpSpPr>
          <p:cNvPr id="15" name="Group 14">
            <a:extLst>
              <a:ext uri="{FF2B5EF4-FFF2-40B4-BE49-F238E27FC236}">
                <a16:creationId xmlns:a16="http://schemas.microsoft.com/office/drawing/2014/main" id="{A950508F-5341-1F15-233F-9D914D424084}"/>
              </a:ext>
            </a:extLst>
          </p:cNvPr>
          <p:cNvGrpSpPr/>
          <p:nvPr/>
        </p:nvGrpSpPr>
        <p:grpSpPr>
          <a:xfrm>
            <a:off x="4297680" y="1417320"/>
            <a:ext cx="3566160" cy="3383280"/>
            <a:chOff x="4297680" y="1417320"/>
            <a:chExt cx="3566160" cy="3383280"/>
          </a:xfrm>
        </p:grpSpPr>
        <p:sp>
          <p:nvSpPr>
            <p:cNvPr id="7" name="glance card 1"/>
            <p:cNvSpPr/>
            <p:nvPr/>
          </p:nvSpPr>
          <p:spPr>
            <a:xfrm>
              <a:off x="4297680" y="1417320"/>
              <a:ext cx="3566160" cy="3383280"/>
            </a:xfrm>
            <a:prstGeom prst="roundRect">
              <a:avLst>
                <a:gd name="adj" fmla="val 3243"/>
              </a:avLst>
            </a:prstGeom>
            <a:solidFill>
              <a:schemeClr val="bg2"/>
            </a:solidFill>
            <a:ln w="12700">
              <a:solidFill>
                <a:schemeClr val="bg2"/>
              </a:solidFill>
              <a:prstDash val="solid"/>
            </a:ln>
            <a:effectLst>
              <a:outerShdw blurRad="101600" dist="25400" dir="5400000" algn="bl" rotWithShape="0">
                <a:srgbClr val="0F1B33">
                  <a:alpha val="12000"/>
                </a:srgbClr>
              </a:outerShdw>
            </a:effectLst>
          </p:spPr>
        </p:sp>
        <p:sp>
          <p:nvSpPr>
            <p:cNvPr id="8" name="Text 5"/>
            <p:cNvSpPr txBox="1"/>
            <p:nvPr/>
          </p:nvSpPr>
          <p:spPr>
            <a:xfrm>
              <a:off x="4572000" y="1645920"/>
              <a:ext cx="3017520" cy="365760"/>
            </a:xfrm>
            <a:prstGeom prst="rect">
              <a:avLst/>
            </a:prstGeom>
            <a:noFill/>
            <a:ln/>
          </p:spPr>
          <p:txBody>
            <a:bodyPr wrap="square" lIns="0" tIns="0" rIns="0" bIns="0" rtlCol="0" anchor="t"/>
            <a:lstStyle/>
            <a:p>
              <a:pPr marL="0" indent="0">
                <a:buNone/>
              </a:pPr>
              <a:r>
                <a:rPr lang="en-US" sz="1600" b="1" dirty="0">
                  <a:solidFill>
                    <a:schemeClr val="accent1"/>
                  </a:solidFill>
                </a:rPr>
                <a:t>APPROACH</a:t>
              </a:r>
              <a:endParaRPr lang="en-US" sz="1600" dirty="0"/>
            </a:p>
          </p:txBody>
        </p:sp>
        <p:sp>
          <p:nvSpPr>
            <p:cNvPr id="9" name="Text 6"/>
            <p:cNvSpPr txBox="1"/>
            <p:nvPr/>
          </p:nvSpPr>
          <p:spPr>
            <a:xfrm>
              <a:off x="4572000" y="2103120"/>
              <a:ext cx="3017520" cy="2468880"/>
            </a:xfrm>
            <a:prstGeom prst="rect">
              <a:avLst/>
            </a:prstGeom>
            <a:noFill/>
            <a:ln/>
          </p:spPr>
          <p:txBody>
            <a:bodyPr wrap="square" lIns="0" tIns="0" rIns="0" bIns="0" rtlCol="0" anchor="t"/>
            <a:lstStyle/>
            <a:p>
              <a:pPr marL="0" indent="0">
                <a:buNone/>
              </a:pPr>
              <a:r>
                <a:rPr lang="en-US" sz="1600" dirty="0">
                  <a:solidFill>
                    <a:schemeClr val="tx1"/>
                  </a:solidFill>
                </a:rPr>
                <a:t>25,000 training and 5,000 validation simulated events. Four models from two trunks, two head parameterizations, a radial penalty at three strengths. Chirp mass, merger time and SNR serve as positive controls.</a:t>
              </a:r>
              <a:endParaRPr lang="en-US" sz="1600" dirty="0"/>
            </a:p>
          </p:txBody>
        </p:sp>
      </p:grpSp>
      <p:grpSp>
        <p:nvGrpSpPr>
          <p:cNvPr id="16" name="Group 15">
            <a:extLst>
              <a:ext uri="{FF2B5EF4-FFF2-40B4-BE49-F238E27FC236}">
                <a16:creationId xmlns:a16="http://schemas.microsoft.com/office/drawing/2014/main" id="{85B1E07D-6794-EA48-30D1-FCFB0C11A277}"/>
              </a:ext>
            </a:extLst>
          </p:cNvPr>
          <p:cNvGrpSpPr/>
          <p:nvPr/>
        </p:nvGrpSpPr>
        <p:grpSpPr>
          <a:xfrm>
            <a:off x="8046720" y="1371600"/>
            <a:ext cx="3566160" cy="3383280"/>
            <a:chOff x="8046720" y="1371600"/>
            <a:chExt cx="3566160" cy="3383280"/>
          </a:xfrm>
        </p:grpSpPr>
        <p:sp>
          <p:nvSpPr>
            <p:cNvPr id="10" name="glance card 2"/>
            <p:cNvSpPr/>
            <p:nvPr/>
          </p:nvSpPr>
          <p:spPr>
            <a:xfrm>
              <a:off x="8046720" y="1371600"/>
              <a:ext cx="3566160" cy="3383280"/>
            </a:xfrm>
            <a:prstGeom prst="roundRect">
              <a:avLst>
                <a:gd name="adj" fmla="val 3243"/>
              </a:avLst>
            </a:prstGeom>
            <a:solidFill>
              <a:schemeClr val="bg2"/>
            </a:solidFill>
            <a:ln w="12700">
              <a:solidFill>
                <a:schemeClr val="bg2"/>
              </a:solidFill>
              <a:prstDash val="solid"/>
            </a:ln>
            <a:effectLst>
              <a:outerShdw blurRad="101600" dist="25400" dir="5400000" algn="bl" rotWithShape="0">
                <a:srgbClr val="0F1B33">
                  <a:alpha val="12000"/>
                </a:srgbClr>
              </a:outerShdw>
            </a:effectLst>
          </p:spPr>
        </p:sp>
        <p:sp>
          <p:nvSpPr>
            <p:cNvPr id="11" name="Text 8"/>
            <p:cNvSpPr txBox="1"/>
            <p:nvPr/>
          </p:nvSpPr>
          <p:spPr>
            <a:xfrm>
              <a:off x="8321040" y="1600200"/>
              <a:ext cx="3017520" cy="365760"/>
            </a:xfrm>
            <a:prstGeom prst="rect">
              <a:avLst/>
            </a:prstGeom>
            <a:noFill/>
            <a:ln/>
          </p:spPr>
          <p:txBody>
            <a:bodyPr wrap="square" lIns="0" tIns="0" rIns="0" bIns="0" rtlCol="0" anchor="t"/>
            <a:lstStyle/>
            <a:p>
              <a:pPr marL="0" indent="0">
                <a:buNone/>
              </a:pPr>
              <a:r>
                <a:rPr lang="en-US" sz="1600" b="1" dirty="0">
                  <a:solidFill>
                    <a:schemeClr val="accent4"/>
                  </a:solidFill>
                </a:rPr>
                <a:t>ANSWER</a:t>
              </a:r>
              <a:endParaRPr lang="en-US" sz="1600" dirty="0"/>
            </a:p>
          </p:txBody>
        </p:sp>
        <p:sp>
          <p:nvSpPr>
            <p:cNvPr id="12" name="Text 9"/>
            <p:cNvSpPr txBox="1"/>
            <p:nvPr/>
          </p:nvSpPr>
          <p:spPr>
            <a:xfrm>
              <a:off x="8321040" y="2103120"/>
              <a:ext cx="3017520" cy="2468880"/>
            </a:xfrm>
            <a:prstGeom prst="rect">
              <a:avLst/>
            </a:prstGeom>
            <a:noFill/>
            <a:ln/>
          </p:spPr>
          <p:txBody>
            <a:bodyPr wrap="square" lIns="0" tIns="0" rIns="0" bIns="0" rtlCol="0" anchor="t"/>
            <a:lstStyle/>
            <a:p>
              <a:pPr marL="0" indent="0">
                <a:buNone/>
              </a:pPr>
              <a:r>
                <a:rPr lang="en-US" sz="1600" dirty="0">
                  <a:solidFill>
                    <a:schemeClr val="tx1"/>
                  </a:solidFill>
                </a:rPr>
                <a:t>No. Every configuration sits at the random-guess baseline on both angles, and none of 8 bootstrap tests is significant, while the controls are recovered (</a:t>
              </a:r>
              <a:r>
                <a:rPr lang="en-US" sz="1600" i="1" dirty="0">
                  <a:solidFill>
                    <a:schemeClr val="tx1"/>
                  </a:solidFill>
                </a:rPr>
                <a:t>R</a:t>
              </a:r>
              <a:r>
                <a:rPr lang="en-US" sz="1600" baseline="30000" dirty="0">
                  <a:solidFill>
                    <a:schemeClr val="tx1"/>
                  </a:solidFill>
                </a:rPr>
                <a:t>2</a:t>
              </a:r>
              <a:r>
                <a:rPr lang="en-US" sz="1600" dirty="0">
                  <a:solidFill>
                    <a:schemeClr val="tx1"/>
                  </a:solidFill>
                </a:rPr>
                <a:t> up to 0.96).</a:t>
              </a:r>
              <a:endParaRPr lang="en-US" sz="1600" dirty="0"/>
            </a:p>
          </p:txBody>
        </p:sp>
      </p:grpSp>
      <p:grpSp>
        <p:nvGrpSpPr>
          <p:cNvPr id="17" name="Group 16">
            <a:extLst>
              <a:ext uri="{FF2B5EF4-FFF2-40B4-BE49-F238E27FC236}">
                <a16:creationId xmlns:a16="http://schemas.microsoft.com/office/drawing/2014/main" id="{A90C47EB-4D96-87D7-1288-3093752C5D14}"/>
              </a:ext>
            </a:extLst>
          </p:cNvPr>
          <p:cNvGrpSpPr/>
          <p:nvPr/>
        </p:nvGrpSpPr>
        <p:grpSpPr>
          <a:xfrm>
            <a:off x="548640" y="5029200"/>
            <a:ext cx="11064240" cy="1188720"/>
            <a:chOff x="548640" y="5029200"/>
            <a:chExt cx="11064240" cy="1188720"/>
          </a:xfrm>
        </p:grpSpPr>
        <p:sp>
          <p:nvSpPr>
            <p:cNvPr id="13" name="hypothesis banner"/>
            <p:cNvSpPr/>
            <p:nvPr/>
          </p:nvSpPr>
          <p:spPr>
            <a:xfrm>
              <a:off x="548640" y="5029200"/>
              <a:ext cx="11064240" cy="1188720"/>
            </a:xfrm>
            <a:prstGeom prst="roundRect">
              <a:avLst>
                <a:gd name="adj" fmla="val 9231"/>
              </a:avLst>
            </a:prstGeom>
            <a:solidFill>
              <a:schemeClr val="tx2"/>
            </a:solidFill>
            <a:ln w="12700">
              <a:solidFill>
                <a:schemeClr val="tx2"/>
              </a:solidFill>
              <a:prstDash val="solid"/>
            </a:ln>
            <a:effectLst>
              <a:outerShdw blurRad="101600" dist="25400" dir="5400000" algn="bl" rotWithShape="0">
                <a:srgbClr val="0F1B33">
                  <a:alpha val="12000"/>
                </a:srgbClr>
              </a:outerShdw>
            </a:effectLst>
          </p:spPr>
        </p:sp>
        <p:sp>
          <p:nvSpPr>
            <p:cNvPr id="14" name="Text 11"/>
            <p:cNvSpPr txBox="1"/>
            <p:nvPr/>
          </p:nvSpPr>
          <p:spPr>
            <a:xfrm>
              <a:off x="914400" y="5029200"/>
              <a:ext cx="10332720" cy="1188720"/>
            </a:xfrm>
            <a:prstGeom prst="rect">
              <a:avLst/>
            </a:prstGeom>
            <a:noFill/>
            <a:ln/>
          </p:spPr>
          <p:txBody>
            <a:bodyPr wrap="square" lIns="0" tIns="0" rIns="0" bIns="0" rtlCol="0" anchor="ctr"/>
            <a:lstStyle/>
            <a:p>
              <a:pPr marL="0" indent="0">
                <a:buNone/>
              </a:pPr>
              <a:r>
                <a:rPr lang="en-US" sz="1600" b="1" dirty="0">
                  <a:solidFill>
                    <a:schemeClr val="accent1"/>
                  </a:solidFill>
                </a:rPr>
                <a:t>Why combinations? </a:t>
              </a:r>
              <a:r>
                <a:rPr lang="en-US" sz="1600" i="1" dirty="0">
                  <a:solidFill>
                    <a:schemeClr val="bg1"/>
                  </a:solidFill>
                </a:rPr>
                <a:t>φ</a:t>
              </a:r>
              <a:r>
                <a:rPr lang="en-US" sz="1600" baseline="-25000" dirty="0">
                  <a:solidFill>
                    <a:schemeClr val="bg1"/>
                  </a:solidFill>
                </a:rPr>
                <a:t>c</a:t>
              </a:r>
              <a:r>
                <a:rPr lang="en-US" sz="1600" dirty="0">
                  <a:solidFill>
                    <a:schemeClr val="bg1"/>
                  </a:solidFill>
                </a:rPr>
                <a:t> and </a:t>
              </a:r>
              <a:r>
                <a:rPr lang="en-US" sz="1600" i="1" dirty="0">
                  <a:solidFill>
                    <a:schemeClr val="bg1"/>
                  </a:solidFill>
                </a:rPr>
                <a:t>ψ</a:t>
              </a:r>
              <a:r>
                <a:rPr lang="en-US" sz="1600" dirty="0">
                  <a:solidFill>
                    <a:schemeClr val="bg1"/>
                  </a:solidFill>
                </a:rPr>
                <a:t> both enter the strain doubled, so face-on only 2</a:t>
              </a:r>
              <a:r>
                <a:rPr lang="en-US" sz="1600" i="1" dirty="0">
                  <a:solidFill>
                    <a:schemeClr val="bg1"/>
                  </a:solidFill>
                </a:rPr>
                <a:t>φ</a:t>
              </a:r>
              <a:r>
                <a:rPr lang="en-US" sz="1600" baseline="-25000" dirty="0">
                  <a:solidFill>
                    <a:schemeClr val="bg1"/>
                  </a:solidFill>
                </a:rPr>
                <a:t>c</a:t>
              </a:r>
              <a:r>
                <a:rPr lang="en-US" sz="1600" dirty="0">
                  <a:solidFill>
                    <a:schemeClr val="bg1"/>
                  </a:solidFill>
                </a:rPr>
                <a:t> ± 2</a:t>
              </a:r>
              <a:r>
                <a:rPr lang="en-US" sz="1600" i="1" dirty="0">
                  <a:solidFill>
                    <a:schemeClr val="bg1"/>
                  </a:solidFill>
                </a:rPr>
                <a:t>ψ</a:t>
              </a:r>
              <a:r>
                <a:rPr lang="en-US" sz="1600" dirty="0">
                  <a:solidFill>
                    <a:schemeClr val="bg1"/>
                  </a:solidFill>
                </a:rPr>
                <a:t> is constrained and the individual angles are degenerate. We hypothesized that the network could still learn these combinations, since one of them is always better constrained than the other, and tested that hypothesis rather than assuming it.</a:t>
              </a:r>
              <a:endParaRPr lang="en-US" sz="1600" dirty="0"/>
            </a:p>
          </p:txBody>
        </p:sp>
      </p:gr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100">
                <a:solidFill>
                  <a:srgbClr val="55627A"/>
                </a:solidFill>
              </a:defRPr>
            </a:lvl1pPr>
          </a:lstStyle>
          <a:p>
            <a:pPr algn="r"/>
            <a:fld id="{F7021451-1387-4CA6-816F-3879F97B5CBC}" type="slidenum">
              <a:rPr lang="en-US" b="0"/>
              <a:t>3</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cBhvr additive="base">
                                        <p:cTn id="7" dur="500" fill="hold"/>
                                        <p:tgtEl>
                                          <p:spTgt spid="2"/>
                                        </p:tgtEl>
                                        <p:attrNameLst>
                                          <p:attrName>ppt_x</p:attrName>
                                        </p:attrNameLst>
                                      </p:cBhvr>
                                      <p:tavLst>
                                        <p:tav tm="0">
                                          <p:val>
                                            <p:strVal val="#ppt_x"/>
                                          </p:val>
                                        </p:tav>
                                        <p:tav tm="100000">
                                          <p:val>
                                            <p:strVal val="#ppt_x"/>
                                          </p:val>
                                        </p:tav>
                                      </p:tavLst>
                                    </p:anim>
                                    <p:anim calcmode="lin" valueType="num">
                                      <p:cBhvr additive="base">
                                        <p:cTn id="8" dur="500" fill="hold"/>
                                        <p:tgtEl>
                                          <p:spTgt spid="2"/>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nodeType="clickEffect">
                                  <p:stCondLst>
                                    <p:cond delay="0"/>
                                  </p:stCondLst>
                                  <p:childTnLst>
                                    <p:set>
                                      <p:cBhvr>
                                        <p:cTn id="12" dur="1" fill="hold">
                                          <p:stCondLst>
                                            <p:cond delay="0"/>
                                          </p:stCondLst>
                                        </p:cTn>
                                        <p:tgtEl>
                                          <p:spTgt spid="15"/>
                                        </p:tgtEl>
                                        <p:attrNameLst>
                                          <p:attrName>style.visibility</p:attrName>
                                        </p:attrNameLst>
                                      </p:cBhvr>
                                      <p:to>
                                        <p:strVal val="visible"/>
                                      </p:to>
                                    </p:set>
                                    <p:anim calcmode="lin" valueType="num">
                                      <p:cBhvr additive="base">
                                        <p:cTn id="13" dur="500" fill="hold"/>
                                        <p:tgtEl>
                                          <p:spTgt spid="15"/>
                                        </p:tgtEl>
                                        <p:attrNameLst>
                                          <p:attrName>ppt_x</p:attrName>
                                        </p:attrNameLst>
                                      </p:cBhvr>
                                      <p:tavLst>
                                        <p:tav tm="0">
                                          <p:val>
                                            <p:strVal val="#ppt_x"/>
                                          </p:val>
                                        </p:tav>
                                        <p:tav tm="100000">
                                          <p:val>
                                            <p:strVal val="#ppt_x"/>
                                          </p:val>
                                        </p:tav>
                                      </p:tavLst>
                                    </p:anim>
                                    <p:anim calcmode="lin" valueType="num">
                                      <p:cBhvr additive="base">
                                        <p:cTn id="14" dur="500" fill="hold"/>
                                        <p:tgtEl>
                                          <p:spTgt spid="15"/>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nodeType="clickEffect">
                                  <p:stCondLst>
                                    <p:cond delay="0"/>
                                  </p:stCondLst>
                                  <p:childTnLst>
                                    <p:set>
                                      <p:cBhvr>
                                        <p:cTn id="18" dur="1" fill="hold">
                                          <p:stCondLst>
                                            <p:cond delay="0"/>
                                          </p:stCondLst>
                                        </p:cTn>
                                        <p:tgtEl>
                                          <p:spTgt spid="16"/>
                                        </p:tgtEl>
                                        <p:attrNameLst>
                                          <p:attrName>style.visibility</p:attrName>
                                        </p:attrNameLst>
                                      </p:cBhvr>
                                      <p:to>
                                        <p:strVal val="visible"/>
                                      </p:to>
                                    </p:set>
                                    <p:anim calcmode="lin" valueType="num">
                                      <p:cBhvr additive="base">
                                        <p:cTn id="19" dur="500" fill="hold"/>
                                        <p:tgtEl>
                                          <p:spTgt spid="16"/>
                                        </p:tgtEl>
                                        <p:attrNameLst>
                                          <p:attrName>ppt_x</p:attrName>
                                        </p:attrNameLst>
                                      </p:cBhvr>
                                      <p:tavLst>
                                        <p:tav tm="0">
                                          <p:val>
                                            <p:strVal val="#ppt_x"/>
                                          </p:val>
                                        </p:tav>
                                        <p:tav tm="100000">
                                          <p:val>
                                            <p:strVal val="#ppt_x"/>
                                          </p:val>
                                        </p:tav>
                                      </p:tavLst>
                                    </p:anim>
                                    <p:anim calcmode="lin" valueType="num">
                                      <p:cBhvr additive="base">
                                        <p:cTn id="20" dur="500" fill="hold"/>
                                        <p:tgtEl>
                                          <p:spTgt spid="16"/>
                                        </p:tgtEl>
                                        <p:attrNameLst>
                                          <p:attrName>ppt_y</p:attrName>
                                        </p:attrNameLst>
                                      </p:cBhvr>
                                      <p:tavLst>
                                        <p:tav tm="0">
                                          <p:val>
                                            <p:strVal val="1+#ppt_h/2"/>
                                          </p:val>
                                        </p:tav>
                                        <p:tav tm="100000">
                                          <p:val>
                                            <p:strVal val="#ppt_y"/>
                                          </p:val>
                                        </p:tav>
                                      </p:tavLst>
                                    </p:anim>
                                  </p:childTnLst>
                                </p:cTn>
                              </p:par>
                            </p:childTnLst>
                          </p:cTn>
                        </p:par>
                      </p:childTnLst>
                    </p:cTn>
                  </p:par>
                  <p:par>
                    <p:cTn id="21" fill="hold">
                      <p:stCondLst>
                        <p:cond delay="indefinite"/>
                      </p:stCondLst>
                      <p:childTnLst>
                        <p:par>
                          <p:cTn id="22" fill="hold">
                            <p:stCondLst>
                              <p:cond delay="0"/>
                            </p:stCondLst>
                            <p:childTnLst>
                              <p:par>
                                <p:cTn id="23" presetID="2" presetClass="entr" presetSubtype="4" fill="hold" nodeType="clickEffect">
                                  <p:stCondLst>
                                    <p:cond delay="0"/>
                                  </p:stCondLst>
                                  <p:childTnLst>
                                    <p:set>
                                      <p:cBhvr>
                                        <p:cTn id="24" dur="1" fill="hold">
                                          <p:stCondLst>
                                            <p:cond delay="0"/>
                                          </p:stCondLst>
                                        </p:cTn>
                                        <p:tgtEl>
                                          <p:spTgt spid="17"/>
                                        </p:tgtEl>
                                        <p:attrNameLst>
                                          <p:attrName>style.visibility</p:attrName>
                                        </p:attrNameLst>
                                      </p:cBhvr>
                                      <p:to>
                                        <p:strVal val="visible"/>
                                      </p:to>
                                    </p:set>
                                    <p:anim calcmode="lin" valueType="num">
                                      <p:cBhvr additive="base">
                                        <p:cTn id="25" dur="500" fill="hold"/>
                                        <p:tgtEl>
                                          <p:spTgt spid="17"/>
                                        </p:tgtEl>
                                        <p:attrNameLst>
                                          <p:attrName>ppt_x</p:attrName>
                                        </p:attrNameLst>
                                      </p:cBhvr>
                                      <p:tavLst>
                                        <p:tav tm="0">
                                          <p:val>
                                            <p:strVal val="#ppt_x"/>
                                          </p:val>
                                        </p:tav>
                                        <p:tav tm="100000">
                                          <p:val>
                                            <p:strVal val="#ppt_x"/>
                                          </p:val>
                                        </p:tav>
                                      </p:tavLst>
                                    </p:anim>
                                    <p:anim calcmode="lin" valueType="num">
                                      <p:cBhvr additive="base">
                                        <p:cTn id="26" dur="500" fill="hold"/>
                                        <p:tgtEl>
                                          <p:spTgt spid="17"/>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ext 0"/>
          <p:cNvSpPr>
            <a:spLocks noGrp="1"/>
          </p:cNvSpPr>
          <p:nvPr>
            <p:ph type="title" idx="100" hasCustomPrompt="1"/>
          </p:nvPr>
        </p:nvSpPr>
        <p:spPr>
          <a:xfrm>
            <a:off x="548640" y="365760"/>
            <a:ext cx="11064240" cy="777240"/>
          </a:xfrm>
          <a:prstGeom prst="rect">
            <a:avLst/>
          </a:prstGeom>
          <a:noFill/>
          <a:ln/>
        </p:spPr>
        <p:txBody>
          <a:bodyPr wrap="square" lIns="0" tIns="0" rIns="0" bIns="0" rtlCol="0" anchor="t"/>
          <a:lstStyle/>
          <a:p>
            <a:pPr marL="0" indent="0" algn="l">
              <a:buNone/>
            </a:pPr>
            <a:r>
              <a:rPr lang="en-US" sz="3600" b="1" dirty="0">
                <a:solidFill>
                  <a:schemeClr val="tx1"/>
                </a:solidFill>
              </a:rPr>
              <a:t>The degeneracy, checked analytically</a:t>
            </a:r>
            <a:endParaRPr lang="en-US" sz="3600" dirty="0"/>
          </a:p>
        </p:txBody>
      </p:sp>
      <p:grpSp>
        <p:nvGrpSpPr>
          <p:cNvPr id="13" name="Group 12">
            <a:extLst>
              <a:ext uri="{FF2B5EF4-FFF2-40B4-BE49-F238E27FC236}">
                <a16:creationId xmlns:a16="http://schemas.microsoft.com/office/drawing/2014/main" id="{0514029A-424C-1EF3-280E-3737B5E55F02}"/>
              </a:ext>
            </a:extLst>
          </p:cNvPr>
          <p:cNvGrpSpPr/>
          <p:nvPr/>
        </p:nvGrpSpPr>
        <p:grpSpPr>
          <a:xfrm>
            <a:off x="548640" y="1325880"/>
            <a:ext cx="7680960" cy="3886200"/>
            <a:chOff x="548640" y="1325880"/>
            <a:chExt cx="7680960" cy="3886200"/>
          </a:xfrm>
        </p:grpSpPr>
        <p:pic>
          <p:nvPicPr>
            <p:cNvPr id="4" name="Image 0" descr="Correlation ratio versus inclination: about 1.6 face-on falling to about 1.05-1.15 edge-on, for both cos iota signs"/>
            <p:cNvPicPr>
              <a:picLocks noChangeAspect="1"/>
            </p:cNvPicPr>
            <p:nvPr/>
          </p:nvPicPr>
          <p:blipFill>
            <a:blip r:embed="rId3"/>
            <a:stretch>
              <a:fillRect/>
            </a:stretch>
          </p:blipFill>
          <p:spPr>
            <a:xfrm>
              <a:off x="548640" y="1325880"/>
              <a:ext cx="7680960" cy="3136392"/>
            </a:xfrm>
            <a:prstGeom prst="rect">
              <a:avLst/>
            </a:prstGeom>
          </p:spPr>
        </p:pic>
        <p:sp>
          <p:nvSpPr>
            <p:cNvPr id="5" name="Text 1"/>
            <p:cNvSpPr txBox="1"/>
            <p:nvPr/>
          </p:nvSpPr>
          <p:spPr>
            <a:xfrm>
              <a:off x="548640" y="4572000"/>
              <a:ext cx="7680960" cy="640080"/>
            </a:xfrm>
            <a:prstGeom prst="rect">
              <a:avLst/>
            </a:prstGeom>
            <a:noFill/>
            <a:ln/>
          </p:spPr>
          <p:txBody>
            <a:bodyPr wrap="square" lIns="0" tIns="0" rIns="0" bIns="0" rtlCol="0" anchor="t"/>
            <a:lstStyle/>
            <a:p>
              <a:pPr marL="0" indent="0" algn="ctr">
                <a:buNone/>
              </a:pPr>
              <a:r>
                <a:rPr lang="en-US" sz="1400" dirty="0">
                  <a:solidFill>
                    <a:schemeClr val="accent5"/>
                  </a:solidFill>
                </a:rPr>
                <a:t>Correlation ratio between the combination 2</a:t>
              </a:r>
              <a:r>
                <a:rPr lang="en-US" sz="1400" i="1" dirty="0">
                  <a:solidFill>
                    <a:schemeClr val="accent5"/>
                  </a:solidFill>
                </a:rPr>
                <a:t>φ</a:t>
              </a:r>
              <a:r>
                <a:rPr lang="en-US" sz="1400" baseline="-25000" dirty="0">
                  <a:solidFill>
                    <a:schemeClr val="accent5"/>
                  </a:solidFill>
                </a:rPr>
                <a:t>c</a:t>
              </a:r>
              <a:r>
                <a:rPr lang="en-US" sz="1400" dirty="0">
                  <a:solidFill>
                    <a:schemeClr val="accent5"/>
                  </a:solidFill>
                </a:rPr>
                <a:t> + 2</a:t>
              </a:r>
              <a:r>
                <a:rPr lang="en-US" sz="1400" i="1" dirty="0">
                  <a:solidFill>
                    <a:schemeClr val="accent5"/>
                  </a:solidFill>
                </a:rPr>
                <a:t>ψ</a:t>
              </a:r>
              <a:r>
                <a:rPr lang="en-US" sz="1400" dirty="0">
                  <a:solidFill>
                    <a:schemeClr val="accent5"/>
                  </a:solidFill>
                </a:rPr>
                <a:t> and its complement, swept over inclination </a:t>
              </a:r>
              <a:r>
                <a:rPr lang="en-US" sz="1400" i="1" dirty="0">
                  <a:solidFill>
                    <a:schemeClr val="accent5"/>
                  </a:solidFill>
                </a:rPr>
                <a:t>ι</a:t>
              </a:r>
              <a:r>
                <a:rPr lang="en-US" sz="1400" dirty="0">
                  <a:solidFill>
                    <a:schemeClr val="accent5"/>
                  </a:solidFill>
                </a:rPr>
                <a:t>.</a:t>
              </a:r>
              <a:endParaRPr lang="en-US" sz="1400" dirty="0"/>
            </a:p>
          </p:txBody>
        </p:sp>
      </p:grpSp>
      <p:grpSp>
        <p:nvGrpSpPr>
          <p:cNvPr id="2" name="Group 1">
            <a:extLst>
              <a:ext uri="{FF2B5EF4-FFF2-40B4-BE49-F238E27FC236}">
                <a16:creationId xmlns:a16="http://schemas.microsoft.com/office/drawing/2014/main" id="{6C295FB1-2A22-3369-34C0-019D9B252FC6}"/>
              </a:ext>
            </a:extLst>
          </p:cNvPr>
          <p:cNvGrpSpPr/>
          <p:nvPr/>
        </p:nvGrpSpPr>
        <p:grpSpPr>
          <a:xfrm>
            <a:off x="8595360" y="1325880"/>
            <a:ext cx="3017520" cy="1691640"/>
            <a:chOff x="8595360" y="1325880"/>
            <a:chExt cx="3017520" cy="1691640"/>
          </a:xfrm>
        </p:grpSpPr>
        <p:sp>
          <p:nvSpPr>
            <p:cNvPr id="6" name="Text 2"/>
            <p:cNvSpPr txBox="1"/>
            <p:nvPr/>
          </p:nvSpPr>
          <p:spPr>
            <a:xfrm>
              <a:off x="8595360" y="1325880"/>
              <a:ext cx="3017520" cy="822960"/>
            </a:xfrm>
            <a:prstGeom prst="rect">
              <a:avLst/>
            </a:prstGeom>
            <a:noFill/>
            <a:ln/>
          </p:spPr>
          <p:txBody>
            <a:bodyPr wrap="square" lIns="0" tIns="0" rIns="0" bIns="0" rtlCol="0" anchor="t"/>
            <a:lstStyle/>
            <a:p>
              <a:pPr marL="0" indent="0">
                <a:buNone/>
              </a:pPr>
              <a:r>
                <a:rPr lang="en-US" sz="3000" b="1" dirty="0">
                  <a:solidFill>
                    <a:schemeClr val="accent2"/>
                  </a:solidFill>
                  <a:latin typeface="Cambria" pitchFamily="34" charset="0"/>
                  <a:ea typeface="Cambria" pitchFamily="34" charset="-122"/>
                  <a:cs typeface="Cambria" pitchFamily="34" charset="-120"/>
                </a:rPr>
                <a:t>1.62–1.65×</a:t>
              </a:r>
              <a:endParaRPr lang="en-US" sz="3000" dirty="0"/>
            </a:p>
          </p:txBody>
        </p:sp>
        <p:sp>
          <p:nvSpPr>
            <p:cNvPr id="7" name="Text 3"/>
            <p:cNvSpPr txBox="1"/>
            <p:nvPr/>
          </p:nvSpPr>
          <p:spPr>
            <a:xfrm>
              <a:off x="8595360" y="2194560"/>
              <a:ext cx="3017520" cy="822960"/>
            </a:xfrm>
            <a:prstGeom prst="rect">
              <a:avLst/>
            </a:prstGeom>
            <a:noFill/>
            <a:ln/>
          </p:spPr>
          <p:txBody>
            <a:bodyPr wrap="square" lIns="0" tIns="0" rIns="0" bIns="0" rtlCol="0" anchor="t"/>
            <a:lstStyle/>
            <a:p>
              <a:pPr marL="0" indent="0">
                <a:buNone/>
              </a:pPr>
              <a:r>
                <a:rPr lang="en-US" sz="1400" dirty="0">
                  <a:solidFill>
                    <a:schemeClr val="tx1"/>
                  </a:solidFill>
                </a:rPr>
                <a:t>preference for the constrained combination, face-on</a:t>
              </a:r>
              <a:endParaRPr lang="en-US" sz="1400" dirty="0"/>
            </a:p>
          </p:txBody>
        </p:sp>
      </p:grpSp>
      <p:grpSp>
        <p:nvGrpSpPr>
          <p:cNvPr id="12" name="Group 11">
            <a:extLst>
              <a:ext uri="{FF2B5EF4-FFF2-40B4-BE49-F238E27FC236}">
                <a16:creationId xmlns:a16="http://schemas.microsoft.com/office/drawing/2014/main" id="{8010DFF5-253F-547A-DBBA-D713817BAFD5}"/>
              </a:ext>
            </a:extLst>
          </p:cNvPr>
          <p:cNvGrpSpPr/>
          <p:nvPr/>
        </p:nvGrpSpPr>
        <p:grpSpPr>
          <a:xfrm>
            <a:off x="8595360" y="3063240"/>
            <a:ext cx="3017520" cy="1691640"/>
            <a:chOff x="8595360" y="3063240"/>
            <a:chExt cx="3017520" cy="1691640"/>
          </a:xfrm>
        </p:grpSpPr>
        <p:sp>
          <p:nvSpPr>
            <p:cNvPr id="8" name="Text 4"/>
            <p:cNvSpPr txBox="1"/>
            <p:nvPr/>
          </p:nvSpPr>
          <p:spPr>
            <a:xfrm>
              <a:off x="8595360" y="3063240"/>
              <a:ext cx="3017520" cy="822960"/>
            </a:xfrm>
            <a:prstGeom prst="rect">
              <a:avLst/>
            </a:prstGeom>
            <a:noFill/>
            <a:ln/>
          </p:spPr>
          <p:txBody>
            <a:bodyPr wrap="square" lIns="0" tIns="0" rIns="0" bIns="0" rtlCol="0" anchor="t"/>
            <a:lstStyle/>
            <a:p>
              <a:pPr marL="0" indent="0">
                <a:buNone/>
              </a:pPr>
              <a:r>
                <a:rPr lang="en-US" sz="3000" b="1" dirty="0">
                  <a:solidFill>
                    <a:schemeClr val="accent1"/>
                  </a:solidFill>
                  <a:latin typeface="Cambria" pitchFamily="34" charset="0"/>
                  <a:ea typeface="Cambria" pitchFamily="34" charset="-122"/>
                  <a:cs typeface="Cambria" pitchFamily="34" charset="-120"/>
                </a:rPr>
                <a:t>1.04–1.07×</a:t>
              </a:r>
              <a:endParaRPr lang="en-US" sz="3000" dirty="0"/>
            </a:p>
          </p:txBody>
        </p:sp>
        <p:sp>
          <p:nvSpPr>
            <p:cNvPr id="9" name="Text 5"/>
            <p:cNvSpPr txBox="1"/>
            <p:nvPr/>
          </p:nvSpPr>
          <p:spPr>
            <a:xfrm>
              <a:off x="8595360" y="3931920"/>
              <a:ext cx="3017520" cy="822960"/>
            </a:xfrm>
            <a:prstGeom prst="rect">
              <a:avLst/>
            </a:prstGeom>
            <a:noFill/>
            <a:ln/>
          </p:spPr>
          <p:txBody>
            <a:bodyPr wrap="square" lIns="0" tIns="0" rIns="0" bIns="0" rtlCol="0" anchor="t"/>
            <a:lstStyle/>
            <a:p>
              <a:pPr marL="0" indent="0">
                <a:buNone/>
              </a:pPr>
              <a:r>
                <a:rPr lang="en-US" sz="1400" dirty="0">
                  <a:solidFill>
                    <a:schemeClr val="tx1"/>
                  </a:solidFill>
                </a:rPr>
                <a:t>the same ratio, edge-on: the degeneracy lifts only partially</a:t>
              </a:r>
              <a:endParaRPr lang="en-US" sz="1400" dirty="0"/>
            </a:p>
          </p:txBody>
        </p:sp>
      </p:gr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100">
                <a:solidFill>
                  <a:srgbClr val="55627A"/>
                </a:solidFill>
              </a:defRPr>
            </a:lvl1pPr>
          </a:lstStyle>
          <a:p>
            <a:pPr algn="r"/>
            <a:fld id="{F7021451-1387-4CA6-816F-3879F97B5CBC}" type="slidenum">
              <a:rPr lang="en-US" b="0"/>
              <a:t>4</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13"/>
                                        </p:tgtEl>
                                        <p:attrNameLst>
                                          <p:attrName>style.visibility</p:attrName>
                                        </p:attrNameLst>
                                      </p:cBhvr>
                                      <p:to>
                                        <p:strVal val="visible"/>
                                      </p:to>
                                    </p:set>
                                    <p:anim calcmode="lin" valueType="num">
                                      <p:cBhvr additive="base">
                                        <p:cTn id="7" dur="500" fill="hold"/>
                                        <p:tgtEl>
                                          <p:spTgt spid="13"/>
                                        </p:tgtEl>
                                        <p:attrNameLst>
                                          <p:attrName>ppt_x</p:attrName>
                                        </p:attrNameLst>
                                      </p:cBhvr>
                                      <p:tavLst>
                                        <p:tav tm="0">
                                          <p:val>
                                            <p:strVal val="#ppt_x"/>
                                          </p:val>
                                        </p:tav>
                                        <p:tav tm="100000">
                                          <p:val>
                                            <p:strVal val="#ppt_x"/>
                                          </p:val>
                                        </p:tav>
                                      </p:tavLst>
                                    </p:anim>
                                    <p:anim calcmode="lin" valueType="num">
                                      <p:cBhvr additive="base">
                                        <p:cTn id="8" dur="500" fill="hold"/>
                                        <p:tgtEl>
                                          <p:spTgt spid="13"/>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nodeType="clickEffect">
                                  <p:stCondLst>
                                    <p:cond delay="0"/>
                                  </p:stCondLst>
                                  <p:childTnLst>
                                    <p:set>
                                      <p:cBhvr>
                                        <p:cTn id="12" dur="1" fill="hold">
                                          <p:stCondLst>
                                            <p:cond delay="0"/>
                                          </p:stCondLst>
                                        </p:cTn>
                                        <p:tgtEl>
                                          <p:spTgt spid="2"/>
                                        </p:tgtEl>
                                        <p:attrNameLst>
                                          <p:attrName>style.visibility</p:attrName>
                                        </p:attrNameLst>
                                      </p:cBhvr>
                                      <p:to>
                                        <p:strVal val="visible"/>
                                      </p:to>
                                    </p:set>
                                    <p:anim calcmode="lin" valueType="num">
                                      <p:cBhvr additive="base">
                                        <p:cTn id="13" dur="500" fill="hold"/>
                                        <p:tgtEl>
                                          <p:spTgt spid="2"/>
                                        </p:tgtEl>
                                        <p:attrNameLst>
                                          <p:attrName>ppt_x</p:attrName>
                                        </p:attrNameLst>
                                      </p:cBhvr>
                                      <p:tavLst>
                                        <p:tav tm="0">
                                          <p:val>
                                            <p:strVal val="#ppt_x"/>
                                          </p:val>
                                        </p:tav>
                                        <p:tav tm="100000">
                                          <p:val>
                                            <p:strVal val="#ppt_x"/>
                                          </p:val>
                                        </p:tav>
                                      </p:tavLst>
                                    </p:anim>
                                    <p:anim calcmode="lin" valueType="num">
                                      <p:cBhvr additive="base">
                                        <p:cTn id="14" dur="500" fill="hold"/>
                                        <p:tgtEl>
                                          <p:spTgt spid="2"/>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nodeType="clickEffect">
                                  <p:stCondLst>
                                    <p:cond delay="0"/>
                                  </p:stCondLst>
                                  <p:childTnLst>
                                    <p:set>
                                      <p:cBhvr>
                                        <p:cTn id="18" dur="1" fill="hold">
                                          <p:stCondLst>
                                            <p:cond delay="0"/>
                                          </p:stCondLst>
                                        </p:cTn>
                                        <p:tgtEl>
                                          <p:spTgt spid="12"/>
                                        </p:tgtEl>
                                        <p:attrNameLst>
                                          <p:attrName>style.visibility</p:attrName>
                                        </p:attrNameLst>
                                      </p:cBhvr>
                                      <p:to>
                                        <p:strVal val="visible"/>
                                      </p:to>
                                    </p:set>
                                    <p:anim calcmode="lin" valueType="num">
                                      <p:cBhvr additive="base">
                                        <p:cTn id="19" dur="500" fill="hold"/>
                                        <p:tgtEl>
                                          <p:spTgt spid="12"/>
                                        </p:tgtEl>
                                        <p:attrNameLst>
                                          <p:attrName>ppt_x</p:attrName>
                                        </p:attrNameLst>
                                      </p:cBhvr>
                                      <p:tavLst>
                                        <p:tav tm="0">
                                          <p:val>
                                            <p:strVal val="#ppt_x"/>
                                          </p:val>
                                        </p:tav>
                                        <p:tav tm="100000">
                                          <p:val>
                                            <p:strVal val="#ppt_x"/>
                                          </p:val>
                                        </p:tav>
                                      </p:tavLst>
                                    </p:anim>
                                    <p:anim calcmode="lin" valueType="num">
                                      <p:cBhvr additive="base">
                                        <p:cTn id="20" dur="500" fill="hold"/>
                                        <p:tgtEl>
                                          <p:spTgt spid="12"/>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ext 0"/>
          <p:cNvSpPr>
            <a:spLocks noGrp="1"/>
          </p:cNvSpPr>
          <p:nvPr>
            <p:ph type="title" idx="100" hasCustomPrompt="1"/>
          </p:nvPr>
        </p:nvSpPr>
        <p:spPr>
          <a:xfrm>
            <a:off x="548640" y="365760"/>
            <a:ext cx="11064240" cy="777240"/>
          </a:xfrm>
          <a:prstGeom prst="rect">
            <a:avLst/>
          </a:prstGeom>
          <a:noFill/>
          <a:ln/>
        </p:spPr>
        <p:txBody>
          <a:bodyPr wrap="square" lIns="0" tIns="0" rIns="0" bIns="0" rtlCol="0" anchor="t"/>
          <a:lstStyle/>
          <a:p>
            <a:pPr marL="0" indent="0" algn="l">
              <a:buNone/>
            </a:pPr>
            <a:r>
              <a:rPr lang="en-US" sz="3600" b="1" dirty="0">
                <a:solidFill>
                  <a:schemeClr val="tx1"/>
                </a:solidFill>
              </a:rPr>
              <a:t>Data and targets</a:t>
            </a:r>
            <a:endParaRPr lang="en-US" sz="3600" dirty="0"/>
          </a:p>
        </p:txBody>
      </p:sp>
      <p:grpSp>
        <p:nvGrpSpPr>
          <p:cNvPr id="2" name="Group 1">
            <a:extLst>
              <a:ext uri="{FF2B5EF4-FFF2-40B4-BE49-F238E27FC236}">
                <a16:creationId xmlns:a16="http://schemas.microsoft.com/office/drawing/2014/main" id="{E7C16552-E5DB-1668-85E4-6E7780F96C56}"/>
              </a:ext>
            </a:extLst>
          </p:cNvPr>
          <p:cNvGrpSpPr/>
          <p:nvPr/>
        </p:nvGrpSpPr>
        <p:grpSpPr>
          <a:xfrm>
            <a:off x="548640" y="1371600"/>
            <a:ext cx="2560320" cy="2468880"/>
            <a:chOff x="548640" y="1371600"/>
            <a:chExt cx="2560320" cy="2468880"/>
          </a:xfrm>
        </p:grpSpPr>
        <p:sp>
          <p:nvSpPr>
            <p:cNvPr id="4" name="stat card 0"/>
            <p:cNvSpPr/>
            <p:nvPr/>
          </p:nvSpPr>
          <p:spPr>
            <a:xfrm>
              <a:off x="548640" y="1371600"/>
              <a:ext cx="2560320" cy="2468880"/>
            </a:xfrm>
            <a:prstGeom prst="roundRect">
              <a:avLst>
                <a:gd name="adj" fmla="val 4444"/>
              </a:avLst>
            </a:prstGeom>
            <a:solidFill>
              <a:schemeClr val="bg2"/>
            </a:solidFill>
            <a:ln w="12700">
              <a:solidFill>
                <a:schemeClr val="bg2"/>
              </a:solidFill>
              <a:prstDash val="solid"/>
            </a:ln>
            <a:effectLst>
              <a:outerShdw blurRad="101600" dist="25400" dir="5400000" algn="bl" rotWithShape="0">
                <a:srgbClr val="0F1B33">
                  <a:alpha val="12000"/>
                </a:srgbClr>
              </a:outerShdw>
            </a:effectLst>
          </p:spPr>
        </p:sp>
        <p:sp>
          <p:nvSpPr>
            <p:cNvPr id="5" name="Text 2"/>
            <p:cNvSpPr txBox="1"/>
            <p:nvPr/>
          </p:nvSpPr>
          <p:spPr>
            <a:xfrm>
              <a:off x="777240" y="1645920"/>
              <a:ext cx="2194560" cy="731520"/>
            </a:xfrm>
            <a:prstGeom prst="rect">
              <a:avLst/>
            </a:prstGeom>
            <a:noFill/>
            <a:ln/>
          </p:spPr>
          <p:txBody>
            <a:bodyPr wrap="square" lIns="0" tIns="0" rIns="0" bIns="0" rtlCol="0" anchor="t"/>
            <a:lstStyle/>
            <a:p>
              <a:pPr marL="0" indent="0">
                <a:buNone/>
              </a:pPr>
              <a:r>
                <a:rPr lang="en-US" sz="2200" b="1" dirty="0">
                  <a:solidFill>
                    <a:schemeClr val="accent2"/>
                  </a:solidFill>
                  <a:latin typeface="Cambria" pitchFamily="34" charset="0"/>
                  <a:ea typeface="Cambria" pitchFamily="34" charset="-122"/>
                  <a:cs typeface="Cambria" pitchFamily="34" charset="-120"/>
                </a:rPr>
                <a:t>25k / 5k</a:t>
              </a:r>
              <a:endParaRPr lang="en-US" sz="2200" dirty="0"/>
            </a:p>
          </p:txBody>
        </p:sp>
        <p:sp>
          <p:nvSpPr>
            <p:cNvPr id="6" name="Text 3"/>
            <p:cNvSpPr txBox="1"/>
            <p:nvPr/>
          </p:nvSpPr>
          <p:spPr>
            <a:xfrm>
              <a:off x="777240" y="2514600"/>
              <a:ext cx="2103120" cy="1188720"/>
            </a:xfrm>
            <a:prstGeom prst="rect">
              <a:avLst/>
            </a:prstGeom>
            <a:noFill/>
            <a:ln/>
          </p:spPr>
          <p:txBody>
            <a:bodyPr wrap="square" lIns="0" tIns="0" rIns="0" bIns="0" rtlCol="0" anchor="t"/>
            <a:lstStyle/>
            <a:p>
              <a:pPr marL="0" indent="0">
                <a:buNone/>
              </a:pPr>
              <a:r>
                <a:rPr lang="en-US" sz="1400" dirty="0">
                  <a:solidFill>
                    <a:schemeClr val="tx1"/>
                  </a:solidFill>
                </a:rPr>
                <a:t>simulated training / validation events (IMRPhenomD, dominant mode only)</a:t>
              </a:r>
              <a:endParaRPr lang="en-US" sz="1400" dirty="0"/>
            </a:p>
          </p:txBody>
        </p:sp>
      </p:grpSp>
      <p:grpSp>
        <p:nvGrpSpPr>
          <p:cNvPr id="20" name="Group 19">
            <a:extLst>
              <a:ext uri="{FF2B5EF4-FFF2-40B4-BE49-F238E27FC236}">
                <a16:creationId xmlns:a16="http://schemas.microsoft.com/office/drawing/2014/main" id="{AF2B658B-7732-2A76-C680-CB27DDC17A05}"/>
              </a:ext>
            </a:extLst>
          </p:cNvPr>
          <p:cNvGrpSpPr/>
          <p:nvPr/>
        </p:nvGrpSpPr>
        <p:grpSpPr>
          <a:xfrm>
            <a:off x="3383280" y="1371600"/>
            <a:ext cx="2560320" cy="2468880"/>
            <a:chOff x="3383280" y="1371600"/>
            <a:chExt cx="2560320" cy="2468880"/>
          </a:xfrm>
        </p:grpSpPr>
        <p:sp>
          <p:nvSpPr>
            <p:cNvPr id="7" name="stat card 1"/>
            <p:cNvSpPr/>
            <p:nvPr/>
          </p:nvSpPr>
          <p:spPr>
            <a:xfrm>
              <a:off x="3383280" y="1371600"/>
              <a:ext cx="2560320" cy="2468880"/>
            </a:xfrm>
            <a:prstGeom prst="roundRect">
              <a:avLst>
                <a:gd name="adj" fmla="val 4444"/>
              </a:avLst>
            </a:prstGeom>
            <a:solidFill>
              <a:schemeClr val="bg2"/>
            </a:solidFill>
            <a:ln w="12700">
              <a:solidFill>
                <a:schemeClr val="bg2"/>
              </a:solidFill>
              <a:prstDash val="solid"/>
            </a:ln>
            <a:effectLst>
              <a:outerShdw blurRad="101600" dist="25400" dir="5400000" algn="bl" rotWithShape="0">
                <a:srgbClr val="0F1B33">
                  <a:alpha val="12000"/>
                </a:srgbClr>
              </a:outerShdw>
            </a:effectLst>
          </p:spPr>
        </p:sp>
        <p:sp>
          <p:nvSpPr>
            <p:cNvPr id="8" name="Text 5"/>
            <p:cNvSpPr txBox="1"/>
            <p:nvPr/>
          </p:nvSpPr>
          <p:spPr>
            <a:xfrm>
              <a:off x="3611880" y="1645920"/>
              <a:ext cx="2194560" cy="731520"/>
            </a:xfrm>
            <a:prstGeom prst="rect">
              <a:avLst/>
            </a:prstGeom>
            <a:noFill/>
            <a:ln/>
          </p:spPr>
          <p:txBody>
            <a:bodyPr wrap="square" lIns="0" tIns="0" rIns="0" bIns="0" rtlCol="0" anchor="t"/>
            <a:lstStyle/>
            <a:p>
              <a:pPr marL="0" indent="0">
                <a:buNone/>
              </a:pPr>
              <a:r>
                <a:rPr lang="en-US" sz="2200" b="1" dirty="0">
                  <a:solidFill>
                    <a:schemeClr val="accent2"/>
                  </a:solidFill>
                  <a:latin typeface="Cambria" pitchFamily="34" charset="0"/>
                  <a:ea typeface="Cambria" pitchFamily="34" charset="-122"/>
                  <a:cs typeface="Cambria" pitchFamily="34" charset="-120"/>
                </a:rPr>
                <a:t>2 s · 2048 Hz</a:t>
              </a:r>
              <a:endParaRPr lang="en-US" sz="2200" dirty="0"/>
            </a:p>
          </p:txBody>
        </p:sp>
        <p:sp>
          <p:nvSpPr>
            <p:cNvPr id="9" name="Text 6"/>
            <p:cNvSpPr txBox="1"/>
            <p:nvPr/>
          </p:nvSpPr>
          <p:spPr>
            <a:xfrm>
              <a:off x="3611880" y="2514600"/>
              <a:ext cx="2103120" cy="1188720"/>
            </a:xfrm>
            <a:prstGeom prst="rect">
              <a:avLst/>
            </a:prstGeom>
            <a:noFill/>
            <a:ln/>
          </p:spPr>
          <p:txBody>
            <a:bodyPr wrap="square" lIns="0" tIns="0" rIns="0" bIns="0" rtlCol="0" anchor="t"/>
            <a:lstStyle/>
            <a:p>
              <a:pPr marL="0" indent="0">
                <a:buNone/>
              </a:pPr>
              <a:r>
                <a:rPr lang="en-US" sz="1400" dirty="0">
                  <a:solidFill>
                    <a:schemeClr val="tx1"/>
                  </a:solidFill>
                </a:rPr>
                <a:t>strain windows for H1 and L1</a:t>
              </a:r>
              <a:endParaRPr lang="en-US" sz="1400" dirty="0"/>
            </a:p>
          </p:txBody>
        </p:sp>
      </p:grpSp>
      <p:grpSp>
        <p:nvGrpSpPr>
          <p:cNvPr id="21" name="Group 20">
            <a:extLst>
              <a:ext uri="{FF2B5EF4-FFF2-40B4-BE49-F238E27FC236}">
                <a16:creationId xmlns:a16="http://schemas.microsoft.com/office/drawing/2014/main" id="{81DCB692-A161-97A4-75CB-B5EAC69BDC89}"/>
              </a:ext>
            </a:extLst>
          </p:cNvPr>
          <p:cNvGrpSpPr/>
          <p:nvPr/>
        </p:nvGrpSpPr>
        <p:grpSpPr>
          <a:xfrm>
            <a:off x="6217920" y="1371600"/>
            <a:ext cx="2560320" cy="2468880"/>
            <a:chOff x="6217920" y="1371600"/>
            <a:chExt cx="2560320" cy="2468880"/>
          </a:xfrm>
        </p:grpSpPr>
        <p:sp>
          <p:nvSpPr>
            <p:cNvPr id="10" name="stat card 2"/>
            <p:cNvSpPr/>
            <p:nvPr/>
          </p:nvSpPr>
          <p:spPr>
            <a:xfrm>
              <a:off x="6217920" y="1371600"/>
              <a:ext cx="2560320" cy="2468880"/>
            </a:xfrm>
            <a:prstGeom prst="roundRect">
              <a:avLst>
                <a:gd name="adj" fmla="val 4444"/>
              </a:avLst>
            </a:prstGeom>
            <a:solidFill>
              <a:schemeClr val="bg2"/>
            </a:solidFill>
            <a:ln w="12700">
              <a:solidFill>
                <a:schemeClr val="bg2"/>
              </a:solidFill>
              <a:prstDash val="solid"/>
            </a:ln>
            <a:effectLst>
              <a:outerShdw blurRad="101600" dist="25400" dir="5400000" algn="bl" rotWithShape="0">
                <a:srgbClr val="0F1B33">
                  <a:alpha val="12000"/>
                </a:srgbClr>
              </a:outerShdw>
            </a:effectLst>
          </p:spPr>
        </p:sp>
        <p:sp>
          <p:nvSpPr>
            <p:cNvPr id="11" name="Text 8"/>
            <p:cNvSpPr txBox="1"/>
            <p:nvPr/>
          </p:nvSpPr>
          <p:spPr>
            <a:xfrm>
              <a:off x="6446520" y="1645920"/>
              <a:ext cx="2194560" cy="731520"/>
            </a:xfrm>
            <a:prstGeom prst="rect">
              <a:avLst/>
            </a:prstGeom>
            <a:noFill/>
            <a:ln/>
          </p:spPr>
          <p:txBody>
            <a:bodyPr wrap="square" lIns="0" tIns="0" rIns="0" bIns="0" rtlCol="0" anchor="t"/>
            <a:lstStyle/>
            <a:p>
              <a:pPr marL="0" indent="0">
                <a:buNone/>
              </a:pPr>
              <a:r>
                <a:rPr lang="en-US" sz="2200" b="1" dirty="0">
                  <a:solidFill>
                    <a:schemeClr val="accent1"/>
                  </a:solidFill>
                  <a:latin typeface="Cambria" pitchFamily="34" charset="0"/>
                  <a:ea typeface="Cambria" pitchFamily="34" charset="-122"/>
                  <a:cs typeface="Cambria" pitchFamily="34" charset="-120"/>
                </a:rPr>
                <a:t>1.0</a:t>
              </a:r>
              <a:endParaRPr lang="en-US" sz="2200" dirty="0"/>
            </a:p>
          </p:txBody>
        </p:sp>
        <p:sp>
          <p:nvSpPr>
            <p:cNvPr id="12" name="Text 9"/>
            <p:cNvSpPr txBox="1"/>
            <p:nvPr/>
          </p:nvSpPr>
          <p:spPr>
            <a:xfrm>
              <a:off x="6446520" y="2514600"/>
              <a:ext cx="2103120" cy="1188720"/>
            </a:xfrm>
            <a:prstGeom prst="rect">
              <a:avLst/>
            </a:prstGeom>
            <a:noFill/>
            <a:ln/>
          </p:spPr>
          <p:txBody>
            <a:bodyPr wrap="square" lIns="0" tIns="0" rIns="0" bIns="0" rtlCol="0" anchor="t"/>
            <a:lstStyle/>
            <a:p>
              <a:pPr marL="0" indent="0">
                <a:buNone/>
              </a:pPr>
              <a:r>
                <a:rPr lang="en-US" sz="1400" dirty="0">
                  <a:solidFill>
                    <a:schemeClr val="tx1"/>
                  </a:solidFill>
                </a:rPr>
                <a:t>circular loss of a random guess: the chance level for every angle head</a:t>
              </a:r>
              <a:endParaRPr lang="en-US" sz="1400" dirty="0"/>
            </a:p>
          </p:txBody>
        </p:sp>
      </p:grpSp>
      <p:grpSp>
        <p:nvGrpSpPr>
          <p:cNvPr id="22" name="Group 21">
            <a:extLst>
              <a:ext uri="{FF2B5EF4-FFF2-40B4-BE49-F238E27FC236}">
                <a16:creationId xmlns:a16="http://schemas.microsoft.com/office/drawing/2014/main" id="{20ED64AC-E4AF-62E9-4CD2-AB5B047E8862}"/>
              </a:ext>
            </a:extLst>
          </p:cNvPr>
          <p:cNvGrpSpPr/>
          <p:nvPr/>
        </p:nvGrpSpPr>
        <p:grpSpPr>
          <a:xfrm>
            <a:off x="9052560" y="1371600"/>
            <a:ext cx="2560320" cy="2468880"/>
            <a:chOff x="9052560" y="1371600"/>
            <a:chExt cx="2560320" cy="2468880"/>
          </a:xfrm>
        </p:grpSpPr>
        <p:sp>
          <p:nvSpPr>
            <p:cNvPr id="13" name="stat card 3"/>
            <p:cNvSpPr/>
            <p:nvPr/>
          </p:nvSpPr>
          <p:spPr>
            <a:xfrm>
              <a:off x="9052560" y="1371600"/>
              <a:ext cx="2560320" cy="2468880"/>
            </a:xfrm>
            <a:prstGeom prst="roundRect">
              <a:avLst>
                <a:gd name="adj" fmla="val 4444"/>
              </a:avLst>
            </a:prstGeom>
            <a:solidFill>
              <a:schemeClr val="bg2"/>
            </a:solidFill>
            <a:ln w="12700">
              <a:solidFill>
                <a:schemeClr val="bg2"/>
              </a:solidFill>
              <a:prstDash val="solid"/>
            </a:ln>
            <a:effectLst>
              <a:outerShdw blurRad="101600" dist="25400" dir="5400000" algn="bl" rotWithShape="0">
                <a:srgbClr val="0F1B33">
                  <a:alpha val="12000"/>
                </a:srgbClr>
              </a:outerShdw>
            </a:effectLst>
          </p:spPr>
        </p:sp>
        <p:sp>
          <p:nvSpPr>
            <p:cNvPr id="14" name="Text 11"/>
            <p:cNvSpPr txBox="1"/>
            <p:nvPr/>
          </p:nvSpPr>
          <p:spPr>
            <a:xfrm>
              <a:off x="9281160" y="1645920"/>
              <a:ext cx="2194560" cy="731520"/>
            </a:xfrm>
            <a:prstGeom prst="rect">
              <a:avLst/>
            </a:prstGeom>
            <a:noFill/>
            <a:ln/>
          </p:spPr>
          <p:txBody>
            <a:bodyPr wrap="square" lIns="0" tIns="0" rIns="0" bIns="0" rtlCol="0" anchor="t"/>
            <a:lstStyle/>
            <a:p>
              <a:pPr marL="0" indent="0">
                <a:buNone/>
              </a:pPr>
              <a:r>
                <a:rPr lang="en-US" sz="2200" b="1" dirty="0">
                  <a:solidFill>
                    <a:schemeClr val="accent1"/>
                  </a:solidFill>
                  <a:latin typeface="Cambria" pitchFamily="34" charset="0"/>
                  <a:ea typeface="Cambria" pitchFamily="34" charset="-122"/>
                  <a:cs typeface="Cambria" pitchFamily="34" charset="-120"/>
                </a:rPr>
                <a:t>π/2 · π/4</a:t>
              </a:r>
              <a:endParaRPr lang="en-US" sz="2200" dirty="0"/>
            </a:p>
          </p:txBody>
        </p:sp>
        <p:sp>
          <p:nvSpPr>
            <p:cNvPr id="15" name="Text 12"/>
            <p:cNvSpPr txBox="1"/>
            <p:nvPr/>
          </p:nvSpPr>
          <p:spPr>
            <a:xfrm>
              <a:off x="9281160" y="2514600"/>
              <a:ext cx="2103120" cy="1188720"/>
            </a:xfrm>
            <a:prstGeom prst="rect">
              <a:avLst/>
            </a:prstGeom>
            <a:noFill/>
            <a:ln/>
          </p:spPr>
          <p:txBody>
            <a:bodyPr wrap="square" lIns="0" tIns="0" rIns="0" bIns="0" rtlCol="0" anchor="t"/>
            <a:lstStyle/>
            <a:p>
              <a:pPr marL="0" indent="0">
                <a:buNone/>
              </a:pPr>
              <a:r>
                <a:rPr lang="en-US" sz="1400" dirty="0">
                  <a:solidFill>
                    <a:schemeClr val="tx1"/>
                  </a:solidFill>
                </a:rPr>
                <a:t>angular MAE of a constant prediction, for </a:t>
              </a:r>
              <a:r>
                <a:rPr lang="en-US" sz="1400" i="1" dirty="0">
                  <a:solidFill>
                    <a:schemeClr val="tx1"/>
                  </a:solidFill>
                </a:rPr>
                <a:t>φ</a:t>
              </a:r>
              <a:r>
                <a:rPr lang="en-US" sz="1400" baseline="-25000" dirty="0">
                  <a:solidFill>
                    <a:schemeClr val="tx1"/>
                  </a:solidFill>
                </a:rPr>
                <a:t>c</a:t>
              </a:r>
              <a:r>
                <a:rPr lang="en-US" sz="1400" dirty="0">
                  <a:solidFill>
                    <a:schemeClr val="tx1"/>
                  </a:solidFill>
                </a:rPr>
                <a:t> and </a:t>
              </a:r>
              <a:r>
                <a:rPr lang="en-US" sz="1400" i="1" dirty="0">
                  <a:solidFill>
                    <a:schemeClr val="tx1"/>
                  </a:solidFill>
                </a:rPr>
                <a:t>ψ</a:t>
              </a:r>
              <a:r>
                <a:rPr lang="en-US" sz="1400" dirty="0">
                  <a:solidFill>
                    <a:schemeClr val="tx1"/>
                  </a:solidFill>
                </a:rPr>
                <a:t> respectively</a:t>
              </a:r>
              <a:endParaRPr lang="en-US" sz="1400" dirty="0"/>
            </a:p>
          </p:txBody>
        </p:sp>
      </p:grpSp>
      <p:grpSp>
        <p:nvGrpSpPr>
          <p:cNvPr id="23" name="Group 22">
            <a:extLst>
              <a:ext uri="{FF2B5EF4-FFF2-40B4-BE49-F238E27FC236}">
                <a16:creationId xmlns:a16="http://schemas.microsoft.com/office/drawing/2014/main" id="{221B2B50-95EF-B3E3-FDAF-528AD9BC565D}"/>
              </a:ext>
            </a:extLst>
          </p:cNvPr>
          <p:cNvGrpSpPr/>
          <p:nvPr/>
        </p:nvGrpSpPr>
        <p:grpSpPr>
          <a:xfrm>
            <a:off x="548640" y="4846320"/>
            <a:ext cx="11064240" cy="1325880"/>
            <a:chOff x="548640" y="4846320"/>
            <a:chExt cx="11064240" cy="1325880"/>
          </a:xfrm>
        </p:grpSpPr>
        <p:sp>
          <p:nvSpPr>
            <p:cNvPr id="17" name="positive controls"/>
            <p:cNvSpPr/>
            <p:nvPr/>
          </p:nvSpPr>
          <p:spPr>
            <a:xfrm>
              <a:off x="548640" y="4846320"/>
              <a:ext cx="11064240" cy="1325880"/>
            </a:xfrm>
            <a:prstGeom prst="roundRect">
              <a:avLst>
                <a:gd name="adj" fmla="val 8276"/>
              </a:avLst>
            </a:prstGeom>
            <a:solidFill>
              <a:schemeClr val="tx2"/>
            </a:solidFill>
            <a:ln w="12700">
              <a:solidFill>
                <a:schemeClr val="tx2"/>
              </a:solidFill>
              <a:prstDash val="solid"/>
            </a:ln>
            <a:effectLst>
              <a:outerShdw blurRad="101600" dist="25400" dir="5400000" algn="bl" rotWithShape="0">
                <a:srgbClr val="0F1B33">
                  <a:alpha val="12000"/>
                </a:srgbClr>
              </a:outerShdw>
            </a:effectLst>
          </p:spPr>
        </p:sp>
        <p:sp>
          <p:nvSpPr>
            <p:cNvPr id="18" name="Text 15"/>
            <p:cNvSpPr txBox="1"/>
            <p:nvPr/>
          </p:nvSpPr>
          <p:spPr>
            <a:xfrm>
              <a:off x="914400" y="5029200"/>
              <a:ext cx="3657600" cy="320040"/>
            </a:xfrm>
            <a:prstGeom prst="rect">
              <a:avLst/>
            </a:prstGeom>
            <a:noFill/>
            <a:ln/>
          </p:spPr>
          <p:txBody>
            <a:bodyPr wrap="square" lIns="0" tIns="0" rIns="0" bIns="0" rtlCol="0" anchor="t"/>
            <a:lstStyle/>
            <a:p>
              <a:pPr marL="0" indent="0">
                <a:buNone/>
              </a:pPr>
              <a:r>
                <a:rPr lang="en-US" sz="1400" b="1" dirty="0">
                  <a:solidFill>
                    <a:schemeClr val="accent1"/>
                  </a:solidFill>
                </a:rPr>
                <a:t>POSITIVE CONTROLS</a:t>
              </a:r>
              <a:endParaRPr lang="en-US" sz="1400" dirty="0"/>
            </a:p>
          </p:txBody>
        </p:sp>
        <p:sp>
          <p:nvSpPr>
            <p:cNvPr id="19" name="Text 16"/>
            <p:cNvSpPr txBox="1"/>
            <p:nvPr/>
          </p:nvSpPr>
          <p:spPr>
            <a:xfrm>
              <a:off x="914400" y="5394960"/>
              <a:ext cx="10332720" cy="731520"/>
            </a:xfrm>
            <a:prstGeom prst="rect">
              <a:avLst/>
            </a:prstGeom>
            <a:noFill/>
            <a:ln/>
          </p:spPr>
          <p:txBody>
            <a:bodyPr wrap="square" lIns="0" tIns="0" rIns="0" bIns="0" rtlCol="0" anchor="t"/>
            <a:lstStyle/>
            <a:p>
              <a:pPr marL="0" indent="0">
                <a:buNone/>
              </a:pPr>
              <a:r>
                <a:rPr lang="en-US" sz="1600" dirty="0">
                  <a:solidFill>
                    <a:schemeClr val="bg1"/>
                  </a:solidFill>
                </a:rPr>
                <a:t>Chirp mass, merger time and SNR must be recovered by the same shared features. If they are, a failure on </a:t>
              </a:r>
              <a:r>
                <a:rPr lang="en-US" sz="1600" i="1" dirty="0">
                  <a:solidFill>
                    <a:schemeClr val="bg1"/>
                  </a:solidFill>
                </a:rPr>
                <a:t>φ</a:t>
              </a:r>
              <a:r>
                <a:rPr lang="en-US" sz="1600" baseline="-25000" dirty="0">
                  <a:solidFill>
                    <a:schemeClr val="bg1"/>
                  </a:solidFill>
                </a:rPr>
                <a:t>c</a:t>
              </a:r>
              <a:r>
                <a:rPr lang="en-US" sz="1600" dirty="0">
                  <a:solidFill>
                    <a:schemeClr val="bg1"/>
                  </a:solidFill>
                </a:rPr>
                <a:t> and </a:t>
              </a:r>
              <a:r>
                <a:rPr lang="en-US" sz="1600" i="1" dirty="0">
                  <a:solidFill>
                    <a:schemeClr val="bg1"/>
                  </a:solidFill>
                </a:rPr>
                <a:t>ψ</a:t>
              </a:r>
              <a:r>
                <a:rPr lang="en-US" sz="1600" dirty="0">
                  <a:solidFill>
                    <a:schemeClr val="bg1"/>
                  </a:solidFill>
                </a:rPr>
                <a:t> is a statement about those angles, not about the pipeline.</a:t>
              </a:r>
              <a:endParaRPr lang="en-US" sz="1600" dirty="0"/>
            </a:p>
          </p:txBody>
        </p:sp>
      </p:gr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100">
                <a:solidFill>
                  <a:srgbClr val="55627A"/>
                </a:solidFill>
              </a:defRPr>
            </a:lvl1pPr>
          </a:lstStyle>
          <a:p>
            <a:pPr algn="r"/>
            <a:fld id="{F7021451-1387-4CA6-816F-3879F97B5CBC}" type="slidenum">
              <a:rPr lang="en-US" b="0"/>
              <a:t>5</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cBhvr additive="base">
                                        <p:cTn id="7" dur="500" fill="hold"/>
                                        <p:tgtEl>
                                          <p:spTgt spid="2"/>
                                        </p:tgtEl>
                                        <p:attrNameLst>
                                          <p:attrName>ppt_x</p:attrName>
                                        </p:attrNameLst>
                                      </p:cBhvr>
                                      <p:tavLst>
                                        <p:tav tm="0">
                                          <p:val>
                                            <p:strVal val="#ppt_x"/>
                                          </p:val>
                                        </p:tav>
                                        <p:tav tm="100000">
                                          <p:val>
                                            <p:strVal val="#ppt_x"/>
                                          </p:val>
                                        </p:tav>
                                      </p:tavLst>
                                    </p:anim>
                                    <p:anim calcmode="lin" valueType="num">
                                      <p:cBhvr additive="base">
                                        <p:cTn id="8" dur="500" fill="hold"/>
                                        <p:tgtEl>
                                          <p:spTgt spid="2"/>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nodeType="clickEffect">
                                  <p:stCondLst>
                                    <p:cond delay="0"/>
                                  </p:stCondLst>
                                  <p:childTnLst>
                                    <p:set>
                                      <p:cBhvr>
                                        <p:cTn id="12" dur="1" fill="hold">
                                          <p:stCondLst>
                                            <p:cond delay="0"/>
                                          </p:stCondLst>
                                        </p:cTn>
                                        <p:tgtEl>
                                          <p:spTgt spid="20"/>
                                        </p:tgtEl>
                                        <p:attrNameLst>
                                          <p:attrName>style.visibility</p:attrName>
                                        </p:attrNameLst>
                                      </p:cBhvr>
                                      <p:to>
                                        <p:strVal val="visible"/>
                                      </p:to>
                                    </p:set>
                                    <p:anim calcmode="lin" valueType="num">
                                      <p:cBhvr additive="base">
                                        <p:cTn id="13" dur="500" fill="hold"/>
                                        <p:tgtEl>
                                          <p:spTgt spid="20"/>
                                        </p:tgtEl>
                                        <p:attrNameLst>
                                          <p:attrName>ppt_x</p:attrName>
                                        </p:attrNameLst>
                                      </p:cBhvr>
                                      <p:tavLst>
                                        <p:tav tm="0">
                                          <p:val>
                                            <p:strVal val="#ppt_x"/>
                                          </p:val>
                                        </p:tav>
                                        <p:tav tm="100000">
                                          <p:val>
                                            <p:strVal val="#ppt_x"/>
                                          </p:val>
                                        </p:tav>
                                      </p:tavLst>
                                    </p:anim>
                                    <p:anim calcmode="lin" valueType="num">
                                      <p:cBhvr additive="base">
                                        <p:cTn id="14" dur="500" fill="hold"/>
                                        <p:tgtEl>
                                          <p:spTgt spid="20"/>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nodeType="clickEffect">
                                  <p:stCondLst>
                                    <p:cond delay="0"/>
                                  </p:stCondLst>
                                  <p:childTnLst>
                                    <p:set>
                                      <p:cBhvr>
                                        <p:cTn id="18" dur="1" fill="hold">
                                          <p:stCondLst>
                                            <p:cond delay="0"/>
                                          </p:stCondLst>
                                        </p:cTn>
                                        <p:tgtEl>
                                          <p:spTgt spid="21"/>
                                        </p:tgtEl>
                                        <p:attrNameLst>
                                          <p:attrName>style.visibility</p:attrName>
                                        </p:attrNameLst>
                                      </p:cBhvr>
                                      <p:to>
                                        <p:strVal val="visible"/>
                                      </p:to>
                                    </p:set>
                                    <p:anim calcmode="lin" valueType="num">
                                      <p:cBhvr additive="base">
                                        <p:cTn id="19" dur="500" fill="hold"/>
                                        <p:tgtEl>
                                          <p:spTgt spid="21"/>
                                        </p:tgtEl>
                                        <p:attrNameLst>
                                          <p:attrName>ppt_x</p:attrName>
                                        </p:attrNameLst>
                                      </p:cBhvr>
                                      <p:tavLst>
                                        <p:tav tm="0">
                                          <p:val>
                                            <p:strVal val="#ppt_x"/>
                                          </p:val>
                                        </p:tav>
                                        <p:tav tm="100000">
                                          <p:val>
                                            <p:strVal val="#ppt_x"/>
                                          </p:val>
                                        </p:tav>
                                      </p:tavLst>
                                    </p:anim>
                                    <p:anim calcmode="lin" valueType="num">
                                      <p:cBhvr additive="base">
                                        <p:cTn id="20" dur="500" fill="hold"/>
                                        <p:tgtEl>
                                          <p:spTgt spid="21"/>
                                        </p:tgtEl>
                                        <p:attrNameLst>
                                          <p:attrName>ppt_y</p:attrName>
                                        </p:attrNameLst>
                                      </p:cBhvr>
                                      <p:tavLst>
                                        <p:tav tm="0">
                                          <p:val>
                                            <p:strVal val="1+#ppt_h/2"/>
                                          </p:val>
                                        </p:tav>
                                        <p:tav tm="100000">
                                          <p:val>
                                            <p:strVal val="#ppt_y"/>
                                          </p:val>
                                        </p:tav>
                                      </p:tavLst>
                                    </p:anim>
                                  </p:childTnLst>
                                </p:cTn>
                              </p:par>
                            </p:childTnLst>
                          </p:cTn>
                        </p:par>
                      </p:childTnLst>
                    </p:cTn>
                  </p:par>
                  <p:par>
                    <p:cTn id="21" fill="hold">
                      <p:stCondLst>
                        <p:cond delay="indefinite"/>
                      </p:stCondLst>
                      <p:childTnLst>
                        <p:par>
                          <p:cTn id="22" fill="hold">
                            <p:stCondLst>
                              <p:cond delay="0"/>
                            </p:stCondLst>
                            <p:childTnLst>
                              <p:par>
                                <p:cTn id="23" presetID="2" presetClass="entr" presetSubtype="4" fill="hold" nodeType="clickEffect">
                                  <p:stCondLst>
                                    <p:cond delay="0"/>
                                  </p:stCondLst>
                                  <p:childTnLst>
                                    <p:set>
                                      <p:cBhvr>
                                        <p:cTn id="24" dur="1" fill="hold">
                                          <p:stCondLst>
                                            <p:cond delay="0"/>
                                          </p:stCondLst>
                                        </p:cTn>
                                        <p:tgtEl>
                                          <p:spTgt spid="22"/>
                                        </p:tgtEl>
                                        <p:attrNameLst>
                                          <p:attrName>style.visibility</p:attrName>
                                        </p:attrNameLst>
                                      </p:cBhvr>
                                      <p:to>
                                        <p:strVal val="visible"/>
                                      </p:to>
                                    </p:set>
                                    <p:anim calcmode="lin" valueType="num">
                                      <p:cBhvr additive="base">
                                        <p:cTn id="25" dur="500" fill="hold"/>
                                        <p:tgtEl>
                                          <p:spTgt spid="22"/>
                                        </p:tgtEl>
                                        <p:attrNameLst>
                                          <p:attrName>ppt_x</p:attrName>
                                        </p:attrNameLst>
                                      </p:cBhvr>
                                      <p:tavLst>
                                        <p:tav tm="0">
                                          <p:val>
                                            <p:strVal val="#ppt_x"/>
                                          </p:val>
                                        </p:tav>
                                        <p:tav tm="100000">
                                          <p:val>
                                            <p:strVal val="#ppt_x"/>
                                          </p:val>
                                        </p:tav>
                                      </p:tavLst>
                                    </p:anim>
                                    <p:anim calcmode="lin" valueType="num">
                                      <p:cBhvr additive="base">
                                        <p:cTn id="26" dur="500" fill="hold"/>
                                        <p:tgtEl>
                                          <p:spTgt spid="22"/>
                                        </p:tgtEl>
                                        <p:attrNameLst>
                                          <p:attrName>ppt_y</p:attrName>
                                        </p:attrNameLst>
                                      </p:cBhvr>
                                      <p:tavLst>
                                        <p:tav tm="0">
                                          <p:val>
                                            <p:strVal val="1+#ppt_h/2"/>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9" presetID="2" presetClass="entr" presetSubtype="4" fill="hold" nodeType="clickEffect">
                                  <p:stCondLst>
                                    <p:cond delay="0"/>
                                  </p:stCondLst>
                                  <p:childTnLst>
                                    <p:set>
                                      <p:cBhvr>
                                        <p:cTn id="30" dur="1" fill="hold">
                                          <p:stCondLst>
                                            <p:cond delay="0"/>
                                          </p:stCondLst>
                                        </p:cTn>
                                        <p:tgtEl>
                                          <p:spTgt spid="23"/>
                                        </p:tgtEl>
                                        <p:attrNameLst>
                                          <p:attrName>style.visibility</p:attrName>
                                        </p:attrNameLst>
                                      </p:cBhvr>
                                      <p:to>
                                        <p:strVal val="visible"/>
                                      </p:to>
                                    </p:set>
                                    <p:anim calcmode="lin" valueType="num">
                                      <p:cBhvr additive="base">
                                        <p:cTn id="31" dur="500" fill="hold"/>
                                        <p:tgtEl>
                                          <p:spTgt spid="23"/>
                                        </p:tgtEl>
                                        <p:attrNameLst>
                                          <p:attrName>ppt_x</p:attrName>
                                        </p:attrNameLst>
                                      </p:cBhvr>
                                      <p:tavLst>
                                        <p:tav tm="0">
                                          <p:val>
                                            <p:strVal val="#ppt_x"/>
                                          </p:val>
                                        </p:tav>
                                        <p:tav tm="100000">
                                          <p:val>
                                            <p:strVal val="#ppt_x"/>
                                          </p:val>
                                        </p:tav>
                                      </p:tavLst>
                                    </p:anim>
                                    <p:anim calcmode="lin" valueType="num">
                                      <p:cBhvr additive="base">
                                        <p:cTn id="32" dur="500" fill="hold"/>
                                        <p:tgtEl>
                                          <p:spTgt spid="23"/>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ext 0"/>
          <p:cNvSpPr>
            <a:spLocks noGrp="1"/>
          </p:cNvSpPr>
          <p:nvPr>
            <p:ph type="title" idx="100" hasCustomPrompt="1"/>
          </p:nvPr>
        </p:nvSpPr>
        <p:spPr>
          <a:xfrm>
            <a:off x="548640" y="365760"/>
            <a:ext cx="11064240" cy="777240"/>
          </a:xfrm>
          <a:prstGeom prst="rect">
            <a:avLst/>
          </a:prstGeom>
          <a:noFill/>
          <a:ln/>
        </p:spPr>
        <p:txBody>
          <a:bodyPr wrap="square" lIns="0" tIns="0" rIns="0" bIns="0" rtlCol="0" anchor="t"/>
          <a:lstStyle/>
          <a:p>
            <a:pPr marL="0" indent="0" algn="l">
              <a:buNone/>
            </a:pPr>
            <a:r>
              <a:rPr lang="en-US" sz="3600" b="1" dirty="0">
                <a:solidFill>
                  <a:schemeClr val="tx1"/>
                </a:solidFill>
              </a:rPr>
              <a:t>From five trunks to four models</a:t>
            </a:r>
            <a:endParaRPr lang="en-US" sz="3600" dirty="0"/>
          </a:p>
        </p:txBody>
      </p:sp>
      <p:grpSp>
        <p:nvGrpSpPr>
          <p:cNvPr id="2" name="Group 1">
            <a:extLst>
              <a:ext uri="{FF2B5EF4-FFF2-40B4-BE49-F238E27FC236}">
                <a16:creationId xmlns:a16="http://schemas.microsoft.com/office/drawing/2014/main" id="{6D653ECA-7230-1327-49F8-A702C58EB32B}"/>
              </a:ext>
            </a:extLst>
          </p:cNvPr>
          <p:cNvGrpSpPr/>
          <p:nvPr/>
        </p:nvGrpSpPr>
        <p:grpSpPr>
          <a:xfrm>
            <a:off x="548640" y="1371600"/>
            <a:ext cx="3383280" cy="2286000"/>
            <a:chOff x="548640" y="1371600"/>
            <a:chExt cx="3383280" cy="2286000"/>
          </a:xfrm>
        </p:grpSpPr>
        <p:sp>
          <p:nvSpPr>
            <p:cNvPr id="4" name="flow box 0"/>
            <p:cNvSpPr/>
            <p:nvPr/>
          </p:nvSpPr>
          <p:spPr>
            <a:xfrm>
              <a:off x="548640" y="1371600"/>
              <a:ext cx="3383280" cy="2286000"/>
            </a:xfrm>
            <a:prstGeom prst="roundRect">
              <a:avLst>
                <a:gd name="adj" fmla="val 4800"/>
              </a:avLst>
            </a:prstGeom>
            <a:solidFill>
              <a:schemeClr val="bg2"/>
            </a:solidFill>
            <a:ln w="12700">
              <a:solidFill>
                <a:schemeClr val="bg2"/>
              </a:solidFill>
              <a:prstDash val="solid"/>
            </a:ln>
            <a:effectLst>
              <a:outerShdw blurRad="101600" dist="25400" dir="5400000" algn="bl" rotWithShape="0">
                <a:srgbClr val="0F1B33">
                  <a:alpha val="12000"/>
                </a:srgbClr>
              </a:outerShdw>
            </a:effectLst>
          </p:spPr>
        </p:sp>
        <p:sp>
          <p:nvSpPr>
            <p:cNvPr id="5" name="Text 2"/>
            <p:cNvSpPr txBox="1"/>
            <p:nvPr/>
          </p:nvSpPr>
          <p:spPr>
            <a:xfrm>
              <a:off x="822960" y="1600200"/>
              <a:ext cx="2834640" cy="320040"/>
            </a:xfrm>
            <a:prstGeom prst="rect">
              <a:avLst/>
            </a:prstGeom>
            <a:noFill/>
            <a:ln/>
          </p:spPr>
          <p:txBody>
            <a:bodyPr wrap="square" lIns="0" tIns="0" rIns="0" bIns="0" rtlCol="0" anchor="t"/>
            <a:lstStyle/>
            <a:p>
              <a:pPr marL="0" indent="0">
                <a:buNone/>
              </a:pPr>
              <a:r>
                <a:rPr lang="en-US" sz="1400" b="1" dirty="0">
                  <a:solidFill>
                    <a:schemeClr val="accent5"/>
                  </a:solidFill>
                </a:rPr>
                <a:t>ROUND 1 SCREEN</a:t>
              </a:r>
              <a:endParaRPr lang="en-US" sz="1400" dirty="0"/>
            </a:p>
          </p:txBody>
        </p:sp>
        <p:sp>
          <p:nvSpPr>
            <p:cNvPr id="6" name="Text 3"/>
            <p:cNvSpPr txBox="1"/>
            <p:nvPr/>
          </p:nvSpPr>
          <p:spPr>
            <a:xfrm>
              <a:off x="822960" y="1965960"/>
              <a:ext cx="2834640" cy="457200"/>
            </a:xfrm>
            <a:prstGeom prst="rect">
              <a:avLst/>
            </a:prstGeom>
            <a:noFill/>
            <a:ln/>
          </p:spPr>
          <p:txBody>
            <a:bodyPr wrap="square" lIns="0" tIns="0" rIns="0" bIns="0" rtlCol="0" anchor="t"/>
            <a:lstStyle/>
            <a:p>
              <a:pPr marL="0" indent="0">
                <a:buNone/>
              </a:pPr>
              <a:r>
                <a:rPr lang="en-US" sz="1800" b="1" dirty="0">
                  <a:solidFill>
                    <a:schemeClr val="tx1"/>
                  </a:solidFill>
                  <a:latin typeface="Cambria" pitchFamily="34" charset="0"/>
                  <a:ea typeface="Cambria" pitchFamily="34" charset="-122"/>
                  <a:cs typeface="Cambria" pitchFamily="34" charset="-120"/>
                </a:rPr>
                <a:t>5 trunks, 7 configs</a:t>
              </a:r>
              <a:endParaRPr lang="en-US" sz="1800" dirty="0"/>
            </a:p>
          </p:txBody>
        </p:sp>
        <p:sp>
          <p:nvSpPr>
            <p:cNvPr id="7" name="Text 4"/>
            <p:cNvSpPr txBox="1"/>
            <p:nvPr/>
          </p:nvSpPr>
          <p:spPr>
            <a:xfrm>
              <a:off x="822960" y="2468880"/>
              <a:ext cx="2834640" cy="1097280"/>
            </a:xfrm>
            <a:prstGeom prst="rect">
              <a:avLst/>
            </a:prstGeom>
            <a:noFill/>
            <a:ln/>
          </p:spPr>
          <p:txBody>
            <a:bodyPr wrap="square" lIns="0" tIns="0" rIns="0" bIns="0" rtlCol="0" anchor="t"/>
            <a:lstStyle/>
            <a:p>
              <a:pPr marL="0" indent="0">
                <a:buNone/>
              </a:pPr>
              <a:r>
                <a:rPr lang="en-US" sz="1400" dirty="0">
                  <a:solidFill>
                    <a:schemeClr val="tx1"/>
                  </a:solidFill>
                </a:rPr>
                <a:t>TCN, plain CNN, conv-transformer, InceptionTime, ResNet. All sat at chance on </a:t>
              </a:r>
              <a:r>
                <a:rPr lang="en-US" sz="1400" i="1" dirty="0">
                  <a:solidFill>
                    <a:schemeClr val="tx1"/>
                  </a:solidFill>
                </a:rPr>
                <a:t>φ</a:t>
              </a:r>
              <a:r>
                <a:rPr lang="en-US" sz="1400" baseline="-25000" dirty="0">
                  <a:solidFill>
                    <a:schemeClr val="tx1"/>
                  </a:solidFill>
                </a:rPr>
                <a:t>c</a:t>
              </a:r>
              <a:r>
                <a:rPr lang="en-US" sz="1400" dirty="0">
                  <a:solidFill>
                    <a:schemeClr val="tx1"/>
                  </a:solidFill>
                </a:rPr>
                <a:t> and </a:t>
              </a:r>
              <a:r>
                <a:rPr lang="en-US" sz="1400" i="1" dirty="0">
                  <a:solidFill>
                    <a:schemeClr val="tx1"/>
                  </a:solidFill>
                </a:rPr>
                <a:t>ψ</a:t>
              </a:r>
              <a:r>
                <a:rPr lang="en-US" sz="1400" dirty="0">
                  <a:solidFill>
                    <a:schemeClr val="tx1"/>
                  </a:solidFill>
                </a:rPr>
                <a:t>, so the screen could not discriminate.</a:t>
              </a:r>
              <a:endParaRPr lang="en-US" sz="1400" dirty="0"/>
            </a:p>
          </p:txBody>
        </p:sp>
      </p:grpSp>
      <p:sp>
        <p:nvSpPr>
          <p:cNvPr id="8" name="flow arrow 0"/>
          <p:cNvSpPr/>
          <p:nvPr/>
        </p:nvSpPr>
        <p:spPr>
          <a:xfrm>
            <a:off x="4005072" y="2286000"/>
            <a:ext cx="310896" cy="457200"/>
          </a:xfrm>
          <a:prstGeom prst="rightArrow">
            <a:avLst/>
          </a:prstGeom>
          <a:solidFill>
            <a:schemeClr val="accent1"/>
          </a:solidFill>
          <a:ln w="12700">
            <a:solidFill>
              <a:schemeClr val="accent1"/>
            </a:solidFill>
            <a:prstDash val="solid"/>
          </a:ln>
        </p:spPr>
      </p:sp>
      <p:grpSp>
        <p:nvGrpSpPr>
          <p:cNvPr id="24" name="Group 23">
            <a:extLst>
              <a:ext uri="{FF2B5EF4-FFF2-40B4-BE49-F238E27FC236}">
                <a16:creationId xmlns:a16="http://schemas.microsoft.com/office/drawing/2014/main" id="{A0E6C35A-0CB3-F872-F535-674569A93FC3}"/>
              </a:ext>
            </a:extLst>
          </p:cNvPr>
          <p:cNvGrpSpPr/>
          <p:nvPr/>
        </p:nvGrpSpPr>
        <p:grpSpPr>
          <a:xfrm>
            <a:off x="4389120" y="1371600"/>
            <a:ext cx="3383280" cy="2286000"/>
            <a:chOff x="4389120" y="1371600"/>
            <a:chExt cx="3383280" cy="2286000"/>
          </a:xfrm>
        </p:grpSpPr>
        <p:sp>
          <p:nvSpPr>
            <p:cNvPr id="9" name="flow box 1"/>
            <p:cNvSpPr/>
            <p:nvPr/>
          </p:nvSpPr>
          <p:spPr>
            <a:xfrm>
              <a:off x="4389120" y="1371600"/>
              <a:ext cx="3383280" cy="2286000"/>
            </a:xfrm>
            <a:prstGeom prst="roundRect">
              <a:avLst>
                <a:gd name="adj" fmla="val 4800"/>
              </a:avLst>
            </a:prstGeom>
            <a:solidFill>
              <a:schemeClr val="bg2"/>
            </a:solidFill>
            <a:ln w="12700">
              <a:solidFill>
                <a:schemeClr val="bg2"/>
              </a:solidFill>
              <a:prstDash val="solid"/>
            </a:ln>
            <a:effectLst>
              <a:outerShdw blurRad="101600" dist="25400" dir="5400000" algn="bl" rotWithShape="0">
                <a:srgbClr val="0F1B33">
                  <a:alpha val="12000"/>
                </a:srgbClr>
              </a:outerShdw>
            </a:effectLst>
          </p:spPr>
        </p:sp>
        <p:sp>
          <p:nvSpPr>
            <p:cNvPr id="10" name="Text 7"/>
            <p:cNvSpPr txBox="1"/>
            <p:nvPr/>
          </p:nvSpPr>
          <p:spPr>
            <a:xfrm>
              <a:off x="4663440" y="1600200"/>
              <a:ext cx="2834640" cy="320040"/>
            </a:xfrm>
            <a:prstGeom prst="rect">
              <a:avLst/>
            </a:prstGeom>
            <a:noFill/>
            <a:ln/>
          </p:spPr>
          <p:txBody>
            <a:bodyPr wrap="square" lIns="0" tIns="0" rIns="0" bIns="0" rtlCol="0" anchor="t"/>
            <a:lstStyle/>
            <a:p>
              <a:pPr marL="0" indent="0">
                <a:buNone/>
              </a:pPr>
              <a:r>
                <a:rPr lang="en-US" sz="1400" b="1" dirty="0">
                  <a:solidFill>
                    <a:schemeClr val="accent5"/>
                  </a:solidFill>
                </a:rPr>
                <a:t>DOWN-SELECT</a:t>
              </a:r>
              <a:endParaRPr lang="en-US" sz="1400" dirty="0"/>
            </a:p>
          </p:txBody>
        </p:sp>
        <p:sp>
          <p:nvSpPr>
            <p:cNvPr id="11" name="Text 8"/>
            <p:cNvSpPr txBox="1"/>
            <p:nvPr/>
          </p:nvSpPr>
          <p:spPr>
            <a:xfrm>
              <a:off x="4663440" y="1965960"/>
              <a:ext cx="2834640" cy="457200"/>
            </a:xfrm>
            <a:prstGeom prst="rect">
              <a:avLst/>
            </a:prstGeom>
            <a:noFill/>
            <a:ln/>
          </p:spPr>
          <p:txBody>
            <a:bodyPr wrap="square" lIns="0" tIns="0" rIns="0" bIns="0" rtlCol="0" anchor="t"/>
            <a:lstStyle/>
            <a:p>
              <a:pPr marL="0" indent="0">
                <a:buNone/>
              </a:pPr>
              <a:r>
                <a:rPr lang="en-US" sz="1800" b="1" dirty="0">
                  <a:solidFill>
                    <a:schemeClr val="tx1"/>
                  </a:solidFill>
                  <a:latin typeface="Cambria" pitchFamily="34" charset="0"/>
                  <a:ea typeface="Cambria" pitchFamily="34" charset="-122"/>
                  <a:cs typeface="Cambria" pitchFamily="34" charset="-120"/>
                </a:rPr>
                <a:t>Positive-control </a:t>
              </a:r>
              <a:r>
                <a:rPr lang="en-US" sz="1800" b="1" i="1" dirty="0">
                  <a:solidFill>
                    <a:schemeClr val="tx1"/>
                  </a:solidFill>
                  <a:latin typeface="Cambria" pitchFamily="34" charset="0"/>
                  <a:ea typeface="Cambria" pitchFamily="34" charset="-122"/>
                  <a:cs typeface="Cambria" pitchFamily="34" charset="-120"/>
                </a:rPr>
                <a:t>R</a:t>
              </a:r>
              <a:r>
                <a:rPr lang="en-US" sz="1800" b="1" baseline="30000" dirty="0">
                  <a:solidFill>
                    <a:schemeClr val="tx1"/>
                  </a:solidFill>
                  <a:latin typeface="Cambria" pitchFamily="34" charset="0"/>
                  <a:ea typeface="Cambria" pitchFamily="34" charset="-122"/>
                  <a:cs typeface="Cambria" pitchFamily="34" charset="-120"/>
                </a:rPr>
                <a:t>2</a:t>
              </a:r>
              <a:endParaRPr lang="en-US" sz="1800" dirty="0"/>
            </a:p>
          </p:txBody>
        </p:sp>
        <p:sp>
          <p:nvSpPr>
            <p:cNvPr id="12" name="Text 9"/>
            <p:cNvSpPr txBox="1"/>
            <p:nvPr/>
          </p:nvSpPr>
          <p:spPr>
            <a:xfrm>
              <a:off x="4663440" y="2468880"/>
              <a:ext cx="2834640" cy="1097280"/>
            </a:xfrm>
            <a:prstGeom prst="rect">
              <a:avLst/>
            </a:prstGeom>
            <a:noFill/>
            <a:ln/>
          </p:spPr>
          <p:txBody>
            <a:bodyPr wrap="square" lIns="0" tIns="0" rIns="0" bIns="0" rtlCol="0" anchor="t"/>
            <a:lstStyle/>
            <a:p>
              <a:pPr marL="0" indent="0">
                <a:buNone/>
              </a:pPr>
              <a:r>
                <a:rPr lang="en-US" sz="1400" dirty="0">
                  <a:solidFill>
                    <a:schemeClr val="tx1"/>
                  </a:solidFill>
                </a:rPr>
                <a:t>Chirp mass, merger time and SNR. No numeric threshold was used.</a:t>
              </a:r>
              <a:endParaRPr lang="en-US" sz="1400" dirty="0"/>
            </a:p>
          </p:txBody>
        </p:sp>
      </p:grpSp>
      <p:sp>
        <p:nvSpPr>
          <p:cNvPr id="13" name="flow arrow 1"/>
          <p:cNvSpPr/>
          <p:nvPr/>
        </p:nvSpPr>
        <p:spPr>
          <a:xfrm>
            <a:off x="7845552" y="2286000"/>
            <a:ext cx="310896" cy="457200"/>
          </a:xfrm>
          <a:prstGeom prst="rightArrow">
            <a:avLst/>
          </a:prstGeom>
          <a:solidFill>
            <a:schemeClr val="accent1"/>
          </a:solidFill>
          <a:ln w="12700">
            <a:solidFill>
              <a:schemeClr val="accent1"/>
            </a:solidFill>
            <a:prstDash val="solid"/>
          </a:ln>
        </p:spPr>
      </p:sp>
      <p:grpSp>
        <p:nvGrpSpPr>
          <p:cNvPr id="26" name="Group 25">
            <a:extLst>
              <a:ext uri="{FF2B5EF4-FFF2-40B4-BE49-F238E27FC236}">
                <a16:creationId xmlns:a16="http://schemas.microsoft.com/office/drawing/2014/main" id="{9C52877D-C6FB-1ACB-38A6-8E364C81D4FE}"/>
              </a:ext>
            </a:extLst>
          </p:cNvPr>
          <p:cNvGrpSpPr/>
          <p:nvPr/>
        </p:nvGrpSpPr>
        <p:grpSpPr>
          <a:xfrm>
            <a:off x="8229600" y="1371600"/>
            <a:ext cx="3383280" cy="2286000"/>
            <a:chOff x="8229600" y="1371600"/>
            <a:chExt cx="3383280" cy="2286000"/>
          </a:xfrm>
        </p:grpSpPr>
        <p:sp>
          <p:nvSpPr>
            <p:cNvPr id="14" name="flow box 2"/>
            <p:cNvSpPr/>
            <p:nvPr/>
          </p:nvSpPr>
          <p:spPr>
            <a:xfrm>
              <a:off x="8229600" y="1371600"/>
              <a:ext cx="3383280" cy="2286000"/>
            </a:xfrm>
            <a:prstGeom prst="roundRect">
              <a:avLst>
                <a:gd name="adj" fmla="val 4800"/>
              </a:avLst>
            </a:prstGeom>
            <a:solidFill>
              <a:schemeClr val="tx2"/>
            </a:solidFill>
            <a:ln w="12700">
              <a:solidFill>
                <a:schemeClr val="tx2"/>
              </a:solidFill>
              <a:prstDash val="solid"/>
            </a:ln>
            <a:effectLst>
              <a:outerShdw blurRad="101600" dist="25400" dir="5400000" algn="bl" rotWithShape="0">
                <a:srgbClr val="0F1B33">
                  <a:alpha val="12000"/>
                </a:srgbClr>
              </a:outerShdw>
            </a:effectLst>
          </p:spPr>
        </p:sp>
        <p:sp>
          <p:nvSpPr>
            <p:cNvPr id="15" name="Text 12"/>
            <p:cNvSpPr txBox="1"/>
            <p:nvPr/>
          </p:nvSpPr>
          <p:spPr>
            <a:xfrm>
              <a:off x="8503920" y="1600200"/>
              <a:ext cx="2834640" cy="320040"/>
            </a:xfrm>
            <a:prstGeom prst="rect">
              <a:avLst/>
            </a:prstGeom>
            <a:noFill/>
            <a:ln/>
          </p:spPr>
          <p:txBody>
            <a:bodyPr wrap="square" lIns="0" tIns="0" rIns="0" bIns="0" rtlCol="0" anchor="t"/>
            <a:lstStyle/>
            <a:p>
              <a:pPr marL="0" indent="0">
                <a:buNone/>
              </a:pPr>
              <a:r>
                <a:rPr lang="en-US" sz="1400" b="1" dirty="0">
                  <a:solidFill>
                    <a:schemeClr val="accent1"/>
                  </a:solidFill>
                </a:rPr>
                <a:t>ANALYSIS SET</a:t>
              </a:r>
              <a:endParaRPr lang="en-US" sz="1400" dirty="0"/>
            </a:p>
          </p:txBody>
        </p:sp>
        <p:sp>
          <p:nvSpPr>
            <p:cNvPr id="16" name="Text 13"/>
            <p:cNvSpPr txBox="1"/>
            <p:nvPr/>
          </p:nvSpPr>
          <p:spPr>
            <a:xfrm>
              <a:off x="8503920" y="1965960"/>
              <a:ext cx="2834640" cy="457200"/>
            </a:xfrm>
            <a:prstGeom prst="rect">
              <a:avLst/>
            </a:prstGeom>
            <a:noFill/>
            <a:ln/>
          </p:spPr>
          <p:txBody>
            <a:bodyPr wrap="square" lIns="0" tIns="0" rIns="0" bIns="0" rtlCol="0" anchor="t"/>
            <a:lstStyle/>
            <a:p>
              <a:pPr marL="0" indent="0">
                <a:buNone/>
              </a:pPr>
              <a:r>
                <a:rPr lang="en-US" sz="1800" b="1" dirty="0">
                  <a:solidFill>
                    <a:schemeClr val="bg1"/>
                  </a:solidFill>
                  <a:latin typeface="Cambria" pitchFamily="34" charset="0"/>
                  <a:ea typeface="Cambria" pitchFamily="34" charset="-122"/>
                  <a:cs typeface="Cambria" pitchFamily="34" charset="-120"/>
                </a:rPr>
                <a:t>4 models, 2 trunks</a:t>
              </a:r>
              <a:endParaRPr lang="en-US" sz="1800" dirty="0"/>
            </a:p>
          </p:txBody>
        </p:sp>
        <p:sp>
          <p:nvSpPr>
            <p:cNvPr id="17" name="Text 14"/>
            <p:cNvSpPr txBox="1"/>
            <p:nvPr/>
          </p:nvSpPr>
          <p:spPr>
            <a:xfrm>
              <a:off x="8503920" y="2468880"/>
              <a:ext cx="2834640" cy="1097280"/>
            </a:xfrm>
            <a:prstGeom prst="rect">
              <a:avLst/>
            </a:prstGeom>
            <a:noFill/>
            <a:ln/>
          </p:spPr>
          <p:txBody>
            <a:bodyPr wrap="square" lIns="0" tIns="0" rIns="0" bIns="0" rtlCol="0" anchor="t"/>
            <a:lstStyle/>
            <a:p>
              <a:pPr marL="0" indent="0">
                <a:buNone/>
              </a:pPr>
              <a:r>
                <a:rPr lang="en-US" sz="1400" dirty="0">
                  <a:solidFill>
                    <a:schemeClr val="bg1"/>
                  </a:solidFill>
                </a:rPr>
                <a:t>POC</a:t>
              </a:r>
              <a:r>
                <a:rPr lang="en-US" sz="1400" baseline="-25000" dirty="0">
                  <a:solidFill>
                    <a:schemeClr val="bg1"/>
                  </a:solidFill>
                </a:rPr>
                <a:t>A</a:t>
              </a:r>
              <a:r>
                <a:rPr lang="en-US" sz="1400" dirty="0">
                  <a:solidFill>
                    <a:schemeClr val="bg1"/>
                  </a:solidFill>
                </a:rPr>
                <a:t>, POC</a:t>
              </a:r>
              <a:r>
                <a:rPr lang="en-US" sz="1400" baseline="-25000" dirty="0">
                  <a:solidFill>
                    <a:schemeClr val="bg1"/>
                  </a:solidFill>
                </a:rPr>
                <a:t>B</a:t>
              </a:r>
              <a:r>
                <a:rPr lang="en-US" sz="1400" dirty="0">
                  <a:solidFill>
                    <a:schemeClr val="bg1"/>
                  </a:solidFill>
                </a:rPr>
                <a:t>, TCN, CNN</a:t>
              </a:r>
              <a:r>
                <a:rPr lang="en-US" sz="1400" baseline="-25000" dirty="0">
                  <a:solidFill>
                    <a:schemeClr val="bg1"/>
                  </a:solidFill>
                </a:rPr>
                <a:t>attention</a:t>
              </a:r>
              <a:r>
                <a:rPr lang="en-US" sz="1400" dirty="0">
                  <a:solidFill>
                    <a:schemeClr val="bg1"/>
                  </a:solidFill>
                </a:rPr>
                <a:t>. The three dropped trunks were never run through the full battery.</a:t>
              </a:r>
              <a:endParaRPr lang="en-US" sz="1400" dirty="0"/>
            </a:p>
          </p:txBody>
        </p:sp>
      </p:grpSp>
      <p:grpSp>
        <p:nvGrpSpPr>
          <p:cNvPr id="27" name="Group 26">
            <a:extLst>
              <a:ext uri="{FF2B5EF4-FFF2-40B4-BE49-F238E27FC236}">
                <a16:creationId xmlns:a16="http://schemas.microsoft.com/office/drawing/2014/main" id="{926DECEA-80CE-F36B-17F1-EC2135917BD9}"/>
              </a:ext>
            </a:extLst>
          </p:cNvPr>
          <p:cNvGrpSpPr/>
          <p:nvPr/>
        </p:nvGrpSpPr>
        <p:grpSpPr>
          <a:xfrm>
            <a:off x="548640" y="3977640"/>
            <a:ext cx="5394960" cy="2194560"/>
            <a:chOff x="548640" y="3977640"/>
            <a:chExt cx="5394960" cy="2194560"/>
          </a:xfrm>
        </p:grpSpPr>
        <p:sp>
          <p:nvSpPr>
            <p:cNvPr id="18" name="heads card"/>
            <p:cNvSpPr/>
            <p:nvPr/>
          </p:nvSpPr>
          <p:spPr>
            <a:xfrm>
              <a:off x="548640" y="3977640"/>
              <a:ext cx="5394960" cy="2194560"/>
            </a:xfrm>
            <a:prstGeom prst="roundRect">
              <a:avLst>
                <a:gd name="adj" fmla="val 5000"/>
              </a:avLst>
            </a:prstGeom>
            <a:solidFill>
              <a:schemeClr val="bg2"/>
            </a:solidFill>
            <a:ln w="12700">
              <a:solidFill>
                <a:schemeClr val="bg2"/>
              </a:solidFill>
              <a:prstDash val="solid"/>
            </a:ln>
            <a:effectLst>
              <a:outerShdw blurRad="101600" dist="25400" dir="5400000" algn="bl" rotWithShape="0">
                <a:srgbClr val="0F1B33">
                  <a:alpha val="12000"/>
                </a:srgbClr>
              </a:outerShdw>
            </a:effectLst>
          </p:spPr>
        </p:sp>
        <p:sp>
          <p:nvSpPr>
            <p:cNvPr id="19" name="Text 16"/>
            <p:cNvSpPr txBox="1"/>
            <p:nvPr/>
          </p:nvSpPr>
          <p:spPr>
            <a:xfrm>
              <a:off x="822960" y="4160520"/>
              <a:ext cx="4846320" cy="365760"/>
            </a:xfrm>
            <a:prstGeom prst="rect">
              <a:avLst/>
            </a:prstGeom>
            <a:noFill/>
            <a:ln/>
          </p:spPr>
          <p:txBody>
            <a:bodyPr wrap="square" lIns="0" tIns="0" rIns="0" bIns="0" rtlCol="0" anchor="t"/>
            <a:lstStyle/>
            <a:p>
              <a:pPr marL="0" indent="0">
                <a:buNone/>
              </a:pPr>
              <a:r>
                <a:rPr lang="en-US" sz="1800" b="1" dirty="0">
                  <a:solidFill>
                    <a:schemeClr val="tx1"/>
                  </a:solidFill>
                </a:rPr>
                <a:t>Two head parameterizations</a:t>
              </a:r>
              <a:endParaRPr lang="en-US" sz="1800" dirty="0"/>
            </a:p>
          </p:txBody>
        </p:sp>
        <p:sp>
          <p:nvSpPr>
            <p:cNvPr id="20" name="Text 17"/>
            <p:cNvSpPr txBox="1"/>
            <p:nvPr/>
          </p:nvSpPr>
          <p:spPr>
            <a:xfrm>
              <a:off x="822960" y="4617720"/>
              <a:ext cx="4846320" cy="137160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chemeClr val="tx1"/>
                  </a:solidFill>
                </a:rPr>
                <a:t>POC</a:t>
              </a:r>
              <a:r>
                <a:rPr lang="en-US" sz="1400" baseline="-25000" dirty="0">
                  <a:solidFill>
                    <a:schemeClr val="tx1"/>
                  </a:solidFill>
                </a:rPr>
                <a:t>A</a:t>
              </a:r>
              <a:r>
                <a:rPr lang="en-US" sz="1400" dirty="0">
                  <a:solidFill>
                    <a:schemeClr val="tx1"/>
                  </a:solidFill>
                </a:rPr>
                <a:t>: independent-angle baseline</a:t>
              </a:r>
              <a:endParaRPr lang="en-US" sz="1400" dirty="0"/>
            </a:p>
            <a:p>
              <a:pPr marL="342900" indent="-342900">
                <a:spcAft>
                  <a:spcPts val="800"/>
                </a:spcAft>
                <a:buSzPct val="100000"/>
                <a:buChar char="•"/>
              </a:pPr>
              <a:r>
                <a:rPr lang="en-US" sz="1400" dirty="0">
                  <a:solidFill>
                    <a:schemeClr val="tx1"/>
                  </a:solidFill>
                </a:rPr>
                <a:t>POC</a:t>
              </a:r>
              <a:r>
                <a:rPr lang="en-US" sz="1400" baseline="-25000" dirty="0">
                  <a:solidFill>
                    <a:schemeClr val="tx1"/>
                  </a:solidFill>
                </a:rPr>
                <a:t>B</a:t>
              </a:r>
              <a:r>
                <a:rPr lang="en-US" sz="1400" dirty="0">
                  <a:solidFill>
                    <a:schemeClr val="tx1"/>
                  </a:solidFill>
                </a:rPr>
                <a:t>: explicit combination-space head (2</a:t>
              </a:r>
              <a:r>
                <a:rPr lang="en-US" sz="1400" i="1" dirty="0">
                  <a:solidFill>
                    <a:schemeClr val="tx1"/>
                  </a:solidFill>
                </a:rPr>
                <a:t>φ</a:t>
              </a:r>
              <a:r>
                <a:rPr lang="en-US" sz="1400" baseline="-25000" dirty="0">
                  <a:solidFill>
                    <a:schemeClr val="tx1"/>
                  </a:solidFill>
                </a:rPr>
                <a:t>c</a:t>
              </a:r>
              <a:r>
                <a:rPr lang="en-US" sz="1400" dirty="0">
                  <a:solidFill>
                    <a:schemeClr val="tx1"/>
                  </a:solidFill>
                </a:rPr>
                <a:t> + 2</a:t>
              </a:r>
              <a:r>
                <a:rPr lang="en-US" sz="1400" i="1" dirty="0">
                  <a:solidFill>
                    <a:schemeClr val="tx1"/>
                  </a:solidFill>
                </a:rPr>
                <a:t>ψ</a:t>
              </a:r>
              <a:r>
                <a:rPr lang="en-US" sz="1400" dirty="0">
                  <a:solidFill>
                    <a:schemeClr val="tx1"/>
                  </a:solidFill>
                </a:rPr>
                <a:t>, 2</a:t>
              </a:r>
              <a:r>
                <a:rPr lang="en-US" sz="1400" i="1" dirty="0">
                  <a:solidFill>
                    <a:schemeClr val="tx1"/>
                  </a:solidFill>
                </a:rPr>
                <a:t>φ</a:t>
              </a:r>
              <a:r>
                <a:rPr lang="en-US" sz="1400" baseline="-25000" dirty="0">
                  <a:solidFill>
                    <a:schemeClr val="tx1"/>
                  </a:solidFill>
                </a:rPr>
                <a:t>c</a:t>
              </a:r>
              <a:r>
                <a:rPr lang="en-US" sz="1400" dirty="0">
                  <a:solidFill>
                    <a:schemeClr val="tx1"/>
                  </a:solidFill>
                </a:rPr>
                <a:t> − 2</a:t>
              </a:r>
              <a:r>
                <a:rPr lang="en-US" sz="1400" i="1" dirty="0">
                  <a:solidFill>
                    <a:schemeClr val="tx1"/>
                  </a:solidFill>
                </a:rPr>
                <a:t>ψ</a:t>
              </a:r>
              <a:r>
                <a:rPr lang="en-US" sz="1400" dirty="0">
                  <a:solidFill>
                    <a:schemeClr val="tx1"/>
                  </a:solidFill>
                </a:rPr>
                <a:t>)</a:t>
              </a:r>
              <a:endParaRPr lang="en-US" sz="1400" dirty="0"/>
            </a:p>
          </p:txBody>
        </p:sp>
      </p:grpSp>
      <p:grpSp>
        <p:nvGrpSpPr>
          <p:cNvPr id="28" name="Group 27">
            <a:extLst>
              <a:ext uri="{FF2B5EF4-FFF2-40B4-BE49-F238E27FC236}">
                <a16:creationId xmlns:a16="http://schemas.microsoft.com/office/drawing/2014/main" id="{3D4B448B-9E1E-FB8F-239A-B4AE83054B0B}"/>
              </a:ext>
            </a:extLst>
          </p:cNvPr>
          <p:cNvGrpSpPr/>
          <p:nvPr/>
        </p:nvGrpSpPr>
        <p:grpSpPr>
          <a:xfrm>
            <a:off x="6217920" y="3977640"/>
            <a:ext cx="5394960" cy="2194560"/>
            <a:chOff x="6217920" y="3977640"/>
            <a:chExt cx="5394960" cy="2194560"/>
          </a:xfrm>
        </p:grpSpPr>
        <p:sp>
          <p:nvSpPr>
            <p:cNvPr id="21" name="lambda card"/>
            <p:cNvSpPr/>
            <p:nvPr/>
          </p:nvSpPr>
          <p:spPr>
            <a:xfrm>
              <a:off x="6217920" y="3977640"/>
              <a:ext cx="5394960" cy="2194560"/>
            </a:xfrm>
            <a:prstGeom prst="roundRect">
              <a:avLst>
                <a:gd name="adj" fmla="val 5000"/>
              </a:avLst>
            </a:prstGeom>
            <a:solidFill>
              <a:schemeClr val="bg2"/>
            </a:solidFill>
            <a:ln w="12700">
              <a:solidFill>
                <a:schemeClr val="bg2"/>
              </a:solidFill>
              <a:prstDash val="solid"/>
            </a:ln>
            <a:effectLst>
              <a:outerShdw blurRad="101600" dist="25400" dir="5400000" algn="bl" rotWithShape="0">
                <a:srgbClr val="0F1B33">
                  <a:alpha val="12000"/>
                </a:srgbClr>
              </a:outerShdw>
            </a:effectLst>
          </p:spPr>
        </p:sp>
        <p:sp>
          <p:nvSpPr>
            <p:cNvPr id="22" name="Text 19"/>
            <p:cNvSpPr txBox="1"/>
            <p:nvPr/>
          </p:nvSpPr>
          <p:spPr>
            <a:xfrm>
              <a:off x="6492240" y="4160520"/>
              <a:ext cx="4846320" cy="365760"/>
            </a:xfrm>
            <a:prstGeom prst="rect">
              <a:avLst/>
            </a:prstGeom>
            <a:noFill/>
            <a:ln/>
          </p:spPr>
          <p:txBody>
            <a:bodyPr wrap="square" lIns="0" tIns="0" rIns="0" bIns="0" rtlCol="0" anchor="t"/>
            <a:lstStyle/>
            <a:p>
              <a:pPr marL="0" indent="0">
                <a:buNone/>
              </a:pPr>
              <a:r>
                <a:rPr lang="en-US" sz="1800" b="1" dirty="0">
                  <a:solidFill>
                    <a:schemeClr val="tx1"/>
                  </a:solidFill>
                </a:rPr>
                <a:t>Radial magnitude penalty</a:t>
              </a:r>
              <a:endParaRPr lang="en-US" sz="1800" dirty="0"/>
            </a:p>
          </p:txBody>
        </p:sp>
        <p:sp>
          <p:nvSpPr>
            <p:cNvPr id="23" name="Text 20"/>
            <p:cNvSpPr txBox="1"/>
            <p:nvPr/>
          </p:nvSpPr>
          <p:spPr>
            <a:xfrm>
              <a:off x="6492240" y="4617720"/>
              <a:ext cx="4846320" cy="1463040"/>
            </a:xfrm>
            <a:prstGeom prst="rect">
              <a:avLst/>
            </a:prstGeom>
            <a:noFill/>
            <a:ln/>
          </p:spPr>
          <p:txBody>
            <a:bodyPr wrap="square" lIns="0" tIns="0" rIns="0" bIns="0" rtlCol="0" anchor="t"/>
            <a:lstStyle/>
            <a:p>
              <a:pPr marL="342900" indent="-342900">
                <a:spcAft>
                  <a:spcPts val="400"/>
                </a:spcAft>
                <a:buSzPct val="100000"/>
                <a:buChar char="•"/>
              </a:pPr>
              <a:r>
                <a:rPr lang="en-US" sz="1400" i="1" dirty="0">
                  <a:solidFill>
                    <a:schemeClr val="tx1"/>
                  </a:solidFill>
                </a:rPr>
                <a:t>λ</a:t>
              </a:r>
              <a:r>
                <a:rPr lang="en-US" sz="1400" dirty="0">
                  <a:solidFill>
                    <a:schemeClr val="tx1"/>
                  </a:solidFill>
                </a:rPr>
                <a:t>(|</a:t>
              </a:r>
              <a:r>
                <a:rPr lang="en-US" sz="1400" i="1" dirty="0">
                  <a:solidFill>
                    <a:schemeClr val="tx1"/>
                  </a:solidFill>
                </a:rPr>
                <a:t>v</a:t>
              </a:r>
              <a:r>
                <a:rPr lang="en-US" sz="1400" dirty="0">
                  <a:solidFill>
                    <a:schemeClr val="tx1"/>
                  </a:solidFill>
                </a:rPr>
                <a:t>| − 1)</a:t>
              </a:r>
              <a:r>
                <a:rPr lang="en-US" sz="1400" baseline="30000" dirty="0">
                  <a:solidFill>
                    <a:schemeClr val="tx1"/>
                  </a:solidFill>
                </a:rPr>
                <a:t>2</a:t>
              </a:r>
              <a:r>
                <a:rPr lang="en-US" sz="1400" dirty="0">
                  <a:solidFill>
                    <a:schemeClr val="tx1"/>
                  </a:solidFill>
                </a:rPr>
                <a:t> pulls each raw output vector toward unit length; </a:t>
              </a:r>
              <a:r>
                <a:rPr lang="en-US" sz="1400" i="1" dirty="0">
                  <a:solidFill>
                    <a:schemeClr val="tx1"/>
                  </a:solidFill>
                </a:rPr>
                <a:t>λ</a:t>
              </a:r>
              <a:r>
                <a:rPr lang="en-US" sz="1400" dirty="0">
                  <a:solidFill>
                    <a:schemeClr val="tx1"/>
                  </a:solidFill>
                </a:rPr>
                <a:t> sets the strength</a:t>
              </a:r>
              <a:endParaRPr lang="en-US" sz="1400" dirty="0"/>
            </a:p>
            <a:p>
              <a:pPr marL="342900" indent="-342900">
                <a:spcAft>
                  <a:spcPts val="400"/>
                </a:spcAft>
                <a:buSzPct val="100000"/>
                <a:buChar char="•"/>
              </a:pPr>
              <a:r>
                <a:rPr lang="en-US" sz="1400" i="1" dirty="0">
                  <a:solidFill>
                    <a:schemeClr val="tx1"/>
                  </a:solidFill>
                </a:rPr>
                <a:t>λ</a:t>
              </a:r>
              <a:r>
                <a:rPr lang="en-US" sz="1400" dirty="0">
                  <a:solidFill>
                    <a:schemeClr val="tx1"/>
                  </a:solidFill>
                </a:rPr>
                <a:t> = 0.01 for all seven Round-1 configs; every later analysis uses those checkpoints</a:t>
              </a:r>
              <a:endParaRPr lang="en-US" sz="1400" dirty="0"/>
            </a:p>
            <a:p>
              <a:pPr marL="342900" indent="-342900">
                <a:spcAft>
                  <a:spcPts val="400"/>
                </a:spcAft>
                <a:buSzPct val="100000"/>
                <a:buChar char="•"/>
              </a:pPr>
              <a:r>
                <a:rPr lang="en-US" sz="1400" dirty="0">
                  <a:solidFill>
                    <a:schemeClr val="tx1"/>
                  </a:solidFill>
                </a:rPr>
                <a:t>Retuned to </a:t>
              </a:r>
              <a:r>
                <a:rPr lang="en-US" sz="1400" i="1" dirty="0">
                  <a:solidFill>
                    <a:schemeClr val="tx1"/>
                  </a:solidFill>
                </a:rPr>
                <a:t>λ</a:t>
              </a:r>
              <a:r>
                <a:rPr lang="en-US" sz="1400" dirty="0">
                  <a:solidFill>
                    <a:schemeClr val="tx1"/>
                  </a:solidFill>
                </a:rPr>
                <a:t> = 0.05 and 0.10 only for POC</a:t>
              </a:r>
              <a:r>
                <a:rPr lang="en-US" sz="1400" baseline="-25000" dirty="0">
                  <a:solidFill>
                    <a:schemeClr val="tx1"/>
                  </a:solidFill>
                </a:rPr>
                <a:t>A</a:t>
              </a:r>
              <a:r>
                <a:rPr lang="en-US" sz="1400" dirty="0">
                  <a:solidFill>
                    <a:schemeClr val="tx1"/>
                  </a:solidFill>
                </a:rPr>
                <a:t>, POC</a:t>
              </a:r>
              <a:r>
                <a:rPr lang="en-US" sz="1400" baseline="-25000" dirty="0">
                  <a:solidFill>
                    <a:schemeClr val="tx1"/>
                  </a:solidFill>
                </a:rPr>
                <a:t>B</a:t>
              </a:r>
              <a:r>
                <a:rPr lang="en-US" sz="1400" dirty="0">
                  <a:solidFill>
                    <a:schemeClr val="tx1"/>
                  </a:solidFill>
                </a:rPr>
                <a:t> (slide 11)</a:t>
              </a:r>
              <a:endParaRPr lang="en-US" sz="1400" dirty="0"/>
            </a:p>
          </p:txBody>
        </p:sp>
      </p:gr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100">
                <a:solidFill>
                  <a:srgbClr val="55627A"/>
                </a:solidFill>
              </a:defRPr>
            </a:lvl1pPr>
          </a:lstStyle>
          <a:p>
            <a:pPr algn="r"/>
            <a:fld id="{F7021451-1387-4CA6-816F-3879F97B5CBC}" type="slidenum">
              <a:rPr lang="en-US" b="0"/>
              <a:t>6</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cBhvr additive="base">
                                        <p:cTn id="7" dur="500" fill="hold"/>
                                        <p:tgtEl>
                                          <p:spTgt spid="2"/>
                                        </p:tgtEl>
                                        <p:attrNameLst>
                                          <p:attrName>ppt_x</p:attrName>
                                        </p:attrNameLst>
                                      </p:cBhvr>
                                      <p:tavLst>
                                        <p:tav tm="0">
                                          <p:val>
                                            <p:strVal val="#ppt_x"/>
                                          </p:val>
                                        </p:tav>
                                        <p:tav tm="100000">
                                          <p:val>
                                            <p:strVal val="#ppt_x"/>
                                          </p:val>
                                        </p:tav>
                                      </p:tavLst>
                                    </p:anim>
                                    <p:anim calcmode="lin" valueType="num">
                                      <p:cBhvr additive="base">
                                        <p:cTn id="8" dur="500" fill="hold"/>
                                        <p:tgtEl>
                                          <p:spTgt spid="2"/>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nodeType="clickEffect">
                                  <p:stCondLst>
                                    <p:cond delay="0"/>
                                  </p:stCondLst>
                                  <p:childTnLst>
                                    <p:set>
                                      <p:cBhvr>
                                        <p:cTn id="12" dur="1" fill="hold">
                                          <p:stCondLst>
                                            <p:cond delay="0"/>
                                          </p:stCondLst>
                                        </p:cTn>
                                        <p:tgtEl>
                                          <p:spTgt spid="8"/>
                                        </p:tgtEl>
                                        <p:attrNameLst>
                                          <p:attrName>style.visibility</p:attrName>
                                        </p:attrNameLst>
                                      </p:cBhvr>
                                      <p:to>
                                        <p:strVal val="visible"/>
                                      </p:to>
                                    </p:set>
                                    <p:anim calcmode="lin" valueType="num">
                                      <p:cBhvr additive="base">
                                        <p:cTn id="13" dur="500" fill="hold"/>
                                        <p:tgtEl>
                                          <p:spTgt spid="8"/>
                                        </p:tgtEl>
                                        <p:attrNameLst>
                                          <p:attrName>ppt_x</p:attrName>
                                        </p:attrNameLst>
                                      </p:cBhvr>
                                      <p:tavLst>
                                        <p:tav tm="0">
                                          <p:val>
                                            <p:strVal val="#ppt_x"/>
                                          </p:val>
                                        </p:tav>
                                        <p:tav tm="100000">
                                          <p:val>
                                            <p:strVal val="#ppt_x"/>
                                          </p:val>
                                        </p:tav>
                                      </p:tavLst>
                                    </p:anim>
                                    <p:anim calcmode="lin" valueType="num">
                                      <p:cBhvr additive="base">
                                        <p:cTn id="14" dur="500" fill="hold"/>
                                        <p:tgtEl>
                                          <p:spTgt spid="8"/>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nodeType="clickEffect">
                                  <p:stCondLst>
                                    <p:cond delay="0"/>
                                  </p:stCondLst>
                                  <p:childTnLst>
                                    <p:set>
                                      <p:cBhvr>
                                        <p:cTn id="18" dur="1" fill="hold">
                                          <p:stCondLst>
                                            <p:cond delay="0"/>
                                          </p:stCondLst>
                                        </p:cTn>
                                        <p:tgtEl>
                                          <p:spTgt spid="24"/>
                                        </p:tgtEl>
                                        <p:attrNameLst>
                                          <p:attrName>style.visibility</p:attrName>
                                        </p:attrNameLst>
                                      </p:cBhvr>
                                      <p:to>
                                        <p:strVal val="visible"/>
                                      </p:to>
                                    </p:set>
                                    <p:anim calcmode="lin" valueType="num">
                                      <p:cBhvr additive="base">
                                        <p:cTn id="19" dur="500" fill="hold"/>
                                        <p:tgtEl>
                                          <p:spTgt spid="24"/>
                                        </p:tgtEl>
                                        <p:attrNameLst>
                                          <p:attrName>ppt_x</p:attrName>
                                        </p:attrNameLst>
                                      </p:cBhvr>
                                      <p:tavLst>
                                        <p:tav tm="0">
                                          <p:val>
                                            <p:strVal val="#ppt_x"/>
                                          </p:val>
                                        </p:tav>
                                        <p:tav tm="100000">
                                          <p:val>
                                            <p:strVal val="#ppt_x"/>
                                          </p:val>
                                        </p:tav>
                                      </p:tavLst>
                                    </p:anim>
                                    <p:anim calcmode="lin" valueType="num">
                                      <p:cBhvr additive="base">
                                        <p:cTn id="20" dur="500" fill="hold"/>
                                        <p:tgtEl>
                                          <p:spTgt spid="24"/>
                                        </p:tgtEl>
                                        <p:attrNameLst>
                                          <p:attrName>ppt_y</p:attrName>
                                        </p:attrNameLst>
                                      </p:cBhvr>
                                      <p:tavLst>
                                        <p:tav tm="0">
                                          <p:val>
                                            <p:strVal val="1+#ppt_h/2"/>
                                          </p:val>
                                        </p:tav>
                                        <p:tav tm="100000">
                                          <p:val>
                                            <p:strVal val="#ppt_y"/>
                                          </p:val>
                                        </p:tav>
                                      </p:tavLst>
                                    </p:anim>
                                  </p:childTnLst>
                                </p:cTn>
                              </p:par>
                            </p:childTnLst>
                          </p:cTn>
                        </p:par>
                      </p:childTnLst>
                    </p:cTn>
                  </p:par>
                  <p:par>
                    <p:cTn id="21" fill="hold">
                      <p:stCondLst>
                        <p:cond delay="indefinite"/>
                      </p:stCondLst>
                      <p:childTnLst>
                        <p:par>
                          <p:cTn id="22" fill="hold">
                            <p:stCondLst>
                              <p:cond delay="0"/>
                            </p:stCondLst>
                            <p:childTnLst>
                              <p:par>
                                <p:cTn id="23" presetID="2" presetClass="entr" presetSubtype="4" fill="hold" nodeType="clickEffect">
                                  <p:stCondLst>
                                    <p:cond delay="0"/>
                                  </p:stCondLst>
                                  <p:childTnLst>
                                    <p:set>
                                      <p:cBhvr>
                                        <p:cTn id="24" dur="1" fill="hold">
                                          <p:stCondLst>
                                            <p:cond delay="0"/>
                                          </p:stCondLst>
                                        </p:cTn>
                                        <p:tgtEl>
                                          <p:spTgt spid="13"/>
                                        </p:tgtEl>
                                        <p:attrNameLst>
                                          <p:attrName>style.visibility</p:attrName>
                                        </p:attrNameLst>
                                      </p:cBhvr>
                                      <p:to>
                                        <p:strVal val="visible"/>
                                      </p:to>
                                    </p:set>
                                    <p:anim calcmode="lin" valueType="num">
                                      <p:cBhvr additive="base">
                                        <p:cTn id="25" dur="500" fill="hold"/>
                                        <p:tgtEl>
                                          <p:spTgt spid="13"/>
                                        </p:tgtEl>
                                        <p:attrNameLst>
                                          <p:attrName>ppt_x</p:attrName>
                                        </p:attrNameLst>
                                      </p:cBhvr>
                                      <p:tavLst>
                                        <p:tav tm="0">
                                          <p:val>
                                            <p:strVal val="#ppt_x"/>
                                          </p:val>
                                        </p:tav>
                                        <p:tav tm="100000">
                                          <p:val>
                                            <p:strVal val="#ppt_x"/>
                                          </p:val>
                                        </p:tav>
                                      </p:tavLst>
                                    </p:anim>
                                    <p:anim calcmode="lin" valueType="num">
                                      <p:cBhvr additive="base">
                                        <p:cTn id="26" dur="500" fill="hold"/>
                                        <p:tgtEl>
                                          <p:spTgt spid="13"/>
                                        </p:tgtEl>
                                        <p:attrNameLst>
                                          <p:attrName>ppt_y</p:attrName>
                                        </p:attrNameLst>
                                      </p:cBhvr>
                                      <p:tavLst>
                                        <p:tav tm="0">
                                          <p:val>
                                            <p:strVal val="1+#ppt_h/2"/>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9" presetID="2" presetClass="entr" presetSubtype="4" fill="hold" nodeType="clickEffect">
                                  <p:stCondLst>
                                    <p:cond delay="0"/>
                                  </p:stCondLst>
                                  <p:childTnLst>
                                    <p:set>
                                      <p:cBhvr>
                                        <p:cTn id="30" dur="1" fill="hold">
                                          <p:stCondLst>
                                            <p:cond delay="0"/>
                                          </p:stCondLst>
                                        </p:cTn>
                                        <p:tgtEl>
                                          <p:spTgt spid="26"/>
                                        </p:tgtEl>
                                        <p:attrNameLst>
                                          <p:attrName>style.visibility</p:attrName>
                                        </p:attrNameLst>
                                      </p:cBhvr>
                                      <p:to>
                                        <p:strVal val="visible"/>
                                      </p:to>
                                    </p:set>
                                    <p:anim calcmode="lin" valueType="num">
                                      <p:cBhvr additive="base">
                                        <p:cTn id="31" dur="500" fill="hold"/>
                                        <p:tgtEl>
                                          <p:spTgt spid="26"/>
                                        </p:tgtEl>
                                        <p:attrNameLst>
                                          <p:attrName>ppt_x</p:attrName>
                                        </p:attrNameLst>
                                      </p:cBhvr>
                                      <p:tavLst>
                                        <p:tav tm="0">
                                          <p:val>
                                            <p:strVal val="#ppt_x"/>
                                          </p:val>
                                        </p:tav>
                                        <p:tav tm="100000">
                                          <p:val>
                                            <p:strVal val="#ppt_x"/>
                                          </p:val>
                                        </p:tav>
                                      </p:tavLst>
                                    </p:anim>
                                    <p:anim calcmode="lin" valueType="num">
                                      <p:cBhvr additive="base">
                                        <p:cTn id="32" dur="500" fill="hold"/>
                                        <p:tgtEl>
                                          <p:spTgt spid="26"/>
                                        </p:tgtEl>
                                        <p:attrNameLst>
                                          <p:attrName>ppt_y</p:attrName>
                                        </p:attrNameLst>
                                      </p:cBhvr>
                                      <p:tavLst>
                                        <p:tav tm="0">
                                          <p:val>
                                            <p:strVal val="1+#ppt_h/2"/>
                                          </p:val>
                                        </p:tav>
                                        <p:tav tm="100000">
                                          <p:val>
                                            <p:strVal val="#ppt_y"/>
                                          </p:val>
                                        </p:tav>
                                      </p:tavLst>
                                    </p:anim>
                                  </p:childTnLst>
                                </p:cTn>
                              </p:par>
                            </p:childTnLst>
                          </p:cTn>
                        </p:par>
                      </p:childTnLst>
                    </p:cTn>
                  </p:par>
                  <p:par>
                    <p:cTn id="33" fill="hold">
                      <p:stCondLst>
                        <p:cond delay="indefinite"/>
                      </p:stCondLst>
                      <p:childTnLst>
                        <p:par>
                          <p:cTn id="34" fill="hold">
                            <p:stCondLst>
                              <p:cond delay="0"/>
                            </p:stCondLst>
                            <p:childTnLst>
                              <p:par>
                                <p:cTn id="35" presetID="2" presetClass="entr" presetSubtype="4" fill="hold" nodeType="clickEffect">
                                  <p:stCondLst>
                                    <p:cond delay="0"/>
                                  </p:stCondLst>
                                  <p:childTnLst>
                                    <p:set>
                                      <p:cBhvr>
                                        <p:cTn id="36" dur="1" fill="hold">
                                          <p:stCondLst>
                                            <p:cond delay="0"/>
                                          </p:stCondLst>
                                        </p:cTn>
                                        <p:tgtEl>
                                          <p:spTgt spid="27"/>
                                        </p:tgtEl>
                                        <p:attrNameLst>
                                          <p:attrName>style.visibility</p:attrName>
                                        </p:attrNameLst>
                                      </p:cBhvr>
                                      <p:to>
                                        <p:strVal val="visible"/>
                                      </p:to>
                                    </p:set>
                                    <p:anim calcmode="lin" valueType="num">
                                      <p:cBhvr additive="base">
                                        <p:cTn id="37" dur="500" fill="hold"/>
                                        <p:tgtEl>
                                          <p:spTgt spid="27"/>
                                        </p:tgtEl>
                                        <p:attrNameLst>
                                          <p:attrName>ppt_x</p:attrName>
                                        </p:attrNameLst>
                                      </p:cBhvr>
                                      <p:tavLst>
                                        <p:tav tm="0">
                                          <p:val>
                                            <p:strVal val="#ppt_x"/>
                                          </p:val>
                                        </p:tav>
                                        <p:tav tm="100000">
                                          <p:val>
                                            <p:strVal val="#ppt_x"/>
                                          </p:val>
                                        </p:tav>
                                      </p:tavLst>
                                    </p:anim>
                                    <p:anim calcmode="lin" valueType="num">
                                      <p:cBhvr additive="base">
                                        <p:cTn id="38" dur="500" fill="hold"/>
                                        <p:tgtEl>
                                          <p:spTgt spid="27"/>
                                        </p:tgtEl>
                                        <p:attrNameLst>
                                          <p:attrName>ppt_y</p:attrName>
                                        </p:attrNameLst>
                                      </p:cBhvr>
                                      <p:tavLst>
                                        <p:tav tm="0">
                                          <p:val>
                                            <p:strVal val="1+#ppt_h/2"/>
                                          </p:val>
                                        </p:tav>
                                        <p:tav tm="100000">
                                          <p:val>
                                            <p:strVal val="#ppt_y"/>
                                          </p:val>
                                        </p:tav>
                                      </p:tavLst>
                                    </p:anim>
                                  </p:childTnLst>
                                </p:cTn>
                              </p:par>
                            </p:childTnLst>
                          </p:cTn>
                        </p:par>
                      </p:childTnLst>
                    </p:cTn>
                  </p:par>
                  <p:par>
                    <p:cTn id="39" fill="hold">
                      <p:stCondLst>
                        <p:cond delay="indefinite"/>
                      </p:stCondLst>
                      <p:childTnLst>
                        <p:par>
                          <p:cTn id="40" fill="hold">
                            <p:stCondLst>
                              <p:cond delay="0"/>
                            </p:stCondLst>
                            <p:childTnLst>
                              <p:par>
                                <p:cTn id="41" presetID="2" presetClass="entr" presetSubtype="4" fill="hold" nodeType="clickEffect">
                                  <p:stCondLst>
                                    <p:cond delay="0"/>
                                  </p:stCondLst>
                                  <p:childTnLst>
                                    <p:set>
                                      <p:cBhvr>
                                        <p:cTn id="42" dur="1" fill="hold">
                                          <p:stCondLst>
                                            <p:cond delay="0"/>
                                          </p:stCondLst>
                                        </p:cTn>
                                        <p:tgtEl>
                                          <p:spTgt spid="28"/>
                                        </p:tgtEl>
                                        <p:attrNameLst>
                                          <p:attrName>style.visibility</p:attrName>
                                        </p:attrNameLst>
                                      </p:cBhvr>
                                      <p:to>
                                        <p:strVal val="visible"/>
                                      </p:to>
                                    </p:set>
                                    <p:anim calcmode="lin" valueType="num">
                                      <p:cBhvr additive="base">
                                        <p:cTn id="43" dur="500" fill="hold"/>
                                        <p:tgtEl>
                                          <p:spTgt spid="28"/>
                                        </p:tgtEl>
                                        <p:attrNameLst>
                                          <p:attrName>ppt_x</p:attrName>
                                        </p:attrNameLst>
                                      </p:cBhvr>
                                      <p:tavLst>
                                        <p:tav tm="0">
                                          <p:val>
                                            <p:strVal val="#ppt_x"/>
                                          </p:val>
                                        </p:tav>
                                        <p:tav tm="100000">
                                          <p:val>
                                            <p:strVal val="#ppt_x"/>
                                          </p:val>
                                        </p:tav>
                                      </p:tavLst>
                                    </p:anim>
                                    <p:anim calcmode="lin" valueType="num">
                                      <p:cBhvr additive="base">
                                        <p:cTn id="44" dur="500" fill="hold"/>
                                        <p:tgtEl>
                                          <p:spTgt spid="28"/>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ext 0"/>
          <p:cNvSpPr>
            <a:spLocks noGrp="1"/>
          </p:cNvSpPr>
          <p:nvPr>
            <p:ph type="title" idx="100" hasCustomPrompt="1"/>
          </p:nvPr>
        </p:nvSpPr>
        <p:spPr>
          <a:xfrm>
            <a:off x="548640" y="365760"/>
            <a:ext cx="11064240" cy="777240"/>
          </a:xfrm>
          <a:prstGeom prst="rect">
            <a:avLst/>
          </a:prstGeom>
          <a:noFill/>
          <a:ln/>
        </p:spPr>
        <p:txBody>
          <a:bodyPr wrap="square" lIns="0" tIns="0" rIns="0" bIns="0" rtlCol="0" anchor="t"/>
          <a:lstStyle/>
          <a:p>
            <a:pPr marL="0" indent="0" algn="l">
              <a:buNone/>
            </a:pPr>
            <a:r>
              <a:rPr lang="en-US" sz="3600" b="1" dirty="0">
                <a:solidFill>
                  <a:schemeClr val="tx1"/>
                </a:solidFill>
              </a:rPr>
              <a:t>The seven configurations</a:t>
            </a:r>
            <a:endParaRPr lang="en-US" sz="3600" dirty="0"/>
          </a:p>
        </p:txBody>
      </p:sp>
      <p:graphicFrame>
        <p:nvGraphicFramePr>
          <p:cNvPr id="4" name="Configuration table" descr="Table of the seven Round-1 configurations: model, trunk architecture, how the phi_c and psi heads are trained, control R-squared, and whether the model was kept"/>
          <p:cNvGraphicFramePr>
            <a:graphicFrameLocks noGrp="1"/>
          </p:cNvGraphicFramePr>
          <p:nvPr/>
        </p:nvGraphicFramePr>
        <p:xfrm>
          <a:off x="548640" y="1280160"/>
          <a:ext cx="11064240" cy="4078224"/>
        </p:xfrm>
        <a:graphic>
          <a:graphicData uri="http://schemas.openxmlformats.org/drawingml/2006/table">
            <a:tbl>
              <a:tblPr firstRow="1"/>
              <a:tblGrid>
                <a:gridCol w="1554480">
                  <a:extLst>
                    <a:ext uri="{9D8B030D-6E8A-4147-A177-3AD203B41FA5}">
                      <a16:colId xmlns:a16="http://schemas.microsoft.com/office/drawing/2014/main" val="20000"/>
                    </a:ext>
                  </a:extLst>
                </a:gridCol>
                <a:gridCol w="4206240">
                  <a:extLst>
                    <a:ext uri="{9D8B030D-6E8A-4147-A177-3AD203B41FA5}">
                      <a16:colId xmlns:a16="http://schemas.microsoft.com/office/drawing/2014/main" val="20001"/>
                    </a:ext>
                  </a:extLst>
                </a:gridCol>
                <a:gridCol w="2194560">
                  <a:extLst>
                    <a:ext uri="{9D8B030D-6E8A-4147-A177-3AD203B41FA5}">
                      <a16:colId xmlns:a16="http://schemas.microsoft.com/office/drawing/2014/main" val="20002"/>
                    </a:ext>
                  </a:extLst>
                </a:gridCol>
                <a:gridCol w="182880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tblGrid>
              <a:tr h="365760">
                <a:tc>
                  <a:txBody>
                    <a:bodyPr/>
                    <a:lstStyle/>
                    <a:p>
                      <a:pPr algn="l"/>
                      <a:r>
                        <a:rPr lang="en-US" sz="1400" b="1" dirty="0">
                          <a:solidFill>
                            <a:schemeClr val="bg1"/>
                          </a:solidFill>
                        </a:rPr>
                        <a:t>Model</a:t>
                      </a:r>
                    </a:p>
                  </a:txBody>
                  <a:tcPr anchor="ctr">
                    <a:lnL w="0">
                      <a:noFill/>
                    </a:lnL>
                    <a:lnR w="0">
                      <a:noFill/>
                    </a:lnR>
                    <a:lnT w="0">
                      <a:noFill/>
                    </a:lnT>
                    <a:lnB w="0">
                      <a:noFill/>
                    </a:lnB>
                    <a:solidFill>
                      <a:schemeClr val="tx2"/>
                    </a:solidFill>
                  </a:tcPr>
                </a:tc>
                <a:tc>
                  <a:txBody>
                    <a:bodyPr/>
                    <a:lstStyle/>
                    <a:p>
                      <a:pPr algn="l"/>
                      <a:r>
                        <a:rPr lang="en-US" sz="1400" b="1" dirty="0">
                          <a:solidFill>
                            <a:schemeClr val="bg1"/>
                          </a:solidFill>
                        </a:rPr>
                        <a:t>Architecture</a:t>
                      </a:r>
                    </a:p>
                  </a:txBody>
                  <a:tcPr anchor="ctr">
                    <a:lnL w="0">
                      <a:noFill/>
                    </a:lnL>
                    <a:lnR w="0">
                      <a:noFill/>
                    </a:lnR>
                    <a:lnT w="0">
                      <a:noFill/>
                    </a:lnT>
                    <a:lnB w="0">
                      <a:noFill/>
                    </a:lnB>
                    <a:solidFill>
                      <a:schemeClr val="tx2"/>
                    </a:solidFill>
                  </a:tcPr>
                </a:tc>
                <a:tc>
                  <a:txBody>
                    <a:bodyPr/>
                    <a:lstStyle/>
                    <a:p>
                      <a:pPr algn="l"/>
                      <a:r>
                        <a:rPr lang="en-US" sz="1400" b="1" dirty="0">
                          <a:solidFill>
                            <a:schemeClr val="bg1"/>
                          </a:solidFill>
                        </a:rPr>
                        <a:t>φ</a:t>
                      </a:r>
                      <a:r>
                        <a:rPr lang="en-US" sz="1400" b="1" baseline="-25000" dirty="0">
                          <a:solidFill>
                            <a:schemeClr val="bg1"/>
                          </a:solidFill>
                        </a:rPr>
                        <a:t>c</a:t>
                      </a:r>
                      <a:r>
                        <a:rPr lang="en-US" sz="1400" b="1" dirty="0">
                          <a:solidFill>
                            <a:schemeClr val="bg1"/>
                          </a:solidFill>
                        </a:rPr>
                        <a:t>, ψ heads</a:t>
                      </a:r>
                    </a:p>
                  </a:txBody>
                  <a:tcPr anchor="ctr">
                    <a:lnL w="0">
                      <a:noFill/>
                    </a:lnL>
                    <a:lnR w="0">
                      <a:noFill/>
                    </a:lnR>
                    <a:lnT w="0">
                      <a:noFill/>
                    </a:lnT>
                    <a:lnB w="0">
                      <a:noFill/>
                    </a:lnB>
                    <a:solidFill>
                      <a:schemeClr val="tx2"/>
                    </a:solidFill>
                  </a:tcPr>
                </a:tc>
                <a:tc>
                  <a:txBody>
                    <a:bodyPr/>
                    <a:lstStyle/>
                    <a:p>
                      <a:pPr algn="l"/>
                      <a:r>
                        <a:rPr lang="en-US" sz="1400" b="1" dirty="0">
                          <a:solidFill>
                            <a:schemeClr val="bg1"/>
                          </a:solidFill>
                        </a:rPr>
                        <a:t>Control R</a:t>
                      </a:r>
                      <a:r>
                        <a:rPr lang="en-US" sz="1400" b="1" baseline="30000" dirty="0">
                          <a:solidFill>
                            <a:schemeClr val="bg1"/>
                          </a:solidFill>
                        </a:rPr>
                        <a:t>2</a:t>
                      </a:r>
                    </a:p>
                  </a:txBody>
                  <a:tcPr anchor="ctr">
                    <a:lnL w="0">
                      <a:noFill/>
                    </a:lnL>
                    <a:lnR w="0">
                      <a:noFill/>
                    </a:lnR>
                    <a:lnT w="0">
                      <a:noFill/>
                    </a:lnT>
                    <a:lnB w="0">
                      <a:noFill/>
                    </a:lnB>
                    <a:solidFill>
                      <a:schemeClr val="tx2"/>
                    </a:solidFill>
                  </a:tcPr>
                </a:tc>
                <a:tc>
                  <a:txBody>
                    <a:bodyPr/>
                    <a:lstStyle/>
                    <a:p>
                      <a:pPr algn="l"/>
                      <a:r>
                        <a:rPr lang="en-US" sz="1400" b="1" dirty="0">
                          <a:solidFill>
                            <a:schemeClr val="bg1"/>
                          </a:solidFill>
                        </a:rPr>
                        <a:t>Outcome</a:t>
                      </a:r>
                    </a:p>
                  </a:txBody>
                  <a:tcPr anchor="ctr">
                    <a:lnL w="0">
                      <a:noFill/>
                    </a:lnL>
                    <a:lnR w="0">
                      <a:noFill/>
                    </a:lnR>
                    <a:lnT w="0">
                      <a:noFill/>
                    </a:lnT>
                    <a:lnB w="0">
                      <a:noFill/>
                    </a:lnB>
                    <a:solidFill>
                      <a:schemeClr val="tx2"/>
                    </a:solidFill>
                  </a:tcPr>
                </a:tc>
                <a:extLst>
                  <a:ext uri="{0D108BD9-81ED-4DB2-BD59-A6C34878D82A}">
                    <a16:rowId xmlns:a16="http://schemas.microsoft.com/office/drawing/2014/main" val="10000"/>
                  </a:ext>
                </a:extLst>
              </a:tr>
              <a:tr h="530352">
                <a:tc>
                  <a:txBody>
                    <a:bodyPr/>
                    <a:lstStyle/>
                    <a:p>
                      <a:pPr algn="l"/>
                      <a:r>
                        <a:rPr lang="en-US" sz="1400" b="1" dirty="0">
                          <a:solidFill>
                            <a:schemeClr val="tx1"/>
                          </a:solidFill>
                        </a:rPr>
                        <a:t>POC</a:t>
                      </a:r>
                      <a:r>
                        <a:rPr lang="en-US" sz="1400" b="1" baseline="-25000" dirty="0">
                          <a:solidFill>
                            <a:schemeClr val="tx1"/>
                          </a:solidFill>
                        </a:rPr>
                        <a:t>A</a:t>
                      </a:r>
                    </a:p>
                  </a:txBody>
                  <a:tcPr anchor="ctr">
                    <a:lnL w="0">
                      <a:noFill/>
                    </a:lnL>
                    <a:lnR w="0">
                      <a:noFill/>
                    </a:lnR>
                    <a:lnT w="0">
                      <a:noFill/>
                    </a:lnT>
                    <a:lnB w="0">
                      <a:noFill/>
                    </a:lnB>
                    <a:solidFill>
                      <a:schemeClr val="bg2"/>
                    </a:solidFill>
                  </a:tcPr>
                </a:tc>
                <a:tc>
                  <a:txBody>
                    <a:bodyPr/>
                    <a:lstStyle/>
                    <a:p>
                      <a:pPr algn="l"/>
                      <a:r>
                        <a:rPr lang="en-US" sz="1400" dirty="0">
                          <a:solidFill>
                            <a:schemeClr val="tx1"/>
                          </a:solidFill>
                        </a:rPr>
                        <a:t>TCN: 10 dilated residual blocks; receptive field spans the whole window</a:t>
                      </a:r>
                    </a:p>
                  </a:txBody>
                  <a:tcPr anchor="ctr">
                    <a:lnL w="0">
                      <a:noFill/>
                    </a:lnL>
                    <a:lnR w="0">
                      <a:noFill/>
                    </a:lnR>
                    <a:lnT w="0">
                      <a:noFill/>
                    </a:lnT>
                    <a:lnB w="0">
                      <a:noFill/>
                    </a:lnB>
                    <a:solidFill>
                      <a:schemeClr val="bg2"/>
                    </a:solidFill>
                  </a:tcPr>
                </a:tc>
                <a:tc>
                  <a:txBody>
                    <a:bodyPr/>
                    <a:lstStyle/>
                    <a:p>
                      <a:pPr algn="l"/>
                      <a:r>
                        <a:rPr lang="en-US" sz="1400" dirty="0">
                          <a:solidFill>
                            <a:schemeClr val="tx1"/>
                          </a:solidFill>
                        </a:rPr>
                        <a:t>Independent φ</a:t>
                      </a:r>
                      <a:r>
                        <a:rPr lang="en-US" sz="1400" baseline="-25000" dirty="0">
                          <a:solidFill>
                            <a:schemeClr val="tx1"/>
                          </a:solidFill>
                        </a:rPr>
                        <a:t>c</a:t>
                      </a:r>
                      <a:r>
                        <a:rPr lang="en-US" sz="1400" dirty="0">
                          <a:solidFill>
                            <a:schemeClr val="tx1"/>
                          </a:solidFill>
                        </a:rPr>
                        <a:t>, ψ</a:t>
                      </a:r>
                    </a:p>
                  </a:txBody>
                  <a:tcPr anchor="ctr">
                    <a:lnL w="0">
                      <a:noFill/>
                    </a:lnL>
                    <a:lnR w="0">
                      <a:noFill/>
                    </a:lnR>
                    <a:lnT w="0">
                      <a:noFill/>
                    </a:lnT>
                    <a:lnB w="0">
                      <a:noFill/>
                    </a:lnB>
                    <a:solidFill>
                      <a:schemeClr val="bg2"/>
                    </a:solidFill>
                  </a:tcPr>
                </a:tc>
                <a:tc>
                  <a:txBody>
                    <a:bodyPr/>
                    <a:lstStyle/>
                    <a:p>
                      <a:pPr algn="l"/>
                      <a:r>
                        <a:rPr lang="en-US" sz="1400" dirty="0">
                          <a:solidFill>
                            <a:schemeClr val="tx1"/>
                          </a:solidFill>
                        </a:rPr>
                        <a:t>0.96 / 0.92 / 0.79</a:t>
                      </a:r>
                    </a:p>
                  </a:txBody>
                  <a:tcPr anchor="ctr">
                    <a:lnL w="0">
                      <a:noFill/>
                    </a:lnL>
                    <a:lnR w="0">
                      <a:noFill/>
                    </a:lnR>
                    <a:lnT w="0">
                      <a:noFill/>
                    </a:lnT>
                    <a:lnB w="0">
                      <a:noFill/>
                    </a:lnB>
                    <a:solidFill>
                      <a:schemeClr val="bg2"/>
                    </a:solidFill>
                  </a:tcPr>
                </a:tc>
                <a:tc>
                  <a:txBody>
                    <a:bodyPr/>
                    <a:lstStyle/>
                    <a:p>
                      <a:pPr algn="l"/>
                      <a:r>
                        <a:rPr lang="en-US" sz="1400" b="1" dirty="0">
                          <a:solidFill>
                            <a:schemeClr val="tx1"/>
                          </a:solidFill>
                        </a:rPr>
                        <a:t>Kept</a:t>
                      </a:r>
                    </a:p>
                  </a:txBody>
                  <a:tcPr anchor="ctr">
                    <a:lnL w="0">
                      <a:noFill/>
                    </a:lnL>
                    <a:lnR w="0">
                      <a:noFill/>
                    </a:lnR>
                    <a:lnT w="0">
                      <a:noFill/>
                    </a:lnT>
                    <a:lnB w="0">
                      <a:noFill/>
                    </a:lnB>
                    <a:solidFill>
                      <a:schemeClr val="bg2"/>
                    </a:solidFill>
                  </a:tcPr>
                </a:tc>
                <a:extLst>
                  <a:ext uri="{0D108BD9-81ED-4DB2-BD59-A6C34878D82A}">
                    <a16:rowId xmlns:a16="http://schemas.microsoft.com/office/drawing/2014/main" val="10001"/>
                  </a:ext>
                </a:extLst>
              </a:tr>
              <a:tr h="530352">
                <a:tc>
                  <a:txBody>
                    <a:bodyPr/>
                    <a:lstStyle/>
                    <a:p>
                      <a:pPr algn="l"/>
                      <a:r>
                        <a:rPr lang="en-US" sz="1400" b="1" dirty="0">
                          <a:solidFill>
                            <a:schemeClr val="tx1"/>
                          </a:solidFill>
                        </a:rPr>
                        <a:t>POC</a:t>
                      </a:r>
                      <a:r>
                        <a:rPr lang="en-US" sz="1400" b="1" baseline="-25000" dirty="0">
                          <a:solidFill>
                            <a:schemeClr val="tx1"/>
                          </a:solidFill>
                        </a:rPr>
                        <a:t>B</a:t>
                      </a:r>
                    </a:p>
                  </a:txBody>
                  <a:tcPr anchor="ctr">
                    <a:lnL w="0">
                      <a:noFill/>
                    </a:lnL>
                    <a:lnR w="0">
                      <a:noFill/>
                    </a:lnR>
                    <a:lnT w="0">
                      <a:noFill/>
                    </a:lnT>
                    <a:lnB w="0">
                      <a:noFill/>
                    </a:lnB>
                    <a:solidFill>
                      <a:schemeClr val="bg1"/>
                    </a:solidFill>
                  </a:tcPr>
                </a:tc>
                <a:tc>
                  <a:txBody>
                    <a:bodyPr/>
                    <a:lstStyle/>
                    <a:p>
                      <a:pPr algn="l"/>
                      <a:r>
                        <a:rPr lang="en-US" sz="1400" dirty="0">
                          <a:solidFill>
                            <a:schemeClr val="tx1"/>
                          </a:solidFill>
                        </a:rPr>
                        <a:t>Same TCN trunk as POC</a:t>
                      </a:r>
                      <a:r>
                        <a:rPr lang="en-US" sz="1400" baseline="-25000" dirty="0">
                          <a:solidFill>
                            <a:schemeClr val="tx1"/>
                          </a:solidFill>
                        </a:rPr>
                        <a:t>A</a:t>
                      </a:r>
                    </a:p>
                  </a:txBody>
                  <a:tcPr anchor="ctr">
                    <a:lnL w="0">
                      <a:noFill/>
                    </a:lnL>
                    <a:lnR w="0">
                      <a:noFill/>
                    </a:lnR>
                    <a:lnT w="0">
                      <a:noFill/>
                    </a:lnT>
                    <a:lnB w="0">
                      <a:noFill/>
                    </a:lnB>
                    <a:solidFill>
                      <a:schemeClr val="bg1"/>
                    </a:solidFill>
                  </a:tcPr>
                </a:tc>
                <a:tc>
                  <a:txBody>
                    <a:bodyPr/>
                    <a:lstStyle/>
                    <a:p>
                      <a:pPr algn="l"/>
                      <a:r>
                        <a:rPr lang="en-US" sz="1400" dirty="0">
                          <a:solidFill>
                            <a:schemeClr val="tx1"/>
                          </a:solidFill>
                        </a:rPr>
                        <a:t>φ</a:t>
                      </a:r>
                      <a:r>
                        <a:rPr lang="en-US" sz="1400" baseline="-25000" dirty="0">
                          <a:solidFill>
                            <a:schemeClr val="tx1"/>
                          </a:solidFill>
                        </a:rPr>
                        <a:t>c</a:t>
                      </a:r>
                      <a:r>
                        <a:rPr lang="en-US" sz="1400" dirty="0">
                          <a:solidFill>
                            <a:schemeClr val="tx1"/>
                          </a:solidFill>
                        </a:rPr>
                        <a:t>, ψ trained only via 2φ</a:t>
                      </a:r>
                      <a:r>
                        <a:rPr lang="en-US" sz="1400" baseline="-25000" dirty="0">
                          <a:solidFill>
                            <a:schemeClr val="tx1"/>
                          </a:solidFill>
                        </a:rPr>
                        <a:t>c</a:t>
                      </a:r>
                      <a:r>
                        <a:rPr lang="en-US" sz="1400" dirty="0">
                          <a:solidFill>
                            <a:schemeClr val="tx1"/>
                          </a:solidFill>
                        </a:rPr>
                        <a:t> ± 2ψ combinations</a:t>
                      </a:r>
                    </a:p>
                  </a:txBody>
                  <a:tcPr anchor="ctr">
                    <a:lnL w="0">
                      <a:noFill/>
                    </a:lnL>
                    <a:lnR w="0">
                      <a:noFill/>
                    </a:lnR>
                    <a:lnT w="0">
                      <a:noFill/>
                    </a:lnT>
                    <a:lnB w="0">
                      <a:noFill/>
                    </a:lnB>
                    <a:solidFill>
                      <a:schemeClr val="bg1"/>
                    </a:solidFill>
                  </a:tcPr>
                </a:tc>
                <a:tc>
                  <a:txBody>
                    <a:bodyPr/>
                    <a:lstStyle/>
                    <a:p>
                      <a:pPr algn="l"/>
                      <a:r>
                        <a:rPr lang="en-US" sz="1400" dirty="0">
                          <a:solidFill>
                            <a:schemeClr val="tx1"/>
                          </a:solidFill>
                        </a:rPr>
                        <a:t>0.96 / 0.92 / 0.79</a:t>
                      </a:r>
                    </a:p>
                  </a:txBody>
                  <a:tcPr anchor="ctr">
                    <a:lnL w="0">
                      <a:noFill/>
                    </a:lnL>
                    <a:lnR w="0">
                      <a:noFill/>
                    </a:lnR>
                    <a:lnT w="0">
                      <a:noFill/>
                    </a:lnT>
                    <a:lnB w="0">
                      <a:noFill/>
                    </a:lnB>
                    <a:solidFill>
                      <a:schemeClr val="bg1"/>
                    </a:solidFill>
                  </a:tcPr>
                </a:tc>
                <a:tc>
                  <a:txBody>
                    <a:bodyPr/>
                    <a:lstStyle/>
                    <a:p>
                      <a:pPr algn="l"/>
                      <a:r>
                        <a:rPr lang="en-US" sz="1400" b="1" dirty="0">
                          <a:solidFill>
                            <a:schemeClr val="tx1"/>
                          </a:solidFill>
                        </a:rPr>
                        <a:t>Kept</a:t>
                      </a:r>
                    </a:p>
                  </a:txBody>
                  <a:tcPr anchor="ctr">
                    <a:lnL w="0">
                      <a:noFill/>
                    </a:lnL>
                    <a:lnR w="0">
                      <a:noFill/>
                    </a:lnR>
                    <a:lnT w="0">
                      <a:noFill/>
                    </a:lnT>
                    <a:lnB w="0">
                      <a:noFill/>
                    </a:lnB>
                    <a:solidFill>
                      <a:schemeClr val="bg1"/>
                    </a:solidFill>
                  </a:tcPr>
                </a:tc>
                <a:extLst>
                  <a:ext uri="{0D108BD9-81ED-4DB2-BD59-A6C34878D82A}">
                    <a16:rowId xmlns:a16="http://schemas.microsoft.com/office/drawing/2014/main" val="10002"/>
                  </a:ext>
                </a:extLst>
              </a:tr>
              <a:tr h="530352">
                <a:tc>
                  <a:txBody>
                    <a:bodyPr/>
                    <a:lstStyle/>
                    <a:p>
                      <a:pPr algn="l"/>
                      <a:r>
                        <a:rPr lang="en-US" sz="1400" b="1" dirty="0">
                          <a:solidFill>
                            <a:schemeClr val="tx1"/>
                          </a:solidFill>
                        </a:rPr>
                        <a:t>TCN</a:t>
                      </a:r>
                    </a:p>
                  </a:txBody>
                  <a:tcPr anchor="ctr">
                    <a:lnL w="0">
                      <a:noFill/>
                    </a:lnL>
                    <a:lnR w="0">
                      <a:noFill/>
                    </a:lnR>
                    <a:lnT w="0">
                      <a:noFill/>
                    </a:lnT>
                    <a:lnB w="0">
                      <a:noFill/>
                    </a:lnB>
                    <a:solidFill>
                      <a:schemeClr val="bg2"/>
                    </a:solidFill>
                  </a:tcPr>
                </a:tc>
                <a:tc>
                  <a:txBody>
                    <a:bodyPr/>
                    <a:lstStyle/>
                    <a:p>
                      <a:pPr algn="l"/>
                      <a:r>
                        <a:rPr lang="en-US" sz="1400" dirty="0">
                          <a:solidFill>
                            <a:schemeClr val="tx1"/>
                          </a:solidFill>
                        </a:rPr>
                        <a:t>Same trunk and settings as POC</a:t>
                      </a:r>
                      <a:r>
                        <a:rPr lang="en-US" sz="1400" baseline="-25000" dirty="0">
                          <a:solidFill>
                            <a:schemeClr val="tx1"/>
                          </a:solidFill>
                        </a:rPr>
                        <a:t>A</a:t>
                      </a:r>
                      <a:r>
                        <a:rPr lang="en-US" sz="1400" dirty="0">
                          <a:solidFill>
                            <a:schemeClr val="tx1"/>
                          </a:solidFill>
                        </a:rPr>
                        <a:t>, trained as a separate run</a:t>
                      </a:r>
                    </a:p>
                  </a:txBody>
                  <a:tcPr anchor="ctr">
                    <a:lnL w="0">
                      <a:noFill/>
                    </a:lnL>
                    <a:lnR w="0">
                      <a:noFill/>
                    </a:lnR>
                    <a:lnT w="0">
                      <a:noFill/>
                    </a:lnT>
                    <a:lnB w="0">
                      <a:noFill/>
                    </a:lnB>
                    <a:solidFill>
                      <a:schemeClr val="bg2"/>
                    </a:solidFill>
                  </a:tcPr>
                </a:tc>
                <a:tc>
                  <a:txBody>
                    <a:bodyPr/>
                    <a:lstStyle/>
                    <a:p>
                      <a:pPr algn="l"/>
                      <a:r>
                        <a:rPr lang="en-US" sz="1400" dirty="0">
                          <a:solidFill>
                            <a:schemeClr val="tx1"/>
                          </a:solidFill>
                        </a:rPr>
                        <a:t>Independent φ</a:t>
                      </a:r>
                      <a:r>
                        <a:rPr lang="en-US" sz="1400" baseline="-25000" dirty="0">
                          <a:solidFill>
                            <a:schemeClr val="tx1"/>
                          </a:solidFill>
                        </a:rPr>
                        <a:t>c</a:t>
                      </a:r>
                      <a:r>
                        <a:rPr lang="en-US" sz="1400" dirty="0">
                          <a:solidFill>
                            <a:schemeClr val="tx1"/>
                          </a:solidFill>
                        </a:rPr>
                        <a:t>, ψ</a:t>
                      </a:r>
                    </a:p>
                  </a:txBody>
                  <a:tcPr anchor="ctr">
                    <a:lnL w="0">
                      <a:noFill/>
                    </a:lnL>
                    <a:lnR w="0">
                      <a:noFill/>
                    </a:lnR>
                    <a:lnT w="0">
                      <a:noFill/>
                    </a:lnT>
                    <a:lnB w="0">
                      <a:noFill/>
                    </a:lnB>
                    <a:solidFill>
                      <a:schemeClr val="bg2"/>
                    </a:solidFill>
                  </a:tcPr>
                </a:tc>
                <a:tc>
                  <a:txBody>
                    <a:bodyPr/>
                    <a:lstStyle/>
                    <a:p>
                      <a:pPr algn="l"/>
                      <a:r>
                        <a:rPr lang="en-US" sz="1400" dirty="0">
                          <a:solidFill>
                            <a:schemeClr val="tx1"/>
                          </a:solidFill>
                        </a:rPr>
                        <a:t>0.96 / 0.92 / 0.79</a:t>
                      </a:r>
                    </a:p>
                  </a:txBody>
                  <a:tcPr anchor="ctr">
                    <a:lnL w="0">
                      <a:noFill/>
                    </a:lnL>
                    <a:lnR w="0">
                      <a:noFill/>
                    </a:lnR>
                    <a:lnT w="0">
                      <a:noFill/>
                    </a:lnT>
                    <a:lnB w="0">
                      <a:noFill/>
                    </a:lnB>
                    <a:solidFill>
                      <a:schemeClr val="bg2"/>
                    </a:solidFill>
                  </a:tcPr>
                </a:tc>
                <a:tc>
                  <a:txBody>
                    <a:bodyPr/>
                    <a:lstStyle/>
                    <a:p>
                      <a:pPr algn="l"/>
                      <a:r>
                        <a:rPr lang="en-US" sz="1400" b="1" dirty="0">
                          <a:solidFill>
                            <a:schemeClr val="tx1"/>
                          </a:solidFill>
                        </a:rPr>
                        <a:t>Kept</a:t>
                      </a:r>
                    </a:p>
                  </a:txBody>
                  <a:tcPr anchor="ctr">
                    <a:lnL w="0">
                      <a:noFill/>
                    </a:lnL>
                    <a:lnR w="0">
                      <a:noFill/>
                    </a:lnR>
                    <a:lnT w="0">
                      <a:noFill/>
                    </a:lnT>
                    <a:lnB w="0">
                      <a:noFill/>
                    </a:lnB>
                    <a:solidFill>
                      <a:schemeClr val="bg2"/>
                    </a:solidFill>
                  </a:tcPr>
                </a:tc>
                <a:extLst>
                  <a:ext uri="{0D108BD9-81ED-4DB2-BD59-A6C34878D82A}">
                    <a16:rowId xmlns:a16="http://schemas.microsoft.com/office/drawing/2014/main" val="10003"/>
                  </a:ext>
                </a:extLst>
              </a:tr>
              <a:tr h="530352">
                <a:tc>
                  <a:txBody>
                    <a:bodyPr/>
                    <a:lstStyle/>
                    <a:p>
                      <a:pPr algn="l"/>
                      <a:r>
                        <a:rPr lang="en-US" sz="1400" b="1" dirty="0">
                          <a:solidFill>
                            <a:schemeClr val="tx1"/>
                          </a:solidFill>
                        </a:rPr>
                        <a:t>CNN</a:t>
                      </a:r>
                      <a:r>
                        <a:rPr lang="en-US" sz="1400" b="1" baseline="-25000" dirty="0">
                          <a:solidFill>
                            <a:schemeClr val="tx1"/>
                          </a:solidFill>
                        </a:rPr>
                        <a:t>baseline</a:t>
                      </a:r>
                    </a:p>
                  </a:txBody>
                  <a:tcPr anchor="ctr">
                    <a:lnL w="0">
                      <a:noFill/>
                    </a:lnL>
                    <a:lnR w="0">
                      <a:noFill/>
                    </a:lnR>
                    <a:lnT w="0">
                      <a:noFill/>
                    </a:lnT>
                    <a:lnB w="0">
                      <a:noFill/>
                    </a:lnB>
                    <a:solidFill>
                      <a:schemeClr val="bg1"/>
                    </a:solidFill>
                  </a:tcPr>
                </a:tc>
                <a:tc>
                  <a:txBody>
                    <a:bodyPr/>
                    <a:lstStyle/>
                    <a:p>
                      <a:pPr algn="l"/>
                      <a:r>
                        <a:rPr lang="en-US" sz="1400" dirty="0">
                          <a:solidFill>
                            <a:schemeClr val="tx1"/>
                          </a:solidFill>
                        </a:rPr>
                        <a:t>Plain stack of 4 conv + max-pool blocks, about 100k parameters</a:t>
                      </a:r>
                    </a:p>
                  </a:txBody>
                  <a:tcPr anchor="ctr">
                    <a:lnL w="0">
                      <a:noFill/>
                    </a:lnL>
                    <a:lnR w="0">
                      <a:noFill/>
                    </a:lnR>
                    <a:lnT w="0">
                      <a:noFill/>
                    </a:lnT>
                    <a:lnB w="0">
                      <a:noFill/>
                    </a:lnB>
                    <a:solidFill>
                      <a:schemeClr val="bg1"/>
                    </a:solidFill>
                  </a:tcPr>
                </a:tc>
                <a:tc>
                  <a:txBody>
                    <a:bodyPr/>
                    <a:lstStyle/>
                    <a:p>
                      <a:pPr algn="l"/>
                      <a:r>
                        <a:rPr lang="en-US" sz="1400" dirty="0">
                          <a:solidFill>
                            <a:schemeClr val="tx1"/>
                          </a:solidFill>
                        </a:rPr>
                        <a:t>Independent φ</a:t>
                      </a:r>
                      <a:r>
                        <a:rPr lang="en-US" sz="1400" baseline="-25000" dirty="0">
                          <a:solidFill>
                            <a:schemeClr val="tx1"/>
                          </a:solidFill>
                        </a:rPr>
                        <a:t>c</a:t>
                      </a:r>
                      <a:r>
                        <a:rPr lang="en-US" sz="1400" dirty="0">
                          <a:solidFill>
                            <a:schemeClr val="tx1"/>
                          </a:solidFill>
                        </a:rPr>
                        <a:t>, ψ</a:t>
                      </a:r>
                    </a:p>
                  </a:txBody>
                  <a:tcPr anchor="ctr">
                    <a:lnL w="0">
                      <a:noFill/>
                    </a:lnL>
                    <a:lnR w="0">
                      <a:noFill/>
                    </a:lnR>
                    <a:lnT w="0">
                      <a:noFill/>
                    </a:lnT>
                    <a:lnB w="0">
                      <a:noFill/>
                    </a:lnB>
                    <a:solidFill>
                      <a:schemeClr val="bg1"/>
                    </a:solidFill>
                  </a:tcPr>
                </a:tc>
                <a:tc>
                  <a:txBody>
                    <a:bodyPr/>
                    <a:lstStyle/>
                    <a:p>
                      <a:pPr algn="l"/>
                      <a:r>
                        <a:rPr lang="en-US" sz="1400" dirty="0">
                          <a:solidFill>
                            <a:schemeClr val="tx1"/>
                          </a:solidFill>
                        </a:rPr>
                        <a:t>0.83 / 0.82 / 0.70</a:t>
                      </a:r>
                    </a:p>
                  </a:txBody>
                  <a:tcPr anchor="ctr">
                    <a:lnL w="0">
                      <a:noFill/>
                    </a:lnL>
                    <a:lnR w="0">
                      <a:noFill/>
                    </a:lnR>
                    <a:lnT w="0">
                      <a:noFill/>
                    </a:lnT>
                    <a:lnB w="0">
                      <a:noFill/>
                    </a:lnB>
                    <a:solidFill>
                      <a:schemeClr val="bg1"/>
                    </a:solidFill>
                  </a:tcPr>
                </a:tc>
                <a:tc>
                  <a:txBody>
                    <a:bodyPr/>
                    <a:lstStyle/>
                    <a:p>
                      <a:pPr algn="l"/>
                      <a:r>
                        <a:rPr lang="en-US" sz="1400" dirty="0">
                          <a:solidFill>
                            <a:schemeClr val="accent5"/>
                          </a:solidFill>
                        </a:rPr>
                        <a:t>Dropped</a:t>
                      </a:r>
                    </a:p>
                  </a:txBody>
                  <a:tcPr anchor="ctr">
                    <a:lnL w="0">
                      <a:noFill/>
                    </a:lnL>
                    <a:lnR w="0">
                      <a:noFill/>
                    </a:lnR>
                    <a:lnT w="0">
                      <a:noFill/>
                    </a:lnT>
                    <a:lnB w="0">
                      <a:noFill/>
                    </a:lnB>
                    <a:solidFill>
                      <a:schemeClr val="bg1"/>
                    </a:solidFill>
                  </a:tcPr>
                </a:tc>
                <a:extLst>
                  <a:ext uri="{0D108BD9-81ED-4DB2-BD59-A6C34878D82A}">
                    <a16:rowId xmlns:a16="http://schemas.microsoft.com/office/drawing/2014/main" val="10004"/>
                  </a:ext>
                </a:extLst>
              </a:tr>
              <a:tr h="530352">
                <a:tc>
                  <a:txBody>
                    <a:bodyPr/>
                    <a:lstStyle/>
                    <a:p>
                      <a:pPr algn="l"/>
                      <a:r>
                        <a:rPr lang="en-US" sz="1400" b="1" dirty="0">
                          <a:solidFill>
                            <a:schemeClr val="tx1"/>
                          </a:solidFill>
                        </a:rPr>
                        <a:t>CNN</a:t>
                      </a:r>
                      <a:r>
                        <a:rPr lang="en-US" sz="1400" b="1" baseline="-25000" dirty="0">
                          <a:solidFill>
                            <a:schemeClr val="tx1"/>
                          </a:solidFill>
                        </a:rPr>
                        <a:t>attention</a:t>
                      </a:r>
                    </a:p>
                  </a:txBody>
                  <a:tcPr anchor="ctr">
                    <a:lnL w="0">
                      <a:noFill/>
                    </a:lnL>
                    <a:lnR w="0">
                      <a:noFill/>
                    </a:lnR>
                    <a:lnT w="0">
                      <a:noFill/>
                    </a:lnT>
                    <a:lnB w="0">
                      <a:noFill/>
                    </a:lnB>
                    <a:solidFill>
                      <a:schemeClr val="bg2"/>
                    </a:solidFill>
                  </a:tcPr>
                </a:tc>
                <a:tc>
                  <a:txBody>
                    <a:bodyPr/>
                    <a:lstStyle/>
                    <a:p>
                      <a:pPr algn="l"/>
                      <a:r>
                        <a:rPr lang="en-US" sz="1400" dirty="0">
                          <a:solidFill>
                            <a:schemeClr val="tx1"/>
                          </a:solidFill>
                        </a:rPr>
                        <a:t>Conv front-end to 128 tokens, 2 transformer blocks, attention pooling</a:t>
                      </a:r>
                    </a:p>
                  </a:txBody>
                  <a:tcPr anchor="ctr">
                    <a:lnL w="0">
                      <a:noFill/>
                    </a:lnL>
                    <a:lnR w="0">
                      <a:noFill/>
                    </a:lnR>
                    <a:lnT w="0">
                      <a:noFill/>
                    </a:lnT>
                    <a:lnB w="0">
                      <a:noFill/>
                    </a:lnB>
                    <a:solidFill>
                      <a:schemeClr val="bg2"/>
                    </a:solidFill>
                  </a:tcPr>
                </a:tc>
                <a:tc>
                  <a:txBody>
                    <a:bodyPr/>
                    <a:lstStyle/>
                    <a:p>
                      <a:pPr algn="l"/>
                      <a:r>
                        <a:rPr lang="en-US" sz="1400" dirty="0">
                          <a:solidFill>
                            <a:schemeClr val="tx1"/>
                          </a:solidFill>
                        </a:rPr>
                        <a:t>Independent φ</a:t>
                      </a:r>
                      <a:r>
                        <a:rPr lang="en-US" sz="1400" baseline="-25000" dirty="0">
                          <a:solidFill>
                            <a:schemeClr val="tx1"/>
                          </a:solidFill>
                        </a:rPr>
                        <a:t>c</a:t>
                      </a:r>
                      <a:r>
                        <a:rPr lang="en-US" sz="1400" dirty="0">
                          <a:solidFill>
                            <a:schemeClr val="tx1"/>
                          </a:solidFill>
                        </a:rPr>
                        <a:t>, ψ</a:t>
                      </a:r>
                    </a:p>
                  </a:txBody>
                  <a:tcPr anchor="ctr">
                    <a:lnL w="0">
                      <a:noFill/>
                    </a:lnL>
                    <a:lnR w="0">
                      <a:noFill/>
                    </a:lnR>
                    <a:lnT w="0">
                      <a:noFill/>
                    </a:lnT>
                    <a:lnB w="0">
                      <a:noFill/>
                    </a:lnB>
                    <a:solidFill>
                      <a:schemeClr val="bg2"/>
                    </a:solidFill>
                  </a:tcPr>
                </a:tc>
                <a:tc>
                  <a:txBody>
                    <a:bodyPr/>
                    <a:lstStyle/>
                    <a:p>
                      <a:pPr algn="l"/>
                      <a:r>
                        <a:rPr lang="en-US" sz="1400" dirty="0">
                          <a:solidFill>
                            <a:schemeClr val="tx1"/>
                          </a:solidFill>
                        </a:rPr>
                        <a:t>0.92 / 0.90 / 0.72</a:t>
                      </a:r>
                    </a:p>
                  </a:txBody>
                  <a:tcPr anchor="ctr">
                    <a:lnL w="0">
                      <a:noFill/>
                    </a:lnL>
                    <a:lnR w="0">
                      <a:noFill/>
                    </a:lnR>
                    <a:lnT w="0">
                      <a:noFill/>
                    </a:lnT>
                    <a:lnB w="0">
                      <a:noFill/>
                    </a:lnB>
                    <a:solidFill>
                      <a:schemeClr val="bg2"/>
                    </a:solidFill>
                  </a:tcPr>
                </a:tc>
                <a:tc>
                  <a:txBody>
                    <a:bodyPr/>
                    <a:lstStyle/>
                    <a:p>
                      <a:pPr algn="l"/>
                      <a:r>
                        <a:rPr lang="en-US" sz="1400" b="1" dirty="0">
                          <a:solidFill>
                            <a:schemeClr val="tx1"/>
                          </a:solidFill>
                        </a:rPr>
                        <a:t>Kept</a:t>
                      </a:r>
                    </a:p>
                  </a:txBody>
                  <a:tcPr anchor="ctr">
                    <a:lnL w="0">
                      <a:noFill/>
                    </a:lnL>
                    <a:lnR w="0">
                      <a:noFill/>
                    </a:lnR>
                    <a:lnT w="0">
                      <a:noFill/>
                    </a:lnT>
                    <a:lnB w="0">
                      <a:noFill/>
                    </a:lnB>
                    <a:solidFill>
                      <a:schemeClr val="bg2"/>
                    </a:solidFill>
                  </a:tcPr>
                </a:tc>
                <a:extLst>
                  <a:ext uri="{0D108BD9-81ED-4DB2-BD59-A6C34878D82A}">
                    <a16:rowId xmlns:a16="http://schemas.microsoft.com/office/drawing/2014/main" val="10005"/>
                  </a:ext>
                </a:extLst>
              </a:tr>
              <a:tr h="530352">
                <a:tc>
                  <a:txBody>
                    <a:bodyPr/>
                    <a:lstStyle/>
                    <a:p>
                      <a:pPr algn="l"/>
                      <a:r>
                        <a:rPr lang="en-US" sz="1400" b="1" dirty="0">
                          <a:solidFill>
                            <a:schemeClr val="tx1"/>
                          </a:solidFill>
                        </a:rPr>
                        <a:t>InceptionTime</a:t>
                      </a:r>
                    </a:p>
                  </a:txBody>
                  <a:tcPr anchor="ctr">
                    <a:lnL w="0">
                      <a:noFill/>
                    </a:lnL>
                    <a:lnR w="0">
                      <a:noFill/>
                    </a:lnR>
                    <a:lnT w="0">
                      <a:noFill/>
                    </a:lnT>
                    <a:lnB w="0">
                      <a:noFill/>
                    </a:lnB>
                    <a:solidFill>
                      <a:schemeClr val="bg1"/>
                    </a:solidFill>
                  </a:tcPr>
                </a:tc>
                <a:tc>
                  <a:txBody>
                    <a:bodyPr/>
                    <a:lstStyle/>
                    <a:p>
                      <a:pPr algn="l"/>
                      <a:r>
                        <a:rPr lang="en-US" sz="1400" dirty="0">
                          <a:solidFill>
                            <a:schemeClr val="tx1"/>
                          </a:solidFill>
                        </a:rPr>
                        <a:t>6 inception modules; parallel kernels of 9, 19 and 39 samples</a:t>
                      </a:r>
                    </a:p>
                  </a:txBody>
                  <a:tcPr anchor="ctr">
                    <a:lnL w="0">
                      <a:noFill/>
                    </a:lnL>
                    <a:lnR w="0">
                      <a:noFill/>
                    </a:lnR>
                    <a:lnT w="0">
                      <a:noFill/>
                    </a:lnT>
                    <a:lnB w="0">
                      <a:noFill/>
                    </a:lnB>
                    <a:solidFill>
                      <a:schemeClr val="bg1"/>
                    </a:solidFill>
                  </a:tcPr>
                </a:tc>
                <a:tc>
                  <a:txBody>
                    <a:bodyPr/>
                    <a:lstStyle/>
                    <a:p>
                      <a:pPr algn="l"/>
                      <a:r>
                        <a:rPr lang="en-US" sz="1400" dirty="0">
                          <a:solidFill>
                            <a:schemeClr val="tx1"/>
                          </a:solidFill>
                        </a:rPr>
                        <a:t>Independent φ</a:t>
                      </a:r>
                      <a:r>
                        <a:rPr lang="en-US" sz="1400" baseline="-25000" dirty="0">
                          <a:solidFill>
                            <a:schemeClr val="tx1"/>
                          </a:solidFill>
                        </a:rPr>
                        <a:t>c</a:t>
                      </a:r>
                      <a:r>
                        <a:rPr lang="en-US" sz="1400" dirty="0">
                          <a:solidFill>
                            <a:schemeClr val="tx1"/>
                          </a:solidFill>
                        </a:rPr>
                        <a:t>, ψ</a:t>
                      </a:r>
                    </a:p>
                  </a:txBody>
                  <a:tcPr anchor="ctr">
                    <a:lnL w="0">
                      <a:noFill/>
                    </a:lnL>
                    <a:lnR w="0">
                      <a:noFill/>
                    </a:lnR>
                    <a:lnT w="0">
                      <a:noFill/>
                    </a:lnT>
                    <a:lnB w="0">
                      <a:noFill/>
                    </a:lnB>
                    <a:solidFill>
                      <a:schemeClr val="bg1"/>
                    </a:solidFill>
                  </a:tcPr>
                </a:tc>
                <a:tc>
                  <a:txBody>
                    <a:bodyPr/>
                    <a:lstStyle/>
                    <a:p>
                      <a:pPr algn="l"/>
                      <a:r>
                        <a:rPr lang="en-US" sz="1400" b="1" dirty="0">
                          <a:solidFill>
                            <a:schemeClr val="tx1"/>
                          </a:solidFill>
                        </a:rPr>
                        <a:t>0.91 / 0.00 / 0.71</a:t>
                      </a:r>
                    </a:p>
                  </a:txBody>
                  <a:tcPr anchor="ctr">
                    <a:lnL w="0">
                      <a:noFill/>
                    </a:lnL>
                    <a:lnR w="0">
                      <a:noFill/>
                    </a:lnR>
                    <a:lnT w="0">
                      <a:noFill/>
                    </a:lnT>
                    <a:lnB w="0">
                      <a:noFill/>
                    </a:lnB>
                    <a:solidFill>
                      <a:schemeClr val="bg1"/>
                    </a:solidFill>
                  </a:tcPr>
                </a:tc>
                <a:tc>
                  <a:txBody>
                    <a:bodyPr/>
                    <a:lstStyle/>
                    <a:p>
                      <a:pPr algn="l"/>
                      <a:r>
                        <a:rPr lang="en-US" sz="1400" dirty="0">
                          <a:solidFill>
                            <a:schemeClr val="accent5"/>
                          </a:solidFill>
                        </a:rPr>
                        <a:t>Dropped</a:t>
                      </a:r>
                    </a:p>
                  </a:txBody>
                  <a:tcPr anchor="ctr">
                    <a:lnL w="0">
                      <a:noFill/>
                    </a:lnL>
                    <a:lnR w="0">
                      <a:noFill/>
                    </a:lnR>
                    <a:lnT w="0">
                      <a:noFill/>
                    </a:lnT>
                    <a:lnB w="0">
                      <a:noFill/>
                    </a:lnB>
                    <a:solidFill>
                      <a:schemeClr val="bg1"/>
                    </a:solidFill>
                  </a:tcPr>
                </a:tc>
                <a:extLst>
                  <a:ext uri="{0D108BD9-81ED-4DB2-BD59-A6C34878D82A}">
                    <a16:rowId xmlns:a16="http://schemas.microsoft.com/office/drawing/2014/main" val="10006"/>
                  </a:ext>
                </a:extLst>
              </a:tr>
              <a:tr h="530352">
                <a:tc>
                  <a:txBody>
                    <a:bodyPr/>
                    <a:lstStyle/>
                    <a:p>
                      <a:pPr algn="l"/>
                      <a:r>
                        <a:rPr lang="en-US" sz="1400" b="1" dirty="0">
                          <a:solidFill>
                            <a:schemeClr val="tx1"/>
                          </a:solidFill>
                        </a:rPr>
                        <a:t>ResNet1D</a:t>
                      </a:r>
                    </a:p>
                  </a:txBody>
                  <a:tcPr anchor="ctr">
                    <a:lnL w="0">
                      <a:noFill/>
                    </a:lnL>
                    <a:lnR w="0">
                      <a:noFill/>
                    </a:lnR>
                    <a:lnT w="0">
                      <a:noFill/>
                    </a:lnT>
                    <a:lnB w="0">
                      <a:noFill/>
                    </a:lnB>
                    <a:solidFill>
                      <a:schemeClr val="bg2"/>
                    </a:solidFill>
                  </a:tcPr>
                </a:tc>
                <a:tc>
                  <a:txBody>
                    <a:bodyPr/>
                    <a:lstStyle/>
                    <a:p>
                      <a:pPr algn="l"/>
                      <a:r>
                        <a:rPr lang="en-US" sz="1400" dirty="0">
                          <a:solidFill>
                            <a:schemeClr val="tx1"/>
                          </a:solidFill>
                        </a:rPr>
                        <a:t>3 stages of dilated residual blocks (64, 128, 256 filters)</a:t>
                      </a:r>
                    </a:p>
                  </a:txBody>
                  <a:tcPr anchor="ctr">
                    <a:lnL w="0">
                      <a:noFill/>
                    </a:lnL>
                    <a:lnR w="0">
                      <a:noFill/>
                    </a:lnR>
                    <a:lnT w="0">
                      <a:noFill/>
                    </a:lnT>
                    <a:lnB w="0">
                      <a:noFill/>
                    </a:lnB>
                    <a:solidFill>
                      <a:schemeClr val="bg2"/>
                    </a:solidFill>
                  </a:tcPr>
                </a:tc>
                <a:tc>
                  <a:txBody>
                    <a:bodyPr/>
                    <a:lstStyle/>
                    <a:p>
                      <a:pPr algn="l"/>
                      <a:r>
                        <a:rPr lang="en-US" sz="1400" dirty="0">
                          <a:solidFill>
                            <a:schemeClr val="tx1"/>
                          </a:solidFill>
                        </a:rPr>
                        <a:t>Independent φ</a:t>
                      </a:r>
                      <a:r>
                        <a:rPr lang="en-US" sz="1400" baseline="-25000" dirty="0">
                          <a:solidFill>
                            <a:schemeClr val="tx1"/>
                          </a:solidFill>
                        </a:rPr>
                        <a:t>c</a:t>
                      </a:r>
                      <a:r>
                        <a:rPr lang="en-US" sz="1400" dirty="0">
                          <a:solidFill>
                            <a:schemeClr val="tx1"/>
                          </a:solidFill>
                        </a:rPr>
                        <a:t>, ψ</a:t>
                      </a:r>
                    </a:p>
                  </a:txBody>
                  <a:tcPr anchor="ctr">
                    <a:lnL w="0">
                      <a:noFill/>
                    </a:lnL>
                    <a:lnR w="0">
                      <a:noFill/>
                    </a:lnR>
                    <a:lnT w="0">
                      <a:noFill/>
                    </a:lnT>
                    <a:lnB w="0">
                      <a:noFill/>
                    </a:lnB>
                    <a:solidFill>
                      <a:schemeClr val="bg2"/>
                    </a:solidFill>
                  </a:tcPr>
                </a:tc>
                <a:tc>
                  <a:txBody>
                    <a:bodyPr/>
                    <a:lstStyle/>
                    <a:p>
                      <a:pPr algn="l"/>
                      <a:r>
                        <a:rPr lang="en-US" sz="1400" dirty="0">
                          <a:solidFill>
                            <a:schemeClr val="tx1"/>
                          </a:solidFill>
                        </a:rPr>
                        <a:t>0.90 / 0.87 / 0.76</a:t>
                      </a:r>
                    </a:p>
                  </a:txBody>
                  <a:tcPr anchor="ctr">
                    <a:lnL w="0">
                      <a:noFill/>
                    </a:lnL>
                    <a:lnR w="0">
                      <a:noFill/>
                    </a:lnR>
                    <a:lnT w="0">
                      <a:noFill/>
                    </a:lnT>
                    <a:lnB w="0">
                      <a:noFill/>
                    </a:lnB>
                    <a:solidFill>
                      <a:schemeClr val="bg2"/>
                    </a:solidFill>
                  </a:tcPr>
                </a:tc>
                <a:tc>
                  <a:txBody>
                    <a:bodyPr/>
                    <a:lstStyle/>
                    <a:p>
                      <a:pPr algn="l"/>
                      <a:r>
                        <a:rPr lang="en-US" sz="1400" dirty="0">
                          <a:solidFill>
                            <a:schemeClr val="accent5"/>
                          </a:solidFill>
                        </a:rPr>
                        <a:t>Dropped</a:t>
                      </a:r>
                    </a:p>
                  </a:txBody>
                  <a:tcPr anchor="ctr">
                    <a:lnL w="0">
                      <a:noFill/>
                    </a:lnL>
                    <a:lnR w="0">
                      <a:noFill/>
                    </a:lnR>
                    <a:lnT w="0">
                      <a:noFill/>
                    </a:lnT>
                    <a:lnB w="0">
                      <a:noFill/>
                    </a:lnB>
                    <a:solidFill>
                      <a:schemeClr val="bg2"/>
                    </a:solidFill>
                  </a:tcPr>
                </a:tc>
                <a:extLst>
                  <a:ext uri="{0D108BD9-81ED-4DB2-BD59-A6C34878D82A}">
                    <a16:rowId xmlns:a16="http://schemas.microsoft.com/office/drawing/2014/main" val="10007"/>
                  </a:ext>
                </a:extLst>
              </a:tr>
            </a:tbl>
          </a:graphicData>
        </a:graphic>
      </p:graphicFrame>
      <p:sp>
        <p:nvSpPr>
          <p:cNvPr id="5" name="Caption"/>
          <p:cNvSpPr txBox="1"/>
          <p:nvPr/>
        </p:nvSpPr>
        <p:spPr>
          <a:xfrm>
            <a:off x="548640" y="5577840"/>
            <a:ext cx="11064240" cy="640080"/>
          </a:xfrm>
          <a:prstGeom prst="rect">
            <a:avLst/>
          </a:prstGeom>
          <a:noFill/>
        </p:spPr>
        <p:txBody>
          <a:bodyPr wrap="square" lIns="0" tIns="0" rIns="0" bIns="0" rtlCol="0" anchor="t"/>
          <a:lstStyle/>
          <a:p>
            <a:pPr marL="0" indent="0" algn="ctr">
              <a:buNone/>
            </a:pPr>
            <a:r>
              <a:rPr lang="en-US" sz="1400" dirty="0">
                <a:solidFill>
                  <a:schemeClr val="accent5"/>
                </a:solidFill>
              </a:rPr>
              <a:t>Control R</a:t>
            </a:r>
            <a:r>
              <a:rPr lang="en-US" sz="1400" baseline="30000" dirty="0">
                <a:solidFill>
                  <a:schemeClr val="accent5"/>
                </a:solidFill>
              </a:rPr>
              <a:t>2</a:t>
            </a:r>
            <a:r>
              <a:rPr lang="en-US" sz="1400" dirty="0">
                <a:solidFill>
                  <a:schemeClr val="accent5"/>
                </a:solidFill>
              </a:rPr>
              <a:t> on validation: chirp mass / merger time / SNR. All seven configurations use </a:t>
            </a:r>
            <a:r>
              <a:rPr lang="en-US" sz="1400" i="1" dirty="0">
                <a:solidFill>
                  <a:schemeClr val="accent5"/>
                </a:solidFill>
              </a:rPr>
              <a:t>λ</a:t>
            </a:r>
            <a:r>
              <a:rPr lang="en-US" sz="1400" dirty="0">
                <a:solidFill>
                  <a:schemeClr val="accent5"/>
                </a:solidFill>
              </a:rPr>
              <a:t> = 0.01, 80 epochs and seed 42.</a:t>
            </a:r>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100">
                <a:solidFill>
                  <a:srgbClr val="55627A"/>
                </a:solidFill>
              </a:defRPr>
            </a:lvl1pPr>
          </a:lstStyle>
          <a:p>
            <a:pPr algn="r"/>
            <a:fld id="{F7021451-1387-4CA6-816F-3879F97B5CBC}" type="slidenum">
              <a:rPr lang="en-US" b="0"/>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ext 0"/>
          <p:cNvSpPr>
            <a:spLocks noGrp="1"/>
          </p:cNvSpPr>
          <p:nvPr>
            <p:ph type="title" idx="100" hasCustomPrompt="1"/>
          </p:nvPr>
        </p:nvSpPr>
        <p:spPr>
          <a:xfrm>
            <a:off x="548640" y="365760"/>
            <a:ext cx="11064240" cy="777240"/>
          </a:xfrm>
          <a:prstGeom prst="rect">
            <a:avLst/>
          </a:prstGeom>
          <a:noFill/>
          <a:ln/>
        </p:spPr>
        <p:txBody>
          <a:bodyPr wrap="square" lIns="0" tIns="0" rIns="0" bIns="0" rtlCol="0" anchor="t"/>
          <a:lstStyle/>
          <a:p>
            <a:pPr marL="0" indent="0" algn="l">
              <a:buNone/>
            </a:pPr>
            <a:r>
              <a:rPr lang="en-US" sz="3600" b="1" dirty="0">
                <a:solidFill>
                  <a:schemeClr val="tx1"/>
                </a:solidFill>
              </a:rPr>
              <a:t>Results at a glance</a:t>
            </a:r>
            <a:endParaRPr lang="en-US" sz="3600" dirty="0"/>
          </a:p>
        </p:txBody>
      </p:sp>
      <p:pic>
        <p:nvPicPr>
          <p:cNvPr id="4" name="Image 0" descr="Health-check heatmap: positive-control heads green, φc and ψ heads dead or collapsed in all four models"/>
          <p:cNvPicPr>
            <a:picLocks noChangeAspect="1"/>
          </p:cNvPicPr>
          <p:nvPr/>
        </p:nvPicPr>
        <p:blipFill>
          <a:blip r:embed="rId3"/>
          <a:stretch>
            <a:fillRect/>
          </a:stretch>
        </p:blipFill>
        <p:spPr>
          <a:xfrm>
            <a:off x="1340335" y="1325880"/>
            <a:ext cx="9480850" cy="2286000"/>
          </a:xfrm>
          <a:prstGeom prst="rect">
            <a:avLst/>
          </a:prstGeom>
        </p:spPr>
      </p:pic>
      <p:grpSp>
        <p:nvGrpSpPr>
          <p:cNvPr id="2" name="Group 1">
            <a:extLst>
              <a:ext uri="{FF2B5EF4-FFF2-40B4-BE49-F238E27FC236}">
                <a16:creationId xmlns:a16="http://schemas.microsoft.com/office/drawing/2014/main" id="{35D4C30E-0E4E-467B-C962-049EACD69CDC}"/>
              </a:ext>
            </a:extLst>
          </p:cNvPr>
          <p:cNvGrpSpPr/>
          <p:nvPr/>
        </p:nvGrpSpPr>
        <p:grpSpPr>
          <a:xfrm>
            <a:off x="548640" y="3794760"/>
            <a:ext cx="3566160" cy="2377440"/>
            <a:chOff x="548640" y="3794760"/>
            <a:chExt cx="3566160" cy="2377440"/>
          </a:xfrm>
        </p:grpSpPr>
        <p:sp>
          <p:nvSpPr>
            <p:cNvPr id="5" name="takeaway 0"/>
            <p:cNvSpPr/>
            <p:nvPr/>
          </p:nvSpPr>
          <p:spPr>
            <a:xfrm>
              <a:off x="548640" y="3794760"/>
              <a:ext cx="3566160" cy="2377440"/>
            </a:xfrm>
            <a:prstGeom prst="roundRect">
              <a:avLst>
                <a:gd name="adj" fmla="val 4615"/>
              </a:avLst>
            </a:prstGeom>
            <a:solidFill>
              <a:schemeClr val="bg2"/>
            </a:solidFill>
            <a:ln w="12700">
              <a:solidFill>
                <a:schemeClr val="bg2"/>
              </a:solidFill>
              <a:prstDash val="solid"/>
            </a:ln>
            <a:effectLst>
              <a:outerShdw blurRad="101600" dist="25400" dir="5400000" algn="bl" rotWithShape="0">
                <a:srgbClr val="0F1B33">
                  <a:alpha val="12000"/>
                </a:srgbClr>
              </a:outerShdw>
            </a:effectLst>
          </p:spPr>
        </p:sp>
        <p:sp>
          <p:nvSpPr>
            <p:cNvPr id="6" name="Text 2"/>
            <p:cNvSpPr txBox="1"/>
            <p:nvPr/>
          </p:nvSpPr>
          <p:spPr>
            <a:xfrm>
              <a:off x="822960" y="4023360"/>
              <a:ext cx="3017520" cy="457200"/>
            </a:xfrm>
            <a:prstGeom prst="rect">
              <a:avLst/>
            </a:prstGeom>
            <a:noFill/>
            <a:ln/>
          </p:spPr>
          <p:txBody>
            <a:bodyPr wrap="square" lIns="0" tIns="0" rIns="0" bIns="0" rtlCol="0" anchor="t"/>
            <a:lstStyle/>
            <a:p>
              <a:pPr marL="0" indent="0">
                <a:buNone/>
              </a:pPr>
              <a:r>
                <a:rPr lang="en-US" sz="2000" b="1" dirty="0">
                  <a:solidFill>
                    <a:schemeClr val="accent2"/>
                  </a:solidFill>
                  <a:latin typeface="Cambria" pitchFamily="34" charset="0"/>
                  <a:ea typeface="Cambria" pitchFamily="34" charset="-122"/>
                  <a:cs typeface="Cambria" pitchFamily="34" charset="-120"/>
                </a:rPr>
                <a:t>Controls recover</a:t>
              </a:r>
              <a:endParaRPr lang="en-US" sz="2000" dirty="0"/>
            </a:p>
          </p:txBody>
        </p:sp>
        <p:sp>
          <p:nvSpPr>
            <p:cNvPr id="7" name="Text 3"/>
            <p:cNvSpPr txBox="1"/>
            <p:nvPr/>
          </p:nvSpPr>
          <p:spPr>
            <a:xfrm>
              <a:off x="822960" y="4572000"/>
              <a:ext cx="3017520" cy="1463040"/>
            </a:xfrm>
            <a:prstGeom prst="rect">
              <a:avLst/>
            </a:prstGeom>
            <a:noFill/>
            <a:ln/>
          </p:spPr>
          <p:txBody>
            <a:bodyPr wrap="square" lIns="0" tIns="0" rIns="0" bIns="0" rtlCol="0" anchor="t"/>
            <a:lstStyle/>
            <a:p>
              <a:pPr marL="0" indent="0">
                <a:buNone/>
              </a:pPr>
              <a:r>
                <a:rPr lang="en-US" sz="1400" dirty="0">
                  <a:solidFill>
                    <a:schemeClr val="tx1"/>
                  </a:solidFill>
                </a:rPr>
                <a:t>Chirp mass </a:t>
              </a:r>
              <a:r>
                <a:rPr lang="en-US" sz="1400" i="1" dirty="0">
                  <a:solidFill>
                    <a:schemeClr val="tx1"/>
                  </a:solidFill>
                </a:rPr>
                <a:t>R</a:t>
              </a:r>
              <a:r>
                <a:rPr lang="en-US" sz="1400" baseline="30000" dirty="0">
                  <a:solidFill>
                    <a:schemeClr val="tx1"/>
                  </a:solidFill>
                </a:rPr>
                <a:t>2</a:t>
              </a:r>
              <a:r>
                <a:rPr lang="en-US" sz="1400" dirty="0">
                  <a:solidFill>
                    <a:schemeClr val="tx1"/>
                  </a:solidFill>
                </a:rPr>
                <a:t> 0.92–0.96, merger time 0.90–0.92, SNR 0.75–0.79: the shared features carry real information.</a:t>
              </a:r>
              <a:endParaRPr lang="en-US" sz="1400" dirty="0"/>
            </a:p>
          </p:txBody>
        </p:sp>
      </p:grpSp>
      <p:grpSp>
        <p:nvGrpSpPr>
          <p:cNvPr id="14" name="Group 13">
            <a:extLst>
              <a:ext uri="{FF2B5EF4-FFF2-40B4-BE49-F238E27FC236}">
                <a16:creationId xmlns:a16="http://schemas.microsoft.com/office/drawing/2014/main" id="{7ECC4B12-2AF7-EE6C-CE03-8166675E2A3C}"/>
              </a:ext>
            </a:extLst>
          </p:cNvPr>
          <p:cNvGrpSpPr/>
          <p:nvPr/>
        </p:nvGrpSpPr>
        <p:grpSpPr>
          <a:xfrm>
            <a:off x="4297680" y="3794760"/>
            <a:ext cx="3566160" cy="2377440"/>
            <a:chOff x="4297680" y="3794760"/>
            <a:chExt cx="3566160" cy="2377440"/>
          </a:xfrm>
        </p:grpSpPr>
        <p:sp>
          <p:nvSpPr>
            <p:cNvPr id="8" name="takeaway 1"/>
            <p:cNvSpPr/>
            <p:nvPr/>
          </p:nvSpPr>
          <p:spPr>
            <a:xfrm>
              <a:off x="4297680" y="3794760"/>
              <a:ext cx="3566160" cy="2377440"/>
            </a:xfrm>
            <a:prstGeom prst="roundRect">
              <a:avLst>
                <a:gd name="adj" fmla="val 4615"/>
              </a:avLst>
            </a:prstGeom>
            <a:solidFill>
              <a:schemeClr val="bg2"/>
            </a:solidFill>
            <a:ln w="12700">
              <a:solidFill>
                <a:schemeClr val="bg2"/>
              </a:solidFill>
              <a:prstDash val="solid"/>
            </a:ln>
            <a:effectLst>
              <a:outerShdw blurRad="101600" dist="25400" dir="5400000" algn="bl" rotWithShape="0">
                <a:srgbClr val="0F1B33">
                  <a:alpha val="12000"/>
                </a:srgbClr>
              </a:outerShdw>
            </a:effectLst>
          </p:spPr>
        </p:sp>
        <p:sp>
          <p:nvSpPr>
            <p:cNvPr id="9" name="Text 5"/>
            <p:cNvSpPr txBox="1"/>
            <p:nvPr/>
          </p:nvSpPr>
          <p:spPr>
            <a:xfrm>
              <a:off x="4572000" y="4023360"/>
              <a:ext cx="3017520" cy="457200"/>
            </a:xfrm>
            <a:prstGeom prst="rect">
              <a:avLst/>
            </a:prstGeom>
            <a:noFill/>
            <a:ln/>
          </p:spPr>
          <p:txBody>
            <a:bodyPr wrap="square" lIns="0" tIns="0" rIns="0" bIns="0" rtlCol="0" anchor="t"/>
            <a:lstStyle/>
            <a:p>
              <a:pPr marL="0" indent="0">
                <a:buNone/>
              </a:pPr>
              <a:r>
                <a:rPr lang="en-US" sz="2000" b="1" i="1" dirty="0">
                  <a:solidFill>
                    <a:schemeClr val="accent4"/>
                  </a:solidFill>
                  <a:latin typeface="Cambria" pitchFamily="34" charset="0"/>
                  <a:ea typeface="Cambria" pitchFamily="34" charset="-122"/>
                  <a:cs typeface="Cambria" pitchFamily="34" charset="-120"/>
                </a:rPr>
                <a:t>φ</a:t>
              </a:r>
              <a:r>
                <a:rPr lang="en-US" sz="2000" b="1" baseline="-25000" dirty="0">
                  <a:solidFill>
                    <a:schemeClr val="accent4"/>
                  </a:solidFill>
                  <a:latin typeface="Cambria" pitchFamily="34" charset="0"/>
                  <a:ea typeface="Cambria" pitchFamily="34" charset="-122"/>
                  <a:cs typeface="Cambria" pitchFamily="34" charset="-120"/>
                </a:rPr>
                <a:t>c</a:t>
              </a:r>
              <a:r>
                <a:rPr lang="en-US" sz="2000" b="1" dirty="0">
                  <a:solidFill>
                    <a:schemeClr val="accent4"/>
                  </a:solidFill>
                  <a:latin typeface="Cambria" pitchFamily="34" charset="0"/>
                  <a:ea typeface="Cambria" pitchFamily="34" charset="-122"/>
                  <a:cs typeface="Cambria" pitchFamily="34" charset="-120"/>
                </a:rPr>
                <a:t> and </a:t>
              </a:r>
              <a:r>
                <a:rPr lang="en-US" sz="2000" b="1" i="1" dirty="0">
                  <a:solidFill>
                    <a:schemeClr val="accent4"/>
                  </a:solidFill>
                  <a:latin typeface="Cambria" pitchFamily="34" charset="0"/>
                  <a:ea typeface="Cambria" pitchFamily="34" charset="-122"/>
                  <a:cs typeface="Cambria" pitchFamily="34" charset="-120"/>
                </a:rPr>
                <a:t>ψ</a:t>
              </a:r>
              <a:r>
                <a:rPr lang="en-US" sz="2000" b="1" dirty="0">
                  <a:solidFill>
                    <a:schemeClr val="accent4"/>
                  </a:solidFill>
                  <a:latin typeface="Cambria" pitchFamily="34" charset="0"/>
                  <a:ea typeface="Cambria" pitchFamily="34" charset="-122"/>
                  <a:cs typeface="Cambria" pitchFamily="34" charset="-120"/>
                </a:rPr>
                <a:t> do not</a:t>
              </a:r>
              <a:endParaRPr lang="en-US" sz="2000" dirty="0"/>
            </a:p>
          </p:txBody>
        </p:sp>
        <p:sp>
          <p:nvSpPr>
            <p:cNvPr id="10" name="Text 6"/>
            <p:cNvSpPr txBox="1"/>
            <p:nvPr/>
          </p:nvSpPr>
          <p:spPr>
            <a:xfrm>
              <a:off x="4572000" y="4572000"/>
              <a:ext cx="3017520" cy="1463040"/>
            </a:xfrm>
            <a:prstGeom prst="rect">
              <a:avLst/>
            </a:prstGeom>
            <a:noFill/>
            <a:ln/>
          </p:spPr>
          <p:txBody>
            <a:bodyPr wrap="square" lIns="0" tIns="0" rIns="0" bIns="0" rtlCol="0" anchor="t"/>
            <a:lstStyle/>
            <a:p>
              <a:pPr marL="0" indent="0">
                <a:buNone/>
              </a:pPr>
              <a:r>
                <a:rPr lang="en-US" sz="1400" dirty="0">
                  <a:solidFill>
                    <a:schemeClr val="tx1"/>
                  </a:solidFill>
                </a:rPr>
                <a:t>Every configuration converges to the random-guess baseline (MAE ≈ 1.55–1.59 rad for </a:t>
              </a:r>
              <a:r>
                <a:rPr lang="en-US" sz="1400" i="1" dirty="0">
                  <a:solidFill>
                    <a:schemeClr val="tx1"/>
                  </a:solidFill>
                </a:rPr>
                <a:t>φ</a:t>
              </a:r>
              <a:r>
                <a:rPr lang="en-US" sz="1400" baseline="-25000" dirty="0">
                  <a:solidFill>
                    <a:schemeClr val="tx1"/>
                  </a:solidFill>
                </a:rPr>
                <a:t>c</a:t>
              </a:r>
              <a:r>
                <a:rPr lang="en-US" sz="1400" dirty="0">
                  <a:solidFill>
                    <a:schemeClr val="tx1"/>
                  </a:solidFill>
                </a:rPr>
                <a:t>).</a:t>
              </a:r>
              <a:endParaRPr lang="en-US" sz="1400" dirty="0"/>
            </a:p>
          </p:txBody>
        </p:sp>
      </p:grpSp>
      <p:grpSp>
        <p:nvGrpSpPr>
          <p:cNvPr id="15" name="Group 14">
            <a:extLst>
              <a:ext uri="{FF2B5EF4-FFF2-40B4-BE49-F238E27FC236}">
                <a16:creationId xmlns:a16="http://schemas.microsoft.com/office/drawing/2014/main" id="{07A5137A-03A3-A433-5FAC-1B6D95825F3C}"/>
              </a:ext>
            </a:extLst>
          </p:cNvPr>
          <p:cNvGrpSpPr/>
          <p:nvPr/>
        </p:nvGrpSpPr>
        <p:grpSpPr>
          <a:xfrm>
            <a:off x="8046720" y="3794760"/>
            <a:ext cx="3566160" cy="2377440"/>
            <a:chOff x="8046720" y="3794760"/>
            <a:chExt cx="3566160" cy="2377440"/>
          </a:xfrm>
        </p:grpSpPr>
        <p:sp>
          <p:nvSpPr>
            <p:cNvPr id="11" name="takeaway 2"/>
            <p:cNvSpPr/>
            <p:nvPr/>
          </p:nvSpPr>
          <p:spPr>
            <a:xfrm>
              <a:off x="8046720" y="3794760"/>
              <a:ext cx="3566160" cy="2377440"/>
            </a:xfrm>
            <a:prstGeom prst="roundRect">
              <a:avLst>
                <a:gd name="adj" fmla="val 4615"/>
              </a:avLst>
            </a:prstGeom>
            <a:solidFill>
              <a:schemeClr val="bg2"/>
            </a:solidFill>
            <a:ln w="12700">
              <a:solidFill>
                <a:schemeClr val="bg2"/>
              </a:solidFill>
              <a:prstDash val="solid"/>
            </a:ln>
            <a:effectLst>
              <a:outerShdw blurRad="101600" dist="25400" dir="5400000" algn="bl" rotWithShape="0">
                <a:srgbClr val="0F1B33">
                  <a:alpha val="12000"/>
                </a:srgbClr>
              </a:outerShdw>
            </a:effectLst>
          </p:spPr>
        </p:sp>
        <p:sp>
          <p:nvSpPr>
            <p:cNvPr id="12" name="Text 8"/>
            <p:cNvSpPr txBox="1"/>
            <p:nvPr/>
          </p:nvSpPr>
          <p:spPr>
            <a:xfrm>
              <a:off x="8321040" y="4023360"/>
              <a:ext cx="3017520" cy="457200"/>
            </a:xfrm>
            <a:prstGeom prst="rect">
              <a:avLst/>
            </a:prstGeom>
            <a:noFill/>
            <a:ln/>
          </p:spPr>
          <p:txBody>
            <a:bodyPr wrap="square" lIns="0" tIns="0" rIns="0" bIns="0" rtlCol="0" anchor="t"/>
            <a:lstStyle/>
            <a:p>
              <a:pPr marL="0" indent="0">
                <a:buNone/>
              </a:pPr>
              <a:r>
                <a:rPr lang="en-US" sz="2000" b="1" dirty="0">
                  <a:solidFill>
                    <a:schemeClr val="accent1"/>
                  </a:solidFill>
                  <a:latin typeface="Cambria" pitchFamily="34" charset="0"/>
                  <a:ea typeface="Cambria" pitchFamily="34" charset="-122"/>
                  <a:cs typeface="Cambria" pitchFamily="34" charset="-120"/>
                </a:rPr>
                <a:t>Two modes of failure</a:t>
              </a:r>
              <a:endParaRPr lang="en-US" sz="2000" dirty="0"/>
            </a:p>
          </p:txBody>
        </p:sp>
        <p:sp>
          <p:nvSpPr>
            <p:cNvPr id="13" name="Text 9"/>
            <p:cNvSpPr txBox="1"/>
            <p:nvPr/>
          </p:nvSpPr>
          <p:spPr>
            <a:xfrm>
              <a:off x="8321040" y="4572000"/>
              <a:ext cx="3017520" cy="1463040"/>
            </a:xfrm>
            <a:prstGeom prst="rect">
              <a:avLst/>
            </a:prstGeom>
            <a:noFill/>
            <a:ln/>
          </p:spPr>
          <p:txBody>
            <a:bodyPr wrap="square" lIns="0" tIns="0" rIns="0" bIns="0" rtlCol="0" anchor="t"/>
            <a:lstStyle/>
            <a:p>
              <a:pPr marL="0" indent="0">
                <a:buNone/>
              </a:pPr>
              <a:r>
                <a:rPr lang="en-US" sz="1400" dirty="0">
                  <a:solidFill>
                    <a:schemeClr val="tx1"/>
                  </a:solidFill>
                </a:rPr>
                <a:t>POC</a:t>
              </a:r>
              <a:r>
                <a:rPr lang="en-US" sz="1400" baseline="-25000" dirty="0">
                  <a:solidFill>
                    <a:schemeClr val="tx1"/>
                  </a:solidFill>
                </a:rPr>
                <a:t>A</a:t>
              </a:r>
              <a:r>
                <a:rPr lang="en-US" sz="1400" dirty="0">
                  <a:solidFill>
                    <a:schemeClr val="tx1"/>
                  </a:solidFill>
                </a:rPr>
                <a:t> (</a:t>
              </a:r>
              <a:r>
                <a:rPr lang="en-US" sz="1400" i="1" dirty="0">
                  <a:solidFill>
                    <a:schemeClr val="tx1"/>
                  </a:solidFill>
                </a:rPr>
                <a:t>ψ</a:t>
              </a:r>
              <a:r>
                <a:rPr lang="en-US" sz="1400" dirty="0">
                  <a:solidFill>
                    <a:schemeClr val="tx1"/>
                  </a:solidFill>
                </a:rPr>
                <a:t>) and POC</a:t>
              </a:r>
              <a:r>
                <a:rPr lang="en-US" sz="1400" baseline="-25000" dirty="0">
                  <a:solidFill>
                    <a:schemeClr val="tx1"/>
                  </a:solidFill>
                </a:rPr>
                <a:t>B</a:t>
              </a:r>
              <a:r>
                <a:rPr lang="en-US" sz="1400" dirty="0">
                  <a:solidFill>
                    <a:schemeClr val="tx1"/>
                  </a:solidFill>
                </a:rPr>
                <a:t> (</a:t>
              </a:r>
              <a:r>
                <a:rPr lang="en-US" sz="1400" i="1" dirty="0">
                  <a:solidFill>
                    <a:schemeClr val="tx1"/>
                  </a:solidFill>
                </a:rPr>
                <a:t>φ</a:t>
              </a:r>
              <a:r>
                <a:rPr lang="en-US" sz="1400" baseline="-25000" dirty="0">
                  <a:solidFill>
                    <a:schemeClr val="tx1"/>
                  </a:solidFill>
                </a:rPr>
                <a:t>c</a:t>
              </a:r>
              <a:r>
                <a:rPr lang="en-US" sz="1400" dirty="0">
                  <a:solidFill>
                    <a:schemeClr val="tx1"/>
                  </a:solidFill>
                </a:rPr>
                <a:t>, </a:t>
              </a:r>
              <a:r>
                <a:rPr lang="en-US" sz="1400" i="1" dirty="0">
                  <a:solidFill>
                    <a:schemeClr val="tx1"/>
                  </a:solidFill>
                </a:rPr>
                <a:t>ψ</a:t>
              </a:r>
              <a:r>
                <a:rPr lang="en-US" sz="1400" dirty="0">
                  <a:solidFill>
                    <a:schemeClr val="tx1"/>
                  </a:solidFill>
                </a:rPr>
                <a:t>) collapse to one angle; TCN and CNN</a:t>
              </a:r>
              <a:r>
                <a:rPr lang="en-US" sz="1400" baseline="-25000" dirty="0">
                  <a:solidFill>
                    <a:schemeClr val="tx1"/>
                  </a:solidFill>
                </a:rPr>
                <a:t>attention</a:t>
              </a:r>
              <a:r>
                <a:rPr lang="en-US" sz="1400" dirty="0">
                  <a:solidFill>
                    <a:schemeClr val="tx1"/>
                  </a:solidFill>
                </a:rPr>
                <a:t> are noisy and uninformative instead.</a:t>
              </a:r>
              <a:endParaRPr lang="en-US" sz="1400" dirty="0"/>
            </a:p>
          </p:txBody>
        </p:sp>
      </p:gr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100">
                <a:solidFill>
                  <a:srgbClr val="55627A"/>
                </a:solidFill>
              </a:defRPr>
            </a:lvl1pPr>
          </a:lstStyle>
          <a:p>
            <a:pPr algn="r"/>
            <a:fld id="{F7021451-1387-4CA6-816F-3879F97B5CBC}" type="slidenum">
              <a:rPr lang="en-US" b="0"/>
              <a:t>8</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additive="base">
                                        <p:cTn id="7" dur="500" fill="hold"/>
                                        <p:tgtEl>
                                          <p:spTgt spid="4"/>
                                        </p:tgtEl>
                                        <p:attrNameLst>
                                          <p:attrName>ppt_x</p:attrName>
                                        </p:attrNameLst>
                                      </p:cBhvr>
                                      <p:tavLst>
                                        <p:tav tm="0">
                                          <p:val>
                                            <p:strVal val="#ppt_x"/>
                                          </p:val>
                                        </p:tav>
                                        <p:tav tm="100000">
                                          <p:val>
                                            <p:strVal val="#ppt_x"/>
                                          </p:val>
                                        </p:tav>
                                      </p:tavLst>
                                    </p:anim>
                                    <p:anim calcmode="lin" valueType="num">
                                      <p:cBhvr additive="base">
                                        <p:cTn id="8" dur="500" fill="hold"/>
                                        <p:tgtEl>
                                          <p:spTgt spid="4"/>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nodeType="clickEffect">
                                  <p:stCondLst>
                                    <p:cond delay="0"/>
                                  </p:stCondLst>
                                  <p:childTnLst>
                                    <p:set>
                                      <p:cBhvr>
                                        <p:cTn id="12" dur="1" fill="hold">
                                          <p:stCondLst>
                                            <p:cond delay="0"/>
                                          </p:stCondLst>
                                        </p:cTn>
                                        <p:tgtEl>
                                          <p:spTgt spid="2"/>
                                        </p:tgtEl>
                                        <p:attrNameLst>
                                          <p:attrName>style.visibility</p:attrName>
                                        </p:attrNameLst>
                                      </p:cBhvr>
                                      <p:to>
                                        <p:strVal val="visible"/>
                                      </p:to>
                                    </p:set>
                                    <p:anim calcmode="lin" valueType="num">
                                      <p:cBhvr additive="base">
                                        <p:cTn id="13" dur="500" fill="hold"/>
                                        <p:tgtEl>
                                          <p:spTgt spid="2"/>
                                        </p:tgtEl>
                                        <p:attrNameLst>
                                          <p:attrName>ppt_x</p:attrName>
                                        </p:attrNameLst>
                                      </p:cBhvr>
                                      <p:tavLst>
                                        <p:tav tm="0">
                                          <p:val>
                                            <p:strVal val="#ppt_x"/>
                                          </p:val>
                                        </p:tav>
                                        <p:tav tm="100000">
                                          <p:val>
                                            <p:strVal val="#ppt_x"/>
                                          </p:val>
                                        </p:tav>
                                      </p:tavLst>
                                    </p:anim>
                                    <p:anim calcmode="lin" valueType="num">
                                      <p:cBhvr additive="base">
                                        <p:cTn id="14" dur="500" fill="hold"/>
                                        <p:tgtEl>
                                          <p:spTgt spid="2"/>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nodeType="clickEffect">
                                  <p:stCondLst>
                                    <p:cond delay="0"/>
                                  </p:stCondLst>
                                  <p:childTnLst>
                                    <p:set>
                                      <p:cBhvr>
                                        <p:cTn id="18" dur="1" fill="hold">
                                          <p:stCondLst>
                                            <p:cond delay="0"/>
                                          </p:stCondLst>
                                        </p:cTn>
                                        <p:tgtEl>
                                          <p:spTgt spid="14"/>
                                        </p:tgtEl>
                                        <p:attrNameLst>
                                          <p:attrName>style.visibility</p:attrName>
                                        </p:attrNameLst>
                                      </p:cBhvr>
                                      <p:to>
                                        <p:strVal val="visible"/>
                                      </p:to>
                                    </p:set>
                                    <p:anim calcmode="lin" valueType="num">
                                      <p:cBhvr additive="base">
                                        <p:cTn id="19" dur="500" fill="hold"/>
                                        <p:tgtEl>
                                          <p:spTgt spid="14"/>
                                        </p:tgtEl>
                                        <p:attrNameLst>
                                          <p:attrName>ppt_x</p:attrName>
                                        </p:attrNameLst>
                                      </p:cBhvr>
                                      <p:tavLst>
                                        <p:tav tm="0">
                                          <p:val>
                                            <p:strVal val="#ppt_x"/>
                                          </p:val>
                                        </p:tav>
                                        <p:tav tm="100000">
                                          <p:val>
                                            <p:strVal val="#ppt_x"/>
                                          </p:val>
                                        </p:tav>
                                      </p:tavLst>
                                    </p:anim>
                                    <p:anim calcmode="lin" valueType="num">
                                      <p:cBhvr additive="base">
                                        <p:cTn id="20" dur="500" fill="hold"/>
                                        <p:tgtEl>
                                          <p:spTgt spid="14"/>
                                        </p:tgtEl>
                                        <p:attrNameLst>
                                          <p:attrName>ppt_y</p:attrName>
                                        </p:attrNameLst>
                                      </p:cBhvr>
                                      <p:tavLst>
                                        <p:tav tm="0">
                                          <p:val>
                                            <p:strVal val="1+#ppt_h/2"/>
                                          </p:val>
                                        </p:tav>
                                        <p:tav tm="100000">
                                          <p:val>
                                            <p:strVal val="#ppt_y"/>
                                          </p:val>
                                        </p:tav>
                                      </p:tavLst>
                                    </p:anim>
                                  </p:childTnLst>
                                </p:cTn>
                              </p:par>
                              <p:par>
                                <p:cTn id="21" presetID="2" presetClass="entr" presetSubtype="4" fill="hold" nodeType="withEffect">
                                  <p:stCondLst>
                                    <p:cond delay="0"/>
                                  </p:stCondLst>
                                  <p:childTnLst>
                                    <p:set>
                                      <p:cBhvr>
                                        <p:cTn id="22" dur="1" fill="hold">
                                          <p:stCondLst>
                                            <p:cond delay="0"/>
                                          </p:stCondLst>
                                        </p:cTn>
                                        <p:tgtEl>
                                          <p:spTgt spid="15"/>
                                        </p:tgtEl>
                                        <p:attrNameLst>
                                          <p:attrName>style.visibility</p:attrName>
                                        </p:attrNameLst>
                                      </p:cBhvr>
                                      <p:to>
                                        <p:strVal val="visible"/>
                                      </p:to>
                                    </p:set>
                                    <p:anim calcmode="lin" valueType="num">
                                      <p:cBhvr additive="base">
                                        <p:cTn id="23" dur="500" fill="hold"/>
                                        <p:tgtEl>
                                          <p:spTgt spid="15"/>
                                        </p:tgtEl>
                                        <p:attrNameLst>
                                          <p:attrName>ppt_x</p:attrName>
                                        </p:attrNameLst>
                                      </p:cBhvr>
                                      <p:tavLst>
                                        <p:tav tm="0">
                                          <p:val>
                                            <p:strVal val="#ppt_x"/>
                                          </p:val>
                                        </p:tav>
                                        <p:tav tm="100000">
                                          <p:val>
                                            <p:strVal val="#ppt_x"/>
                                          </p:val>
                                        </p:tav>
                                      </p:tavLst>
                                    </p:anim>
                                    <p:anim calcmode="lin" valueType="num">
                                      <p:cBhvr additive="base">
                                        <p:cTn id="24" dur="500" fill="hold"/>
                                        <p:tgtEl>
                                          <p:spTgt spid="15"/>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ext 0"/>
          <p:cNvSpPr>
            <a:spLocks noGrp="1"/>
          </p:cNvSpPr>
          <p:nvPr>
            <p:ph type="title" idx="100" hasCustomPrompt="1"/>
          </p:nvPr>
        </p:nvSpPr>
        <p:spPr>
          <a:xfrm>
            <a:off x="548640" y="365760"/>
            <a:ext cx="11064240" cy="777240"/>
          </a:xfrm>
          <a:prstGeom prst="rect">
            <a:avLst/>
          </a:prstGeom>
          <a:noFill/>
          <a:ln/>
        </p:spPr>
        <p:txBody>
          <a:bodyPr wrap="square" lIns="0" tIns="0" rIns="0" bIns="0" rtlCol="0" anchor="t"/>
          <a:lstStyle/>
          <a:p>
            <a:pPr marL="0" indent="0" algn="l">
              <a:buNone/>
            </a:pPr>
            <a:r>
              <a:rPr lang="en-US" sz="3600" b="1" dirty="0">
                <a:solidFill>
                  <a:schemeClr val="tx1"/>
                </a:solidFill>
              </a:rPr>
              <a:t>Mode collapse on </a:t>
            </a:r>
            <a:r>
              <a:rPr lang="en-US" sz="3600" b="1" i="1" dirty="0">
                <a:solidFill>
                  <a:schemeClr val="tx1"/>
                </a:solidFill>
              </a:rPr>
              <a:t>ψ</a:t>
            </a:r>
            <a:endParaRPr lang="en-US" sz="3600" dirty="0"/>
          </a:p>
        </p:txBody>
      </p:sp>
      <p:grpSp>
        <p:nvGrpSpPr>
          <p:cNvPr id="2" name="Group 1">
            <a:extLst>
              <a:ext uri="{FF2B5EF4-FFF2-40B4-BE49-F238E27FC236}">
                <a16:creationId xmlns:a16="http://schemas.microsoft.com/office/drawing/2014/main" id="{5AEADB76-6A56-4A66-3198-4FAF9222DD07}"/>
              </a:ext>
            </a:extLst>
          </p:cNvPr>
          <p:cNvGrpSpPr/>
          <p:nvPr/>
        </p:nvGrpSpPr>
        <p:grpSpPr>
          <a:xfrm>
            <a:off x="548640" y="1325880"/>
            <a:ext cx="7315200" cy="3840480"/>
            <a:chOff x="548640" y="1325880"/>
            <a:chExt cx="7315200" cy="3840480"/>
          </a:xfrm>
        </p:grpSpPr>
        <p:pic>
          <p:nvPicPr>
            <p:cNvPr id="4" name="Image 0" descr="Histograms of predicted ψ for four models; POC A and POC B are single spikes, TCN and CNN attention are broad uninformative bands, true ψ is flat"/>
            <p:cNvPicPr>
              <a:picLocks noChangeAspect="1"/>
            </p:cNvPicPr>
            <p:nvPr/>
          </p:nvPicPr>
          <p:blipFill>
            <a:blip r:embed="rId3"/>
            <a:stretch>
              <a:fillRect/>
            </a:stretch>
          </p:blipFill>
          <p:spPr>
            <a:xfrm>
              <a:off x="548640" y="1325880"/>
              <a:ext cx="7315200" cy="3149820"/>
            </a:xfrm>
            <a:prstGeom prst="rect">
              <a:avLst/>
            </a:prstGeom>
          </p:spPr>
        </p:pic>
        <p:sp>
          <p:nvSpPr>
            <p:cNvPr id="5" name="Text 1"/>
            <p:cNvSpPr txBox="1"/>
            <p:nvPr/>
          </p:nvSpPr>
          <p:spPr>
            <a:xfrm>
              <a:off x="548640" y="4617720"/>
              <a:ext cx="7315200" cy="548640"/>
            </a:xfrm>
            <a:prstGeom prst="rect">
              <a:avLst/>
            </a:prstGeom>
            <a:noFill/>
            <a:ln/>
          </p:spPr>
          <p:txBody>
            <a:bodyPr wrap="square" lIns="0" tIns="0" rIns="0" bIns="0" rtlCol="0" anchor="t"/>
            <a:lstStyle/>
            <a:p>
              <a:pPr marL="0" indent="0" algn="ctr">
                <a:buNone/>
              </a:pPr>
              <a:r>
                <a:rPr lang="en-US" sz="1400" dirty="0">
                  <a:solidFill>
                    <a:schemeClr val="accent5"/>
                  </a:solidFill>
                </a:rPr>
                <a:t>Grey: true </a:t>
              </a:r>
              <a:r>
                <a:rPr lang="en-US" sz="1400" i="1" dirty="0">
                  <a:solidFill>
                    <a:schemeClr val="accent5"/>
                  </a:solidFill>
                </a:rPr>
                <a:t>ψ</a:t>
              </a:r>
              <a:r>
                <a:rPr lang="en-US" sz="1400" dirty="0">
                  <a:solidFill>
                    <a:schemeClr val="accent5"/>
                  </a:solidFill>
                </a:rPr>
                <a:t> (flat over 0 to π). Colour: model predictions on the 5,000 validation events.</a:t>
              </a:r>
              <a:endParaRPr lang="en-US" sz="1400" dirty="0"/>
            </a:p>
          </p:txBody>
        </p:sp>
      </p:grpSp>
      <p:grpSp>
        <p:nvGrpSpPr>
          <p:cNvPr id="12" name="Group 11">
            <a:extLst>
              <a:ext uri="{FF2B5EF4-FFF2-40B4-BE49-F238E27FC236}">
                <a16:creationId xmlns:a16="http://schemas.microsoft.com/office/drawing/2014/main" id="{033DA408-756C-CB12-ABBF-A4A6D251A182}"/>
              </a:ext>
            </a:extLst>
          </p:cNvPr>
          <p:cNvGrpSpPr/>
          <p:nvPr/>
        </p:nvGrpSpPr>
        <p:grpSpPr>
          <a:xfrm>
            <a:off x="8229600" y="1325880"/>
            <a:ext cx="3383280" cy="1691640"/>
            <a:chOff x="8229600" y="1325880"/>
            <a:chExt cx="3383280" cy="1691640"/>
          </a:xfrm>
        </p:grpSpPr>
        <p:sp>
          <p:nvSpPr>
            <p:cNvPr id="6" name="Text 2"/>
            <p:cNvSpPr txBox="1"/>
            <p:nvPr/>
          </p:nvSpPr>
          <p:spPr>
            <a:xfrm>
              <a:off x="8229600" y="1325880"/>
              <a:ext cx="3383280" cy="822960"/>
            </a:xfrm>
            <a:prstGeom prst="rect">
              <a:avLst/>
            </a:prstGeom>
            <a:noFill/>
            <a:ln/>
          </p:spPr>
          <p:txBody>
            <a:bodyPr wrap="square" lIns="0" tIns="0" rIns="0" bIns="0" rtlCol="0" anchor="t"/>
            <a:lstStyle/>
            <a:p>
              <a:pPr marL="0" indent="0">
                <a:buNone/>
              </a:pPr>
              <a:r>
                <a:rPr lang="en-US" sz="4600" b="1" dirty="0">
                  <a:solidFill>
                    <a:schemeClr val="accent4"/>
                  </a:solidFill>
                  <a:latin typeface="Cambria" pitchFamily="34" charset="0"/>
                  <a:ea typeface="Cambria" pitchFamily="34" charset="-122"/>
                  <a:cs typeface="Cambria" pitchFamily="34" charset="-120"/>
                </a:rPr>
                <a:t>99.9%</a:t>
              </a:r>
              <a:endParaRPr lang="en-US" sz="4600" dirty="0"/>
            </a:p>
          </p:txBody>
        </p:sp>
        <p:sp>
          <p:nvSpPr>
            <p:cNvPr id="7" name="Text 3"/>
            <p:cNvSpPr txBox="1"/>
            <p:nvPr/>
          </p:nvSpPr>
          <p:spPr>
            <a:xfrm>
              <a:off x="8229600" y="2194560"/>
              <a:ext cx="3383280" cy="822960"/>
            </a:xfrm>
            <a:prstGeom prst="rect">
              <a:avLst/>
            </a:prstGeom>
            <a:noFill/>
            <a:ln/>
          </p:spPr>
          <p:txBody>
            <a:bodyPr wrap="square" lIns="0" tIns="0" rIns="0" bIns="0" rtlCol="0" anchor="t"/>
            <a:lstStyle/>
            <a:p>
              <a:pPr marL="0" indent="0">
                <a:buNone/>
              </a:pPr>
              <a:r>
                <a:rPr lang="en-US" sz="1400" dirty="0">
                  <a:solidFill>
                    <a:schemeClr val="tx1"/>
                  </a:solidFill>
                </a:rPr>
                <a:t>of POC</a:t>
              </a:r>
              <a:r>
                <a:rPr lang="en-US" sz="1400" baseline="-25000" dirty="0">
                  <a:solidFill>
                    <a:schemeClr val="tx1"/>
                  </a:solidFill>
                </a:rPr>
                <a:t>B</a:t>
              </a:r>
              <a:r>
                <a:rPr lang="en-US" sz="1400" dirty="0">
                  <a:solidFill>
                    <a:schemeClr val="tx1"/>
                  </a:solidFill>
                </a:rPr>
                <a:t>'s 5,000 </a:t>
              </a:r>
              <a:r>
                <a:rPr lang="en-US" sz="1400" i="1" dirty="0">
                  <a:solidFill>
                    <a:schemeClr val="tx1"/>
                  </a:solidFill>
                </a:rPr>
                <a:t>ψ</a:t>
              </a:r>
              <a:r>
                <a:rPr lang="en-US" sz="1400" dirty="0">
                  <a:solidFill>
                    <a:schemeClr val="tx1"/>
                  </a:solidFill>
                </a:rPr>
                <a:t> predictions fall in one histogram bin</a:t>
              </a:r>
              <a:endParaRPr lang="en-US" sz="1400" dirty="0"/>
            </a:p>
          </p:txBody>
        </p:sp>
      </p:grpSp>
      <p:grpSp>
        <p:nvGrpSpPr>
          <p:cNvPr id="13" name="Group 12">
            <a:extLst>
              <a:ext uri="{FF2B5EF4-FFF2-40B4-BE49-F238E27FC236}">
                <a16:creationId xmlns:a16="http://schemas.microsoft.com/office/drawing/2014/main" id="{576F91DB-46F6-41C3-033C-27F56F04D0DD}"/>
              </a:ext>
            </a:extLst>
          </p:cNvPr>
          <p:cNvGrpSpPr/>
          <p:nvPr/>
        </p:nvGrpSpPr>
        <p:grpSpPr>
          <a:xfrm>
            <a:off x="8229600" y="3200400"/>
            <a:ext cx="3383280" cy="2971800"/>
            <a:chOff x="8229600" y="3200400"/>
            <a:chExt cx="3383280" cy="2971800"/>
          </a:xfrm>
        </p:grpSpPr>
        <p:sp>
          <p:nvSpPr>
            <p:cNvPr id="8" name="collapse notes"/>
            <p:cNvSpPr/>
            <p:nvPr/>
          </p:nvSpPr>
          <p:spPr>
            <a:xfrm>
              <a:off x="8229600" y="3200400"/>
              <a:ext cx="3383280" cy="2971800"/>
            </a:xfrm>
            <a:prstGeom prst="roundRect">
              <a:avLst>
                <a:gd name="adj" fmla="val 3692"/>
              </a:avLst>
            </a:prstGeom>
            <a:solidFill>
              <a:schemeClr val="bg2"/>
            </a:solidFill>
            <a:ln w="12700">
              <a:solidFill>
                <a:schemeClr val="bg2"/>
              </a:solidFill>
              <a:prstDash val="solid"/>
            </a:ln>
            <a:effectLst>
              <a:outerShdw blurRad="101600" dist="25400" dir="5400000" algn="bl" rotWithShape="0">
                <a:srgbClr val="0F1B33">
                  <a:alpha val="12000"/>
                </a:srgbClr>
              </a:outerShdw>
            </a:effectLst>
          </p:spPr>
        </p:sp>
        <p:sp>
          <p:nvSpPr>
            <p:cNvPr id="9" name="Text 5"/>
            <p:cNvSpPr txBox="1"/>
            <p:nvPr/>
          </p:nvSpPr>
          <p:spPr>
            <a:xfrm>
              <a:off x="8503920" y="3383280"/>
              <a:ext cx="2880360" cy="2651760"/>
            </a:xfrm>
            <a:prstGeom prst="rect">
              <a:avLst/>
            </a:prstGeom>
            <a:noFill/>
            <a:ln/>
          </p:spPr>
          <p:txBody>
            <a:bodyPr wrap="square" lIns="0" tIns="0" rIns="0" bIns="0" rtlCol="0" anchor="t"/>
            <a:lstStyle/>
            <a:p>
              <a:pPr marL="342900" indent="-342900">
                <a:spcAft>
                  <a:spcPts val="800"/>
                </a:spcAft>
                <a:buSzPct val="100000"/>
                <a:buChar char="•"/>
              </a:pPr>
              <a:r>
                <a:rPr lang="en-US" sz="1400" b="1" dirty="0">
                  <a:solidFill>
                    <a:schemeClr val="tx1"/>
                  </a:solidFill>
                </a:rPr>
                <a:t>Collapsed: </a:t>
              </a:r>
              <a:r>
                <a:rPr lang="en-US" sz="1400" dirty="0">
                  <a:solidFill>
                    <a:schemeClr val="tx1"/>
                  </a:solidFill>
                </a:rPr>
                <a:t>POC</a:t>
              </a:r>
              <a:r>
                <a:rPr lang="en-US" sz="1400" baseline="-25000" dirty="0">
                  <a:solidFill>
                    <a:schemeClr val="tx1"/>
                  </a:solidFill>
                </a:rPr>
                <a:t>A</a:t>
              </a:r>
              <a:r>
                <a:rPr lang="en-US" sz="1400" dirty="0">
                  <a:solidFill>
                    <a:schemeClr val="tx1"/>
                  </a:solidFill>
                </a:rPr>
                <a:t>, POC</a:t>
              </a:r>
              <a:r>
                <a:rPr lang="en-US" sz="1400" baseline="-25000" dirty="0">
                  <a:solidFill>
                    <a:schemeClr val="tx1"/>
                  </a:solidFill>
                </a:rPr>
                <a:t>B</a:t>
              </a:r>
              <a:r>
                <a:rPr lang="en-US" sz="1400" dirty="0">
                  <a:solidFill>
                    <a:schemeClr val="tx1"/>
                  </a:solidFill>
                </a:rPr>
                <a:t> output a near-constant angle whatever the input</a:t>
              </a:r>
              <a:endParaRPr lang="en-US" sz="1400" dirty="0"/>
            </a:p>
            <a:p>
              <a:pPr marL="342900" indent="-342900">
                <a:spcAft>
                  <a:spcPts val="800"/>
                </a:spcAft>
                <a:buSzPct val="100000"/>
                <a:buChar char="•"/>
              </a:pPr>
              <a:r>
                <a:rPr lang="en-US" sz="1400" b="1" dirty="0">
                  <a:solidFill>
                    <a:schemeClr val="tx1"/>
                  </a:solidFill>
                </a:rPr>
                <a:t>Not collapsed: </a:t>
              </a:r>
              <a:r>
                <a:rPr lang="en-US" sz="1400" dirty="0">
                  <a:solidFill>
                    <a:schemeClr val="tx1"/>
                  </a:solidFill>
                </a:rPr>
                <a:t>TCN, CNN</a:t>
              </a:r>
              <a:r>
                <a:rPr lang="en-US" sz="1400" baseline="-25000" dirty="0">
                  <a:solidFill>
                    <a:schemeClr val="tx1"/>
                  </a:solidFill>
                </a:rPr>
                <a:t>attention</a:t>
              </a:r>
              <a:r>
                <a:rPr lang="en-US" sz="1400" dirty="0">
                  <a:solidFill>
                    <a:schemeClr val="tx1"/>
                  </a:solidFill>
                </a:rPr>
                <a:t> are noisy and uninformative, a different failure with the same conclusion</a:t>
              </a:r>
              <a:endParaRPr lang="en-US" sz="1400" dirty="0"/>
            </a:p>
          </p:txBody>
        </p:sp>
      </p:grpSp>
      <p:grpSp>
        <p:nvGrpSpPr>
          <p:cNvPr id="14" name="Group 13">
            <a:extLst>
              <a:ext uri="{FF2B5EF4-FFF2-40B4-BE49-F238E27FC236}">
                <a16:creationId xmlns:a16="http://schemas.microsoft.com/office/drawing/2014/main" id="{4D8B93C9-1400-F816-4A4A-7FA827F1642C}"/>
              </a:ext>
            </a:extLst>
          </p:cNvPr>
          <p:cNvGrpSpPr/>
          <p:nvPr/>
        </p:nvGrpSpPr>
        <p:grpSpPr>
          <a:xfrm>
            <a:off x="548640" y="5257800"/>
            <a:ext cx="7315200" cy="914400"/>
            <a:chOff x="548640" y="5257800"/>
            <a:chExt cx="7315200" cy="914400"/>
          </a:xfrm>
        </p:grpSpPr>
        <p:sp>
          <p:nvSpPr>
            <p:cNvPr id="10" name="collapse take"/>
            <p:cNvSpPr/>
            <p:nvPr/>
          </p:nvSpPr>
          <p:spPr>
            <a:xfrm>
              <a:off x="548640" y="5257800"/>
              <a:ext cx="7315200" cy="914400"/>
            </a:xfrm>
            <a:prstGeom prst="roundRect">
              <a:avLst>
                <a:gd name="adj" fmla="val 12000"/>
              </a:avLst>
            </a:prstGeom>
            <a:solidFill>
              <a:schemeClr val="tx2"/>
            </a:solidFill>
            <a:ln w="12700">
              <a:solidFill>
                <a:schemeClr val="tx2"/>
              </a:solidFill>
              <a:prstDash val="solid"/>
            </a:ln>
            <a:effectLst>
              <a:outerShdw blurRad="101600" dist="25400" dir="5400000" algn="bl" rotWithShape="0">
                <a:srgbClr val="0F1B33">
                  <a:alpha val="12000"/>
                </a:srgbClr>
              </a:outerShdw>
            </a:effectLst>
          </p:spPr>
        </p:sp>
        <p:sp>
          <p:nvSpPr>
            <p:cNvPr id="11" name="Text 7"/>
            <p:cNvSpPr txBox="1"/>
            <p:nvPr/>
          </p:nvSpPr>
          <p:spPr>
            <a:xfrm>
              <a:off x="822960" y="5257800"/>
              <a:ext cx="6766560" cy="914400"/>
            </a:xfrm>
            <a:prstGeom prst="rect">
              <a:avLst/>
            </a:prstGeom>
            <a:noFill/>
            <a:ln/>
          </p:spPr>
          <p:txBody>
            <a:bodyPr wrap="square" lIns="0" tIns="0" rIns="0" bIns="0" rtlCol="0" anchor="ctr"/>
            <a:lstStyle/>
            <a:p>
              <a:pPr marL="0" indent="0">
                <a:buNone/>
              </a:pPr>
              <a:r>
                <a:rPr lang="en-US" sz="1400" dirty="0">
                  <a:solidFill>
                    <a:schemeClr val="bg1"/>
                  </a:solidFill>
                </a:rPr>
                <a:t>Collapse is a model failing to find any </a:t>
              </a:r>
              <a:r>
                <a:rPr lang="en-US" sz="1400" i="1" dirty="0">
                  <a:solidFill>
                    <a:schemeClr val="bg1"/>
                  </a:solidFill>
                </a:rPr>
                <a:t>φ</a:t>
              </a:r>
              <a:r>
                <a:rPr lang="en-US" sz="1400" baseline="-25000" dirty="0">
                  <a:solidFill>
                    <a:schemeClr val="bg1"/>
                  </a:solidFill>
                </a:rPr>
                <a:t>c</a:t>
              </a:r>
              <a:r>
                <a:rPr lang="en-US" sz="1400" dirty="0">
                  <a:solidFill>
                    <a:schemeClr val="bg1"/>
                  </a:solidFill>
                </a:rPr>
                <a:t>/</a:t>
              </a:r>
              <a:r>
                <a:rPr lang="en-US" sz="1400" i="1" dirty="0">
                  <a:solidFill>
                    <a:schemeClr val="bg1"/>
                  </a:solidFill>
                </a:rPr>
                <a:t>ψ</a:t>
              </a:r>
              <a:r>
                <a:rPr lang="en-US" sz="1400" dirty="0">
                  <a:solidFill>
                    <a:schemeClr val="bg1"/>
                  </a:solidFill>
                </a:rPr>
                <a:t> signal, not a plotting artifact: the loss wiring and gradient chain were checked and are healthy.</a:t>
              </a:r>
              <a:endParaRPr lang="en-US" sz="1400" dirty="0"/>
            </a:p>
          </p:txBody>
        </p:sp>
      </p:gr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100">
                <a:solidFill>
                  <a:srgbClr val="55627A"/>
                </a:solidFill>
              </a:defRPr>
            </a:lvl1pPr>
          </a:lstStyle>
          <a:p>
            <a:pPr algn="r"/>
            <a:fld id="{F7021451-1387-4CA6-816F-3879F97B5CBC}" type="slidenum">
              <a:rPr lang="en-US" b="0"/>
              <a:t>9</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cBhvr additive="base">
                                        <p:cTn id="7" dur="500" fill="hold"/>
                                        <p:tgtEl>
                                          <p:spTgt spid="2"/>
                                        </p:tgtEl>
                                        <p:attrNameLst>
                                          <p:attrName>ppt_x</p:attrName>
                                        </p:attrNameLst>
                                      </p:cBhvr>
                                      <p:tavLst>
                                        <p:tav tm="0">
                                          <p:val>
                                            <p:strVal val="#ppt_x"/>
                                          </p:val>
                                        </p:tav>
                                        <p:tav tm="100000">
                                          <p:val>
                                            <p:strVal val="#ppt_x"/>
                                          </p:val>
                                        </p:tav>
                                      </p:tavLst>
                                    </p:anim>
                                    <p:anim calcmode="lin" valueType="num">
                                      <p:cBhvr additive="base">
                                        <p:cTn id="8" dur="500" fill="hold"/>
                                        <p:tgtEl>
                                          <p:spTgt spid="2"/>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nodeType="clickEffect">
                                  <p:stCondLst>
                                    <p:cond delay="0"/>
                                  </p:stCondLst>
                                  <p:childTnLst>
                                    <p:set>
                                      <p:cBhvr>
                                        <p:cTn id="12" dur="1" fill="hold">
                                          <p:stCondLst>
                                            <p:cond delay="0"/>
                                          </p:stCondLst>
                                        </p:cTn>
                                        <p:tgtEl>
                                          <p:spTgt spid="12"/>
                                        </p:tgtEl>
                                        <p:attrNameLst>
                                          <p:attrName>style.visibility</p:attrName>
                                        </p:attrNameLst>
                                      </p:cBhvr>
                                      <p:to>
                                        <p:strVal val="visible"/>
                                      </p:to>
                                    </p:set>
                                    <p:anim calcmode="lin" valueType="num">
                                      <p:cBhvr additive="base">
                                        <p:cTn id="13" dur="500" fill="hold"/>
                                        <p:tgtEl>
                                          <p:spTgt spid="12"/>
                                        </p:tgtEl>
                                        <p:attrNameLst>
                                          <p:attrName>ppt_x</p:attrName>
                                        </p:attrNameLst>
                                      </p:cBhvr>
                                      <p:tavLst>
                                        <p:tav tm="0">
                                          <p:val>
                                            <p:strVal val="#ppt_x"/>
                                          </p:val>
                                        </p:tav>
                                        <p:tav tm="100000">
                                          <p:val>
                                            <p:strVal val="#ppt_x"/>
                                          </p:val>
                                        </p:tav>
                                      </p:tavLst>
                                    </p:anim>
                                    <p:anim calcmode="lin" valueType="num">
                                      <p:cBhvr additive="base">
                                        <p:cTn id="14" dur="500" fill="hold"/>
                                        <p:tgtEl>
                                          <p:spTgt spid="12"/>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nodeType="clickEffect">
                                  <p:stCondLst>
                                    <p:cond delay="0"/>
                                  </p:stCondLst>
                                  <p:childTnLst>
                                    <p:set>
                                      <p:cBhvr>
                                        <p:cTn id="18" dur="1" fill="hold">
                                          <p:stCondLst>
                                            <p:cond delay="0"/>
                                          </p:stCondLst>
                                        </p:cTn>
                                        <p:tgtEl>
                                          <p:spTgt spid="13"/>
                                        </p:tgtEl>
                                        <p:attrNameLst>
                                          <p:attrName>style.visibility</p:attrName>
                                        </p:attrNameLst>
                                      </p:cBhvr>
                                      <p:to>
                                        <p:strVal val="visible"/>
                                      </p:to>
                                    </p:set>
                                    <p:anim calcmode="lin" valueType="num">
                                      <p:cBhvr additive="base">
                                        <p:cTn id="19" dur="500" fill="hold"/>
                                        <p:tgtEl>
                                          <p:spTgt spid="13"/>
                                        </p:tgtEl>
                                        <p:attrNameLst>
                                          <p:attrName>ppt_x</p:attrName>
                                        </p:attrNameLst>
                                      </p:cBhvr>
                                      <p:tavLst>
                                        <p:tav tm="0">
                                          <p:val>
                                            <p:strVal val="#ppt_x"/>
                                          </p:val>
                                        </p:tav>
                                        <p:tav tm="100000">
                                          <p:val>
                                            <p:strVal val="#ppt_x"/>
                                          </p:val>
                                        </p:tav>
                                      </p:tavLst>
                                    </p:anim>
                                    <p:anim calcmode="lin" valueType="num">
                                      <p:cBhvr additive="base">
                                        <p:cTn id="20" dur="500" fill="hold"/>
                                        <p:tgtEl>
                                          <p:spTgt spid="13"/>
                                        </p:tgtEl>
                                        <p:attrNameLst>
                                          <p:attrName>ppt_y</p:attrName>
                                        </p:attrNameLst>
                                      </p:cBhvr>
                                      <p:tavLst>
                                        <p:tav tm="0">
                                          <p:val>
                                            <p:strVal val="1+#ppt_h/2"/>
                                          </p:val>
                                        </p:tav>
                                        <p:tav tm="100000">
                                          <p:val>
                                            <p:strVal val="#ppt_y"/>
                                          </p:val>
                                        </p:tav>
                                      </p:tavLst>
                                    </p:anim>
                                  </p:childTnLst>
                                </p:cTn>
                              </p:par>
                            </p:childTnLst>
                          </p:cTn>
                        </p:par>
                      </p:childTnLst>
                    </p:cTn>
                  </p:par>
                  <p:par>
                    <p:cTn id="21" fill="hold">
                      <p:stCondLst>
                        <p:cond delay="indefinite"/>
                      </p:stCondLst>
                      <p:childTnLst>
                        <p:par>
                          <p:cTn id="22" fill="hold">
                            <p:stCondLst>
                              <p:cond delay="0"/>
                            </p:stCondLst>
                            <p:childTnLst>
                              <p:par>
                                <p:cTn id="23" presetID="2" presetClass="entr" presetSubtype="4" fill="hold" nodeType="clickEffect">
                                  <p:stCondLst>
                                    <p:cond delay="0"/>
                                  </p:stCondLst>
                                  <p:childTnLst>
                                    <p:set>
                                      <p:cBhvr>
                                        <p:cTn id="24" dur="1" fill="hold">
                                          <p:stCondLst>
                                            <p:cond delay="0"/>
                                          </p:stCondLst>
                                        </p:cTn>
                                        <p:tgtEl>
                                          <p:spTgt spid="14"/>
                                        </p:tgtEl>
                                        <p:attrNameLst>
                                          <p:attrName>style.visibility</p:attrName>
                                        </p:attrNameLst>
                                      </p:cBhvr>
                                      <p:to>
                                        <p:strVal val="visible"/>
                                      </p:to>
                                    </p:set>
                                    <p:anim calcmode="lin" valueType="num">
                                      <p:cBhvr additive="base">
                                        <p:cTn id="25" dur="500" fill="hold"/>
                                        <p:tgtEl>
                                          <p:spTgt spid="14"/>
                                        </p:tgtEl>
                                        <p:attrNameLst>
                                          <p:attrName>ppt_x</p:attrName>
                                        </p:attrNameLst>
                                      </p:cBhvr>
                                      <p:tavLst>
                                        <p:tav tm="0">
                                          <p:val>
                                            <p:strVal val="#ppt_x"/>
                                          </p:val>
                                        </p:tav>
                                        <p:tav tm="100000">
                                          <p:val>
                                            <p:strVal val="#ppt_x"/>
                                          </p:val>
                                        </p:tav>
                                      </p:tavLst>
                                    </p:anim>
                                    <p:anim calcmode="lin" valueType="num">
                                      <p:cBhvr additive="base">
                                        <p:cTn id="26" dur="500" fill="hold"/>
                                        <p:tgtEl>
                                          <p:spTgt spid="14"/>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ext 0"/>
          <p:cNvSpPr>
            <a:spLocks noGrp="1"/>
          </p:cNvSpPr>
          <p:nvPr>
            <p:ph type="title" idx="100" hasCustomPrompt="1"/>
          </p:nvPr>
        </p:nvSpPr>
        <p:spPr>
          <a:xfrm>
            <a:off x="548640" y="365760"/>
            <a:ext cx="11064240" cy="777240"/>
          </a:xfrm>
          <a:prstGeom prst="rect">
            <a:avLst/>
          </a:prstGeom>
          <a:noFill/>
          <a:ln/>
        </p:spPr>
        <p:txBody>
          <a:bodyPr wrap="square" lIns="0" tIns="0" rIns="0" bIns="0" rtlCol="0" anchor="t"/>
          <a:lstStyle/>
          <a:p>
            <a:pPr marL="0" indent="0" algn="l">
              <a:buNone/>
            </a:pPr>
            <a:r>
              <a:rPr lang="en-US" sz="3600" b="1" dirty="0">
                <a:solidFill>
                  <a:schemeClr val="tx1"/>
                </a:solidFill>
              </a:rPr>
              <a:t>Chance predictions and overfitting</a:t>
            </a:r>
            <a:endParaRPr lang="en-US" sz="3600" dirty="0"/>
          </a:p>
        </p:txBody>
      </p:sp>
      <p:pic>
        <p:nvPicPr>
          <p:cNvPr id="4" name="Image 0" descr="Train and validation circular loss over 80 epochs; three models flat at 1.0, cnn_attention training loss falls to about 0.55 while validation stays at 1.0"/>
          <p:cNvPicPr>
            <a:picLocks noChangeAspect="1"/>
          </p:cNvPicPr>
          <p:nvPr/>
        </p:nvPicPr>
        <p:blipFill>
          <a:blip r:embed="rId3"/>
          <a:stretch>
            <a:fillRect/>
          </a:stretch>
        </p:blipFill>
        <p:spPr>
          <a:xfrm>
            <a:off x="548640" y="1280160"/>
            <a:ext cx="11064240" cy="4379976"/>
          </a:xfrm>
          <a:prstGeom prst="rect">
            <a:avLst/>
          </a:prstGeom>
        </p:spPr>
      </p:pic>
      <p:sp>
        <p:nvSpPr>
          <p:cNvPr id="5" name="Text 1"/>
          <p:cNvSpPr txBox="1"/>
          <p:nvPr/>
        </p:nvSpPr>
        <p:spPr>
          <a:xfrm>
            <a:off x="548640" y="5760720"/>
            <a:ext cx="11064240" cy="548640"/>
          </a:xfrm>
          <a:prstGeom prst="rect">
            <a:avLst/>
          </a:prstGeom>
          <a:noFill/>
          <a:ln/>
        </p:spPr>
        <p:txBody>
          <a:bodyPr wrap="square" lIns="0" tIns="0" rIns="0" bIns="0" rtlCol="0" anchor="t"/>
          <a:lstStyle/>
          <a:p>
            <a:pPr marL="0" indent="0" algn="ctr">
              <a:buNone/>
            </a:pPr>
            <a:r>
              <a:rPr lang="en-US" sz="1600" dirty="0">
                <a:solidFill>
                  <a:schemeClr val="tx1"/>
                </a:solidFill>
              </a:rPr>
              <a:t>Three models sit at the null on both splits. </a:t>
            </a:r>
            <a:r>
              <a:rPr lang="en-US" sz="1600" b="1" dirty="0">
                <a:solidFill>
                  <a:schemeClr val="tx1"/>
                </a:solidFill>
              </a:rPr>
              <a:t>CNN</a:t>
            </a:r>
            <a:r>
              <a:rPr lang="en-US" sz="1600" b="1" baseline="-25000" dirty="0">
                <a:solidFill>
                  <a:schemeClr val="tx1"/>
                </a:solidFill>
              </a:rPr>
              <a:t>attention</a:t>
            </a:r>
            <a:r>
              <a:rPr lang="en-US" sz="1600" b="1" dirty="0">
                <a:solidFill>
                  <a:schemeClr val="tx1"/>
                </a:solidFill>
              </a:rPr>
              <a:t> memorizes: </a:t>
            </a:r>
            <a:r>
              <a:rPr lang="en-US" sz="1600" dirty="0">
                <a:solidFill>
                  <a:schemeClr val="tx1"/>
                </a:solidFill>
              </a:rPr>
              <a:t>training loss falls to about 0.55 while validation stays at 1.0.</a:t>
            </a:r>
            <a:endParaRPr lang="en-US" sz="16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100">
                <a:solidFill>
                  <a:srgbClr val="55627A"/>
                </a:solidFill>
              </a:defRPr>
            </a:lvl1pPr>
          </a:lstStyle>
          <a:p>
            <a:pPr algn="r"/>
            <a:fld id="{F7021451-1387-4CA6-816F-3879F97B5CBC}" type="slidenum">
              <a:rPr lang="en-US" b="0"/>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ext 0"/>
          <p:cNvSpPr>
            <a:spLocks noGrp="1"/>
          </p:cNvSpPr>
          <p:nvPr>
            <p:ph type="title" idx="100" hasCustomPrompt="1"/>
          </p:nvPr>
        </p:nvSpPr>
        <p:spPr>
          <a:xfrm>
            <a:off x="548640" y="365760"/>
            <a:ext cx="11064240" cy="777240"/>
          </a:xfrm>
          <a:prstGeom prst="rect">
            <a:avLst/>
          </a:prstGeom>
          <a:noFill/>
          <a:ln/>
        </p:spPr>
        <p:txBody>
          <a:bodyPr wrap="square" lIns="0" tIns="0" rIns="0" bIns="0" rtlCol="0" anchor="t"/>
          <a:lstStyle/>
          <a:p>
            <a:pPr marL="0" indent="0" algn="l">
              <a:buNone/>
            </a:pPr>
            <a:r>
              <a:rPr lang="en-US" sz="3600" b="1" dirty="0">
                <a:solidFill>
                  <a:schemeClr val="bg1"/>
                </a:solidFill>
              </a:rPr>
              <a:t>The pre-registered gates</a:t>
            </a:r>
            <a:endParaRPr lang="en-US" sz="3600" dirty="0"/>
          </a:p>
        </p:txBody>
      </p:sp>
      <p:sp>
        <p:nvSpPr>
          <p:cNvPr id="4" name="Text 1"/>
          <p:cNvSpPr txBox="1"/>
          <p:nvPr/>
        </p:nvSpPr>
        <p:spPr>
          <a:xfrm>
            <a:off x="548640" y="1280160"/>
            <a:ext cx="11064240" cy="548640"/>
          </a:xfrm>
          <a:prstGeom prst="rect">
            <a:avLst/>
          </a:prstGeom>
          <a:noFill/>
          <a:ln/>
        </p:spPr>
        <p:txBody>
          <a:bodyPr wrap="square" lIns="0" tIns="0" rIns="0" bIns="0" rtlCol="0" anchor="t"/>
          <a:lstStyle/>
          <a:p>
            <a:pPr marL="0" indent="0" algn="ctr">
              <a:buNone/>
            </a:pPr>
            <a:r>
              <a:rPr lang="en-US" sz="1800" dirty="0">
                <a:solidFill>
                  <a:schemeClr val="bg2"/>
                </a:solidFill>
              </a:rPr>
              <a:t>Step 0: do POC</a:t>
            </a:r>
            <a:r>
              <a:rPr lang="en-US" sz="1800" baseline="-25000" dirty="0">
                <a:solidFill>
                  <a:schemeClr val="bg2"/>
                </a:solidFill>
              </a:rPr>
              <a:t>B</a:t>
            </a:r>
            <a:r>
              <a:rPr lang="en-US" sz="1800" dirty="0">
                <a:solidFill>
                  <a:schemeClr val="bg2"/>
                </a:solidFill>
              </a:rPr>
              <a:t>'s 2</a:t>
            </a:r>
            <a:r>
              <a:rPr lang="en-US" sz="1800" i="1" dirty="0">
                <a:solidFill>
                  <a:schemeClr val="bg2"/>
                </a:solidFill>
              </a:rPr>
              <a:t>φ</a:t>
            </a:r>
            <a:r>
              <a:rPr lang="en-US" sz="1800" baseline="-25000" dirty="0">
                <a:solidFill>
                  <a:schemeClr val="bg2"/>
                </a:solidFill>
              </a:rPr>
              <a:t>c</a:t>
            </a:r>
            <a:r>
              <a:rPr lang="en-US" sz="1800" dirty="0">
                <a:solidFill>
                  <a:schemeClr val="bg2"/>
                </a:solidFill>
              </a:rPr>
              <a:t> + 2</a:t>
            </a:r>
            <a:r>
              <a:rPr lang="en-US" sz="1800" i="1" dirty="0">
                <a:solidFill>
                  <a:schemeClr val="bg2"/>
                </a:solidFill>
              </a:rPr>
              <a:t>ψ</a:t>
            </a:r>
            <a:r>
              <a:rPr lang="en-US" sz="1800" dirty="0">
                <a:solidFill>
                  <a:schemeClr val="bg2"/>
                </a:solidFill>
              </a:rPr>
              <a:t> / 2</a:t>
            </a:r>
            <a:r>
              <a:rPr lang="en-US" sz="1800" i="1" dirty="0">
                <a:solidFill>
                  <a:schemeClr val="bg2"/>
                </a:solidFill>
              </a:rPr>
              <a:t>φ</a:t>
            </a:r>
            <a:r>
              <a:rPr lang="en-US" sz="1800" baseline="-25000" dirty="0">
                <a:solidFill>
                  <a:schemeClr val="bg2"/>
                </a:solidFill>
              </a:rPr>
              <a:t>c</a:t>
            </a:r>
            <a:r>
              <a:rPr lang="en-US" sz="1800" dirty="0">
                <a:solidFill>
                  <a:schemeClr val="bg2"/>
                </a:solidFill>
              </a:rPr>
              <a:t> − 2</a:t>
            </a:r>
            <a:r>
              <a:rPr lang="en-US" sz="1800" i="1" dirty="0">
                <a:solidFill>
                  <a:schemeClr val="bg2"/>
                </a:solidFill>
              </a:rPr>
              <a:t>ψ</a:t>
            </a:r>
            <a:r>
              <a:rPr lang="en-US" sz="1800" dirty="0">
                <a:solidFill>
                  <a:schemeClr val="bg2"/>
                </a:solidFill>
              </a:rPr>
              <a:t> outputs keep a healthy magnitude (std_ratio) after the penalty?</a:t>
            </a:r>
            <a:endParaRPr lang="en-US" sz="1800" dirty="0"/>
          </a:p>
        </p:txBody>
      </p:sp>
      <p:grpSp>
        <p:nvGrpSpPr>
          <p:cNvPr id="2" name="Group 1">
            <a:extLst>
              <a:ext uri="{FF2B5EF4-FFF2-40B4-BE49-F238E27FC236}">
                <a16:creationId xmlns:a16="http://schemas.microsoft.com/office/drawing/2014/main" id="{E8B2E9C4-2AC6-2E56-14CB-533AD9DCF5D3}"/>
              </a:ext>
            </a:extLst>
          </p:cNvPr>
          <p:cNvGrpSpPr/>
          <p:nvPr/>
        </p:nvGrpSpPr>
        <p:grpSpPr>
          <a:xfrm>
            <a:off x="548640" y="2011680"/>
            <a:ext cx="3566160" cy="2331720"/>
            <a:chOff x="548640" y="2011680"/>
            <a:chExt cx="3566160" cy="2331720"/>
          </a:xfrm>
        </p:grpSpPr>
        <p:sp>
          <p:nvSpPr>
            <p:cNvPr id="5" name="lambda 0"/>
            <p:cNvSpPr/>
            <p:nvPr/>
          </p:nvSpPr>
          <p:spPr>
            <a:xfrm>
              <a:off x="548640" y="2011680"/>
              <a:ext cx="3566160" cy="2331720"/>
            </a:xfrm>
            <a:prstGeom prst="roundRect">
              <a:avLst>
                <a:gd name="adj" fmla="val 4706"/>
              </a:avLst>
            </a:prstGeom>
            <a:solidFill>
              <a:schemeClr val="tx2"/>
            </a:solidFill>
            <a:ln w="12700">
              <a:solidFill>
                <a:schemeClr val="tx2"/>
              </a:solidFill>
              <a:prstDash val="solid"/>
            </a:ln>
            <a:effectLst>
              <a:outerShdw blurRad="101600" dist="25400" dir="5400000" algn="bl" rotWithShape="0">
                <a:srgbClr val="0F1B33">
                  <a:alpha val="12000"/>
                </a:srgbClr>
              </a:outerShdw>
            </a:effectLst>
          </p:spPr>
        </p:sp>
        <p:sp>
          <p:nvSpPr>
            <p:cNvPr id="6" name="Text 3"/>
            <p:cNvSpPr txBox="1"/>
            <p:nvPr/>
          </p:nvSpPr>
          <p:spPr>
            <a:xfrm>
              <a:off x="822960" y="2194560"/>
              <a:ext cx="3017520" cy="365760"/>
            </a:xfrm>
            <a:prstGeom prst="rect">
              <a:avLst/>
            </a:prstGeom>
            <a:noFill/>
            <a:ln/>
          </p:spPr>
          <p:txBody>
            <a:bodyPr wrap="square" lIns="0" tIns="0" rIns="0" bIns="0" rtlCol="0" anchor="t"/>
            <a:lstStyle/>
            <a:p>
              <a:pPr marL="0" indent="0">
                <a:buNone/>
              </a:pPr>
              <a:r>
                <a:rPr lang="en-US" sz="1400" b="1" i="1" dirty="0">
                  <a:solidFill>
                    <a:schemeClr val="accent1"/>
                  </a:solidFill>
                </a:rPr>
                <a:t>λ</a:t>
              </a:r>
              <a:r>
                <a:rPr lang="en-US" sz="1400" b="1" dirty="0">
                  <a:solidFill>
                    <a:schemeClr val="accent1"/>
                  </a:solidFill>
                </a:rPr>
                <a:t> = 0.01</a:t>
              </a:r>
              <a:endParaRPr lang="en-US" sz="1400" dirty="0"/>
            </a:p>
          </p:txBody>
        </p:sp>
        <p:sp>
          <p:nvSpPr>
            <p:cNvPr id="7" name="Text 4"/>
            <p:cNvSpPr txBox="1"/>
            <p:nvPr/>
          </p:nvSpPr>
          <p:spPr>
            <a:xfrm>
              <a:off x="822960" y="2606040"/>
              <a:ext cx="3017520" cy="548640"/>
            </a:xfrm>
            <a:prstGeom prst="rect">
              <a:avLst/>
            </a:prstGeom>
            <a:noFill/>
            <a:ln/>
          </p:spPr>
          <p:txBody>
            <a:bodyPr wrap="square" lIns="0" tIns="0" rIns="0" bIns="0" rtlCol="0" anchor="t"/>
            <a:lstStyle/>
            <a:p>
              <a:pPr marL="0" indent="0">
                <a:buNone/>
              </a:pPr>
              <a:r>
                <a:rPr lang="en-US" sz="2600" b="1" dirty="0">
                  <a:solidFill>
                    <a:schemeClr val="bg1"/>
                  </a:solidFill>
                  <a:latin typeface="Cambria" pitchFamily="34" charset="0"/>
                  <a:ea typeface="Cambria" pitchFamily="34" charset="-122"/>
                  <a:cs typeface="Cambria" pitchFamily="34" charset="-120"/>
                </a:rPr>
                <a:t>Gate fails</a:t>
              </a:r>
              <a:endParaRPr lang="en-US" sz="2600" dirty="0"/>
            </a:p>
          </p:txBody>
        </p:sp>
        <p:sp>
          <p:nvSpPr>
            <p:cNvPr id="8" name="Text 5"/>
            <p:cNvSpPr txBox="1"/>
            <p:nvPr/>
          </p:nvSpPr>
          <p:spPr>
            <a:xfrm>
              <a:off x="822960" y="3246120"/>
              <a:ext cx="3017520" cy="1005840"/>
            </a:xfrm>
            <a:prstGeom prst="rect">
              <a:avLst/>
            </a:prstGeom>
            <a:noFill/>
            <a:ln/>
          </p:spPr>
          <p:txBody>
            <a:bodyPr wrap="square" lIns="0" tIns="0" rIns="0" bIns="0" rtlCol="0" anchor="t"/>
            <a:lstStyle/>
            <a:p>
              <a:pPr marL="0" indent="0">
                <a:buNone/>
              </a:pPr>
              <a:r>
                <a:rPr lang="en-US" sz="1400" dirty="0">
                  <a:solidFill>
                    <a:schemeClr val="bg2"/>
                  </a:solidFill>
                </a:rPr>
                <a:t>All readings fail.</a:t>
              </a:r>
              <a:endParaRPr lang="en-US" sz="1400" dirty="0"/>
            </a:p>
          </p:txBody>
        </p:sp>
      </p:grpSp>
      <p:grpSp>
        <p:nvGrpSpPr>
          <p:cNvPr id="19" name="Group 18">
            <a:extLst>
              <a:ext uri="{FF2B5EF4-FFF2-40B4-BE49-F238E27FC236}">
                <a16:creationId xmlns:a16="http://schemas.microsoft.com/office/drawing/2014/main" id="{396C45EB-0FC9-CDA5-FEAE-1023437BF974}"/>
              </a:ext>
            </a:extLst>
          </p:cNvPr>
          <p:cNvGrpSpPr/>
          <p:nvPr/>
        </p:nvGrpSpPr>
        <p:grpSpPr>
          <a:xfrm>
            <a:off x="4297680" y="2011680"/>
            <a:ext cx="3566160" cy="2331720"/>
            <a:chOff x="4297680" y="2011680"/>
            <a:chExt cx="3566160" cy="2331720"/>
          </a:xfrm>
        </p:grpSpPr>
        <p:sp>
          <p:nvSpPr>
            <p:cNvPr id="9" name="lambda 1"/>
            <p:cNvSpPr/>
            <p:nvPr/>
          </p:nvSpPr>
          <p:spPr>
            <a:xfrm>
              <a:off x="4297680" y="2011680"/>
              <a:ext cx="3566160" cy="2331720"/>
            </a:xfrm>
            <a:prstGeom prst="roundRect">
              <a:avLst>
                <a:gd name="adj" fmla="val 4706"/>
              </a:avLst>
            </a:prstGeom>
            <a:solidFill>
              <a:schemeClr val="tx2"/>
            </a:solidFill>
            <a:ln w="12700">
              <a:solidFill>
                <a:schemeClr val="tx2"/>
              </a:solidFill>
              <a:prstDash val="solid"/>
            </a:ln>
            <a:effectLst>
              <a:outerShdw blurRad="101600" dist="25400" dir="5400000" algn="bl" rotWithShape="0">
                <a:srgbClr val="0F1B33">
                  <a:alpha val="12000"/>
                </a:srgbClr>
              </a:outerShdw>
            </a:effectLst>
          </p:spPr>
        </p:sp>
        <p:sp>
          <p:nvSpPr>
            <p:cNvPr id="10" name="Text 7"/>
            <p:cNvSpPr txBox="1"/>
            <p:nvPr/>
          </p:nvSpPr>
          <p:spPr>
            <a:xfrm>
              <a:off x="4572000" y="2194560"/>
              <a:ext cx="3017520" cy="365760"/>
            </a:xfrm>
            <a:prstGeom prst="rect">
              <a:avLst/>
            </a:prstGeom>
            <a:noFill/>
            <a:ln/>
          </p:spPr>
          <p:txBody>
            <a:bodyPr wrap="square" lIns="0" tIns="0" rIns="0" bIns="0" rtlCol="0" anchor="t"/>
            <a:lstStyle/>
            <a:p>
              <a:pPr marL="0" indent="0">
                <a:buNone/>
              </a:pPr>
              <a:r>
                <a:rPr lang="en-US" sz="1400" b="1" i="1" dirty="0">
                  <a:solidFill>
                    <a:schemeClr val="accent1"/>
                  </a:solidFill>
                </a:rPr>
                <a:t>λ</a:t>
              </a:r>
              <a:r>
                <a:rPr lang="en-US" sz="1400" b="1" dirty="0">
                  <a:solidFill>
                    <a:schemeClr val="accent1"/>
                  </a:solidFill>
                </a:rPr>
                <a:t> = 0.05</a:t>
              </a:r>
              <a:endParaRPr lang="en-US" sz="1400" dirty="0"/>
            </a:p>
          </p:txBody>
        </p:sp>
        <p:sp>
          <p:nvSpPr>
            <p:cNvPr id="11" name="Text 8"/>
            <p:cNvSpPr txBox="1"/>
            <p:nvPr/>
          </p:nvSpPr>
          <p:spPr>
            <a:xfrm>
              <a:off x="4572000" y="2606040"/>
              <a:ext cx="3017520" cy="548640"/>
            </a:xfrm>
            <a:prstGeom prst="rect">
              <a:avLst/>
            </a:prstGeom>
            <a:noFill/>
            <a:ln/>
          </p:spPr>
          <p:txBody>
            <a:bodyPr wrap="square" lIns="0" tIns="0" rIns="0" bIns="0" rtlCol="0" anchor="t"/>
            <a:lstStyle/>
            <a:p>
              <a:pPr marL="0" indent="0">
                <a:buNone/>
              </a:pPr>
              <a:r>
                <a:rPr lang="en-US" sz="2600" b="1" dirty="0">
                  <a:solidFill>
                    <a:schemeClr val="bg1"/>
                  </a:solidFill>
                  <a:latin typeface="Cambria" pitchFamily="34" charset="0"/>
                  <a:ea typeface="Cambria" pitchFamily="34" charset="-122"/>
                  <a:cs typeface="Cambria" pitchFamily="34" charset="-120"/>
                </a:rPr>
                <a:t>Gate fails</a:t>
              </a:r>
              <a:endParaRPr lang="en-US" sz="2600" dirty="0"/>
            </a:p>
          </p:txBody>
        </p:sp>
        <p:sp>
          <p:nvSpPr>
            <p:cNvPr id="12" name="Text 9"/>
            <p:cNvSpPr txBox="1"/>
            <p:nvPr/>
          </p:nvSpPr>
          <p:spPr>
            <a:xfrm>
              <a:off x="4572000" y="3246120"/>
              <a:ext cx="3017520" cy="1005840"/>
            </a:xfrm>
            <a:prstGeom prst="rect">
              <a:avLst/>
            </a:prstGeom>
            <a:noFill/>
            <a:ln/>
          </p:spPr>
          <p:txBody>
            <a:bodyPr wrap="square" lIns="0" tIns="0" rIns="0" bIns="0" rtlCol="0" anchor="t"/>
            <a:lstStyle/>
            <a:p>
              <a:pPr marL="0" indent="0">
                <a:buNone/>
              </a:pPr>
              <a:r>
                <a:rPr lang="en-US" sz="1400" dirty="0">
                  <a:solidFill>
                    <a:schemeClr val="bg2"/>
                  </a:solidFill>
                </a:rPr>
                <a:t>All four readings fail.</a:t>
              </a:r>
              <a:endParaRPr lang="en-US" sz="1400" dirty="0"/>
            </a:p>
          </p:txBody>
        </p:sp>
      </p:grpSp>
      <p:grpSp>
        <p:nvGrpSpPr>
          <p:cNvPr id="20" name="Group 19">
            <a:extLst>
              <a:ext uri="{FF2B5EF4-FFF2-40B4-BE49-F238E27FC236}">
                <a16:creationId xmlns:a16="http://schemas.microsoft.com/office/drawing/2014/main" id="{98E2F9CE-62BF-86EF-8376-EACBBE2EAEF3}"/>
              </a:ext>
            </a:extLst>
          </p:cNvPr>
          <p:cNvGrpSpPr/>
          <p:nvPr/>
        </p:nvGrpSpPr>
        <p:grpSpPr>
          <a:xfrm>
            <a:off x="8046720" y="2011680"/>
            <a:ext cx="3566160" cy="2331720"/>
            <a:chOff x="8046720" y="2011680"/>
            <a:chExt cx="3566160" cy="2331720"/>
          </a:xfrm>
        </p:grpSpPr>
        <p:sp>
          <p:nvSpPr>
            <p:cNvPr id="13" name="lambda 2"/>
            <p:cNvSpPr/>
            <p:nvPr/>
          </p:nvSpPr>
          <p:spPr>
            <a:xfrm>
              <a:off x="8046720" y="2011680"/>
              <a:ext cx="3566160" cy="2331720"/>
            </a:xfrm>
            <a:prstGeom prst="roundRect">
              <a:avLst>
                <a:gd name="adj" fmla="val 4706"/>
              </a:avLst>
            </a:prstGeom>
            <a:solidFill>
              <a:schemeClr val="tx2"/>
            </a:solidFill>
            <a:ln w="12700">
              <a:solidFill>
                <a:schemeClr val="tx2"/>
              </a:solidFill>
              <a:prstDash val="solid"/>
            </a:ln>
            <a:effectLst>
              <a:outerShdw blurRad="101600" dist="25400" dir="5400000" algn="bl" rotWithShape="0">
                <a:srgbClr val="0F1B33">
                  <a:alpha val="12000"/>
                </a:srgbClr>
              </a:outerShdw>
            </a:effectLst>
          </p:spPr>
        </p:sp>
        <p:sp>
          <p:nvSpPr>
            <p:cNvPr id="14" name="Text 11"/>
            <p:cNvSpPr txBox="1"/>
            <p:nvPr/>
          </p:nvSpPr>
          <p:spPr>
            <a:xfrm>
              <a:off x="8321040" y="2194560"/>
              <a:ext cx="3017520" cy="365760"/>
            </a:xfrm>
            <a:prstGeom prst="rect">
              <a:avLst/>
            </a:prstGeom>
            <a:noFill/>
            <a:ln/>
          </p:spPr>
          <p:txBody>
            <a:bodyPr wrap="square" lIns="0" tIns="0" rIns="0" bIns="0" rtlCol="0" anchor="t"/>
            <a:lstStyle/>
            <a:p>
              <a:pPr marL="0" indent="0">
                <a:buNone/>
              </a:pPr>
              <a:r>
                <a:rPr lang="en-US" sz="1400" b="1" i="1" dirty="0">
                  <a:solidFill>
                    <a:schemeClr val="accent1"/>
                  </a:solidFill>
                </a:rPr>
                <a:t>λ</a:t>
              </a:r>
              <a:r>
                <a:rPr lang="en-US" sz="1400" b="1" dirty="0">
                  <a:solidFill>
                    <a:schemeClr val="accent1"/>
                  </a:solidFill>
                </a:rPr>
                <a:t> = 0.10</a:t>
              </a:r>
              <a:endParaRPr lang="en-US" sz="1400" dirty="0"/>
            </a:p>
          </p:txBody>
        </p:sp>
        <p:sp>
          <p:nvSpPr>
            <p:cNvPr id="15" name="Text 12"/>
            <p:cNvSpPr txBox="1"/>
            <p:nvPr/>
          </p:nvSpPr>
          <p:spPr>
            <a:xfrm>
              <a:off x="8321040" y="2606040"/>
              <a:ext cx="3017520" cy="548640"/>
            </a:xfrm>
            <a:prstGeom prst="rect">
              <a:avLst/>
            </a:prstGeom>
            <a:noFill/>
            <a:ln/>
          </p:spPr>
          <p:txBody>
            <a:bodyPr wrap="square" lIns="0" tIns="0" rIns="0" bIns="0" rtlCol="0" anchor="t"/>
            <a:lstStyle/>
            <a:p>
              <a:pPr marL="0" indent="0">
                <a:buNone/>
              </a:pPr>
              <a:r>
                <a:rPr lang="en-US" sz="2600" b="1" dirty="0">
                  <a:solidFill>
                    <a:schemeClr val="accent1"/>
                  </a:solidFill>
                  <a:latin typeface="Cambria" pitchFamily="34" charset="0"/>
                  <a:ea typeface="Cambria" pitchFamily="34" charset="-122"/>
                  <a:cs typeface="Cambria" pitchFamily="34" charset="-120"/>
                </a:rPr>
                <a:t>3 of 4 fail</a:t>
              </a:r>
              <a:endParaRPr lang="en-US" sz="2600" dirty="0"/>
            </a:p>
          </p:txBody>
        </p:sp>
        <p:sp>
          <p:nvSpPr>
            <p:cNvPr id="16" name="Text 13"/>
            <p:cNvSpPr txBox="1"/>
            <p:nvPr/>
          </p:nvSpPr>
          <p:spPr>
            <a:xfrm>
              <a:off x="8321040" y="3246120"/>
              <a:ext cx="3017520" cy="1005840"/>
            </a:xfrm>
            <a:prstGeom prst="rect">
              <a:avLst/>
            </a:prstGeom>
            <a:noFill/>
            <a:ln/>
          </p:spPr>
          <p:txBody>
            <a:bodyPr wrap="square" lIns="0" tIns="0" rIns="0" bIns="0" rtlCol="0" anchor="t"/>
            <a:lstStyle/>
            <a:p>
              <a:pPr marL="0" indent="0">
                <a:buNone/>
              </a:pPr>
              <a:r>
                <a:rPr lang="en-US" sz="1400" dirty="0">
                  <a:solidFill>
                    <a:schemeClr val="bg2"/>
                  </a:solidFill>
                </a:rPr>
                <a:t>The 4th passes numerically; its scatter plot shows two flat bands at one angle.</a:t>
              </a:r>
              <a:endParaRPr lang="en-US" sz="1400" dirty="0"/>
            </a:p>
          </p:txBody>
        </p:sp>
      </p:grpSp>
      <p:grpSp>
        <p:nvGrpSpPr>
          <p:cNvPr id="21" name="Group 20">
            <a:extLst>
              <a:ext uri="{FF2B5EF4-FFF2-40B4-BE49-F238E27FC236}">
                <a16:creationId xmlns:a16="http://schemas.microsoft.com/office/drawing/2014/main" id="{8479E87A-2408-0486-8022-F2A220BE6772}"/>
              </a:ext>
            </a:extLst>
          </p:cNvPr>
          <p:cNvGrpSpPr/>
          <p:nvPr/>
        </p:nvGrpSpPr>
        <p:grpSpPr>
          <a:xfrm>
            <a:off x="548640" y="4617720"/>
            <a:ext cx="11064240" cy="1600200"/>
            <a:chOff x="548640" y="4617720"/>
            <a:chExt cx="11064240" cy="1600200"/>
          </a:xfrm>
        </p:grpSpPr>
        <p:sp>
          <p:nvSpPr>
            <p:cNvPr id="17" name="verdict banner"/>
            <p:cNvSpPr/>
            <p:nvPr/>
          </p:nvSpPr>
          <p:spPr>
            <a:xfrm>
              <a:off x="548640" y="4617720"/>
              <a:ext cx="11064240" cy="1600200"/>
            </a:xfrm>
            <a:prstGeom prst="roundRect">
              <a:avLst>
                <a:gd name="adj" fmla="val 6857"/>
              </a:avLst>
            </a:prstGeom>
            <a:solidFill>
              <a:schemeClr val="bg1"/>
            </a:solidFill>
            <a:ln w="12700">
              <a:solidFill>
                <a:schemeClr val="bg1"/>
              </a:solidFill>
              <a:prstDash val="solid"/>
            </a:ln>
            <a:effectLst>
              <a:outerShdw blurRad="101600" dist="25400" dir="5400000" algn="bl" rotWithShape="0">
                <a:srgbClr val="0F1B33">
                  <a:alpha val="12000"/>
                </a:srgbClr>
              </a:outerShdw>
            </a:effectLst>
          </p:spPr>
        </p:sp>
        <p:sp>
          <p:nvSpPr>
            <p:cNvPr id="18" name="Text 15"/>
            <p:cNvSpPr txBox="1"/>
            <p:nvPr/>
          </p:nvSpPr>
          <p:spPr>
            <a:xfrm>
              <a:off x="914400" y="4709160"/>
              <a:ext cx="10332720" cy="1417320"/>
            </a:xfrm>
            <a:prstGeom prst="rect">
              <a:avLst/>
            </a:prstGeom>
            <a:noFill/>
            <a:ln/>
          </p:spPr>
          <p:txBody>
            <a:bodyPr wrap="square" lIns="0" tIns="0" rIns="0" bIns="0" rtlCol="0" anchor="ctr"/>
            <a:lstStyle/>
            <a:p>
              <a:pPr marL="0" indent="0">
                <a:spcAft>
                  <a:spcPts val="800"/>
                </a:spcAft>
                <a:buNone/>
              </a:pPr>
              <a:r>
                <a:rPr lang="en-US" sz="2200" b="1" dirty="0">
                  <a:solidFill>
                    <a:schemeClr val="tx1"/>
                  </a:solidFill>
                  <a:latin typeface="Cambria" pitchFamily="34" charset="0"/>
                  <a:ea typeface="Cambria" pitchFamily="34" charset="-122"/>
                  <a:cs typeface="Cambria" pitchFamily="34" charset="-120"/>
                </a:rPr>
                <a:t>Verdict of record: UNINTERPRETABLE</a:t>
              </a:r>
              <a:endParaRPr lang="en-US" sz="1600" dirty="0"/>
            </a:p>
            <a:p>
              <a:pPr marL="0" indent="0">
                <a:buNone/>
              </a:pPr>
              <a:r>
                <a:rPr lang="en-US" sz="1400" dirty="0">
                  <a:solidFill>
                    <a:schemeClr val="tx1"/>
                  </a:solidFill>
                </a:rPr>
                <a:t>Not a null, and not counter-evidence. The gate measures the magnitude of raw outputs, not their angular diversity, so a mode-collapsed constant output can pass it. Passing an interpretability gate is not proof that the property it stands for holds.</a:t>
              </a:r>
              <a:endParaRPr lang="en-US" sz="1600" dirty="0"/>
            </a:p>
          </p:txBody>
        </p:sp>
      </p:gr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100">
                <a:solidFill>
                  <a:srgbClr val="B8C4DA"/>
                </a:solidFill>
              </a:defRPr>
            </a:lvl1pPr>
          </a:lstStyle>
          <a:p>
            <a:pPr algn="r"/>
            <a:fld id="{F7021451-1387-4CA6-816F-3879F97B5CBC}" type="slidenum">
              <a:rPr lang="en-US" b="0"/>
              <a:t>11</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additive="base">
                                        <p:cTn id="7" dur="500" fill="hold"/>
                                        <p:tgtEl>
                                          <p:spTgt spid="4"/>
                                        </p:tgtEl>
                                        <p:attrNameLst>
                                          <p:attrName>ppt_x</p:attrName>
                                        </p:attrNameLst>
                                      </p:cBhvr>
                                      <p:tavLst>
                                        <p:tav tm="0">
                                          <p:val>
                                            <p:strVal val="#ppt_x"/>
                                          </p:val>
                                        </p:tav>
                                        <p:tav tm="100000">
                                          <p:val>
                                            <p:strVal val="#ppt_x"/>
                                          </p:val>
                                        </p:tav>
                                      </p:tavLst>
                                    </p:anim>
                                    <p:anim calcmode="lin" valueType="num">
                                      <p:cBhvr additive="base">
                                        <p:cTn id="8" dur="500" fill="hold"/>
                                        <p:tgtEl>
                                          <p:spTgt spid="4"/>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nodeType="clickEffect">
                                  <p:stCondLst>
                                    <p:cond delay="0"/>
                                  </p:stCondLst>
                                  <p:childTnLst>
                                    <p:set>
                                      <p:cBhvr>
                                        <p:cTn id="12" dur="1" fill="hold">
                                          <p:stCondLst>
                                            <p:cond delay="0"/>
                                          </p:stCondLst>
                                        </p:cTn>
                                        <p:tgtEl>
                                          <p:spTgt spid="2"/>
                                        </p:tgtEl>
                                        <p:attrNameLst>
                                          <p:attrName>style.visibility</p:attrName>
                                        </p:attrNameLst>
                                      </p:cBhvr>
                                      <p:to>
                                        <p:strVal val="visible"/>
                                      </p:to>
                                    </p:set>
                                    <p:anim calcmode="lin" valueType="num">
                                      <p:cBhvr additive="base">
                                        <p:cTn id="13" dur="500" fill="hold"/>
                                        <p:tgtEl>
                                          <p:spTgt spid="2"/>
                                        </p:tgtEl>
                                        <p:attrNameLst>
                                          <p:attrName>ppt_x</p:attrName>
                                        </p:attrNameLst>
                                      </p:cBhvr>
                                      <p:tavLst>
                                        <p:tav tm="0">
                                          <p:val>
                                            <p:strVal val="#ppt_x"/>
                                          </p:val>
                                        </p:tav>
                                        <p:tav tm="100000">
                                          <p:val>
                                            <p:strVal val="#ppt_x"/>
                                          </p:val>
                                        </p:tav>
                                      </p:tavLst>
                                    </p:anim>
                                    <p:anim calcmode="lin" valueType="num">
                                      <p:cBhvr additive="base">
                                        <p:cTn id="14" dur="500" fill="hold"/>
                                        <p:tgtEl>
                                          <p:spTgt spid="2"/>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nodeType="clickEffect">
                                  <p:stCondLst>
                                    <p:cond delay="0"/>
                                  </p:stCondLst>
                                  <p:childTnLst>
                                    <p:set>
                                      <p:cBhvr>
                                        <p:cTn id="18" dur="1" fill="hold">
                                          <p:stCondLst>
                                            <p:cond delay="0"/>
                                          </p:stCondLst>
                                        </p:cTn>
                                        <p:tgtEl>
                                          <p:spTgt spid="19"/>
                                        </p:tgtEl>
                                        <p:attrNameLst>
                                          <p:attrName>style.visibility</p:attrName>
                                        </p:attrNameLst>
                                      </p:cBhvr>
                                      <p:to>
                                        <p:strVal val="visible"/>
                                      </p:to>
                                    </p:set>
                                    <p:anim calcmode="lin" valueType="num">
                                      <p:cBhvr additive="base">
                                        <p:cTn id="19" dur="500" fill="hold"/>
                                        <p:tgtEl>
                                          <p:spTgt spid="19"/>
                                        </p:tgtEl>
                                        <p:attrNameLst>
                                          <p:attrName>ppt_x</p:attrName>
                                        </p:attrNameLst>
                                      </p:cBhvr>
                                      <p:tavLst>
                                        <p:tav tm="0">
                                          <p:val>
                                            <p:strVal val="#ppt_x"/>
                                          </p:val>
                                        </p:tav>
                                        <p:tav tm="100000">
                                          <p:val>
                                            <p:strVal val="#ppt_x"/>
                                          </p:val>
                                        </p:tav>
                                      </p:tavLst>
                                    </p:anim>
                                    <p:anim calcmode="lin" valueType="num">
                                      <p:cBhvr additive="base">
                                        <p:cTn id="20" dur="500" fill="hold"/>
                                        <p:tgtEl>
                                          <p:spTgt spid="19"/>
                                        </p:tgtEl>
                                        <p:attrNameLst>
                                          <p:attrName>ppt_y</p:attrName>
                                        </p:attrNameLst>
                                      </p:cBhvr>
                                      <p:tavLst>
                                        <p:tav tm="0">
                                          <p:val>
                                            <p:strVal val="1+#ppt_h/2"/>
                                          </p:val>
                                        </p:tav>
                                        <p:tav tm="100000">
                                          <p:val>
                                            <p:strVal val="#ppt_y"/>
                                          </p:val>
                                        </p:tav>
                                      </p:tavLst>
                                    </p:anim>
                                  </p:childTnLst>
                                </p:cTn>
                              </p:par>
                            </p:childTnLst>
                          </p:cTn>
                        </p:par>
                      </p:childTnLst>
                    </p:cTn>
                  </p:par>
                  <p:par>
                    <p:cTn id="21" fill="hold">
                      <p:stCondLst>
                        <p:cond delay="indefinite"/>
                      </p:stCondLst>
                      <p:childTnLst>
                        <p:par>
                          <p:cTn id="22" fill="hold">
                            <p:stCondLst>
                              <p:cond delay="0"/>
                            </p:stCondLst>
                            <p:childTnLst>
                              <p:par>
                                <p:cTn id="23" presetID="2" presetClass="entr" presetSubtype="4" fill="hold" nodeType="clickEffect">
                                  <p:stCondLst>
                                    <p:cond delay="0"/>
                                  </p:stCondLst>
                                  <p:childTnLst>
                                    <p:set>
                                      <p:cBhvr>
                                        <p:cTn id="24" dur="1" fill="hold">
                                          <p:stCondLst>
                                            <p:cond delay="0"/>
                                          </p:stCondLst>
                                        </p:cTn>
                                        <p:tgtEl>
                                          <p:spTgt spid="20"/>
                                        </p:tgtEl>
                                        <p:attrNameLst>
                                          <p:attrName>style.visibility</p:attrName>
                                        </p:attrNameLst>
                                      </p:cBhvr>
                                      <p:to>
                                        <p:strVal val="visible"/>
                                      </p:to>
                                    </p:set>
                                    <p:anim calcmode="lin" valueType="num">
                                      <p:cBhvr additive="base">
                                        <p:cTn id="25" dur="500" fill="hold"/>
                                        <p:tgtEl>
                                          <p:spTgt spid="20"/>
                                        </p:tgtEl>
                                        <p:attrNameLst>
                                          <p:attrName>ppt_x</p:attrName>
                                        </p:attrNameLst>
                                      </p:cBhvr>
                                      <p:tavLst>
                                        <p:tav tm="0">
                                          <p:val>
                                            <p:strVal val="#ppt_x"/>
                                          </p:val>
                                        </p:tav>
                                        <p:tav tm="100000">
                                          <p:val>
                                            <p:strVal val="#ppt_x"/>
                                          </p:val>
                                        </p:tav>
                                      </p:tavLst>
                                    </p:anim>
                                    <p:anim calcmode="lin" valueType="num">
                                      <p:cBhvr additive="base">
                                        <p:cTn id="26" dur="500" fill="hold"/>
                                        <p:tgtEl>
                                          <p:spTgt spid="20"/>
                                        </p:tgtEl>
                                        <p:attrNameLst>
                                          <p:attrName>ppt_y</p:attrName>
                                        </p:attrNameLst>
                                      </p:cBhvr>
                                      <p:tavLst>
                                        <p:tav tm="0">
                                          <p:val>
                                            <p:strVal val="1+#ppt_h/2"/>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9" presetID="2" presetClass="entr" presetSubtype="4" fill="hold" nodeType="clickEffect">
                                  <p:stCondLst>
                                    <p:cond delay="0"/>
                                  </p:stCondLst>
                                  <p:childTnLst>
                                    <p:set>
                                      <p:cBhvr>
                                        <p:cTn id="30" dur="1" fill="hold">
                                          <p:stCondLst>
                                            <p:cond delay="0"/>
                                          </p:stCondLst>
                                        </p:cTn>
                                        <p:tgtEl>
                                          <p:spTgt spid="21"/>
                                        </p:tgtEl>
                                        <p:attrNameLst>
                                          <p:attrName>style.visibility</p:attrName>
                                        </p:attrNameLst>
                                      </p:cBhvr>
                                      <p:to>
                                        <p:strVal val="visible"/>
                                      </p:to>
                                    </p:set>
                                    <p:anim calcmode="lin" valueType="num">
                                      <p:cBhvr additive="base">
                                        <p:cTn id="31" dur="500" fill="hold"/>
                                        <p:tgtEl>
                                          <p:spTgt spid="21"/>
                                        </p:tgtEl>
                                        <p:attrNameLst>
                                          <p:attrName>ppt_x</p:attrName>
                                        </p:attrNameLst>
                                      </p:cBhvr>
                                      <p:tavLst>
                                        <p:tav tm="0">
                                          <p:val>
                                            <p:strVal val="#ppt_x"/>
                                          </p:val>
                                        </p:tav>
                                        <p:tav tm="100000">
                                          <p:val>
                                            <p:strVal val="#ppt_x"/>
                                          </p:val>
                                        </p:tav>
                                      </p:tavLst>
                                    </p:anim>
                                    <p:anim calcmode="lin" valueType="num">
                                      <p:cBhvr additive="base">
                                        <p:cTn id="32" dur="500" fill="hold"/>
                                        <p:tgtEl>
                                          <p:spTgt spid="21"/>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Lst>
  </p:timing>
</p:sld>
</file>

<file path=ppt/slides/slide12.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4" name="check 1"/>
          <p:cNvSpPr/>
          <p:nvPr/>
        </p:nvSpPr>
        <p:spPr>
          <a:xfrm>
            <a:off x="548640" y="1371600"/>
            <a:ext cx="5394960" cy="2286000"/>
          </a:xfrm>
          <a:prstGeom prst="roundRect">
            <a:avLst>
              <a:gd name="adj" fmla="val 4800"/>
            </a:avLst>
          </a:prstGeom>
          <a:solidFill>
            <a:schemeClr val="bg2"/>
          </a:solidFill>
          <a:ln w="12700">
            <a:solidFill>
              <a:schemeClr val="bg2"/>
            </a:solidFill>
            <a:prstDash val="solid"/>
          </a:ln>
          <a:effectLst>
            <a:outerShdw blurRad="101600" dist="25400" dir="5400000" algn="bl" rotWithShape="0">
              <a:srgbClr val="0F1B33">
                <a:alpha val="12000"/>
              </a:srgbClr>
            </a:outerShdw>
          </a:effectLst>
        </p:spPr>
      </p:sp>
      <p:sp>
        <p:nvSpPr>
          <p:cNvPr id="5" name="badge 1"/>
          <p:cNvSpPr/>
          <p:nvPr/>
        </p:nvSpPr>
        <p:spPr>
          <a:xfrm>
            <a:off x="822960" y="1645920"/>
            <a:ext cx="548640" cy="548640"/>
          </a:xfrm>
          <a:prstGeom prst="ellipse">
            <a:avLst/>
          </a:prstGeom>
          <a:solidFill>
            <a:schemeClr val="accent2"/>
          </a:solidFill>
          <a:ln w="12700">
            <a:solidFill>
              <a:schemeClr val="accent2"/>
            </a:solidFill>
            <a:prstDash val="solid"/>
          </a:ln>
        </p:spPr>
      </p:sp>
      <p:sp>
        <p:nvSpPr>
          <p:cNvPr id="9" name="Text 6"/>
          <p:cNvSpPr txBox="1"/>
          <p:nvPr/>
        </p:nvSpPr>
        <p:spPr>
          <a:xfrm>
            <a:off x="822960" y="3063240"/>
            <a:ext cx="4846320" cy="548640"/>
          </a:xfrm>
          <a:prstGeom prst="rect">
            <a:avLst/>
          </a:prstGeom>
          <a:noFill/>
          <a:ln/>
        </p:spPr>
        <p:txBody>
          <a:bodyPr wrap="square" lIns="0" tIns="0" rIns="0" bIns="0" rtlCol="0" anchor="t"/>
          <a:lstStyle/>
          <a:p>
            <a:r>
              <a:rPr lang="en-US" sz="1400" dirty="0"/>
              <a:t>Finding: POCA and POCB mode-collapse; TCN and CNN[attention]  are noisy.</a:t>
            </a:r>
          </a:p>
        </p:txBody>
      </p:sp>
      <p:grpSp>
        <p:nvGrpSpPr>
          <p:cNvPr id="33" name="Group 32">
            <a:extLst>
              <a:ext uri="{FF2B5EF4-FFF2-40B4-BE49-F238E27FC236}">
                <a16:creationId xmlns:a16="http://schemas.microsoft.com/office/drawing/2014/main" id="{BD444F8F-E3E5-9E7C-36C6-B98F60A16049}"/>
              </a:ext>
            </a:extLst>
          </p:cNvPr>
          <p:cNvGrpSpPr/>
          <p:nvPr/>
        </p:nvGrpSpPr>
        <p:grpSpPr>
          <a:xfrm>
            <a:off x="822960" y="1645920"/>
            <a:ext cx="4846320" cy="1371600"/>
            <a:chOff x="822960" y="1645920"/>
            <a:chExt cx="4846320" cy="1371600"/>
          </a:xfrm>
        </p:grpSpPr>
        <p:grpSp>
          <p:nvGrpSpPr>
            <p:cNvPr id="32" name="Group 31">
              <a:extLst>
                <a:ext uri="{FF2B5EF4-FFF2-40B4-BE49-F238E27FC236}">
                  <a16:creationId xmlns:a16="http://schemas.microsoft.com/office/drawing/2014/main" id="{2202DE80-C2E2-1E4B-A0D4-901410059119}"/>
                </a:ext>
              </a:extLst>
            </p:cNvPr>
            <p:cNvGrpSpPr/>
            <p:nvPr/>
          </p:nvGrpSpPr>
          <p:grpSpPr>
            <a:xfrm>
              <a:off x="822960" y="1645920"/>
              <a:ext cx="4846320" cy="548640"/>
              <a:chOff x="822960" y="1645920"/>
              <a:chExt cx="4846320" cy="548640"/>
            </a:xfrm>
          </p:grpSpPr>
          <p:sp>
            <p:nvSpPr>
              <p:cNvPr id="6" name="Text 3"/>
              <p:cNvSpPr txBox="1"/>
              <p:nvPr/>
            </p:nvSpPr>
            <p:spPr>
              <a:xfrm>
                <a:off x="822960" y="1645920"/>
                <a:ext cx="548640" cy="548640"/>
              </a:xfrm>
              <a:prstGeom prst="rect">
                <a:avLst/>
              </a:prstGeom>
              <a:noFill/>
              <a:ln/>
            </p:spPr>
            <p:txBody>
              <a:bodyPr wrap="square" lIns="0" tIns="0" rIns="0" bIns="0" rtlCol="0" anchor="ctr"/>
              <a:lstStyle/>
              <a:p>
                <a:pPr marL="0" indent="0" algn="ctr">
                  <a:buNone/>
                </a:pPr>
                <a:r>
                  <a:rPr lang="en-US" sz="2000" b="1" dirty="0">
                    <a:solidFill>
                      <a:schemeClr val="bg1"/>
                    </a:solidFill>
                  </a:rPr>
                  <a:t>1</a:t>
                </a:r>
                <a:endParaRPr lang="en-US" sz="2000" dirty="0"/>
              </a:p>
            </p:txBody>
          </p:sp>
          <p:sp>
            <p:nvSpPr>
              <p:cNvPr id="7" name="Text 4"/>
              <p:cNvSpPr txBox="1"/>
              <p:nvPr/>
            </p:nvSpPr>
            <p:spPr>
              <a:xfrm>
                <a:off x="1554480" y="1645920"/>
                <a:ext cx="4114800" cy="548640"/>
              </a:xfrm>
              <a:prstGeom prst="rect">
                <a:avLst/>
              </a:prstGeom>
              <a:noFill/>
              <a:ln/>
            </p:spPr>
            <p:txBody>
              <a:bodyPr wrap="square" lIns="0" tIns="0" rIns="0" bIns="0" rtlCol="0" anchor="ctr"/>
              <a:lstStyle/>
              <a:p>
                <a:pPr marL="0" indent="0">
                  <a:buNone/>
                </a:pPr>
                <a:r>
                  <a:rPr lang="en-US" sz="2000" b="1" dirty="0">
                    <a:solidFill>
                      <a:schemeClr val="tx1"/>
                    </a:solidFill>
                    <a:latin typeface="Cambria" pitchFamily="34" charset="0"/>
                    <a:ea typeface="Cambria" pitchFamily="34" charset="-122"/>
                    <a:cs typeface="Cambria" pitchFamily="34" charset="-120"/>
                  </a:rPr>
                  <a:t>Prediction inspection</a:t>
                </a:r>
                <a:endParaRPr lang="en-US" sz="2000" dirty="0"/>
              </a:p>
            </p:txBody>
          </p:sp>
        </p:grpSp>
        <p:sp>
          <p:nvSpPr>
            <p:cNvPr id="8" name="Text 5"/>
            <p:cNvSpPr txBox="1"/>
            <p:nvPr/>
          </p:nvSpPr>
          <p:spPr>
            <a:xfrm>
              <a:off x="822960" y="2286000"/>
              <a:ext cx="4846320" cy="731520"/>
            </a:xfrm>
            <a:prstGeom prst="rect">
              <a:avLst/>
            </a:prstGeom>
            <a:noFill/>
            <a:ln/>
          </p:spPr>
          <p:txBody>
            <a:bodyPr wrap="square" lIns="0" tIns="0" rIns="0" bIns="0" rtlCol="0" anchor="t"/>
            <a:lstStyle/>
            <a:p>
              <a:pPr marL="0" indent="0">
                <a:buNone/>
              </a:pPr>
              <a:r>
                <a:rPr lang="en-US" sz="1400" dirty="0">
                  <a:solidFill>
                    <a:schemeClr val="tx1"/>
                  </a:solidFill>
                </a:rPr>
                <a:t>Histograms of predicted angles show whether predictions pile into a few bins.</a:t>
              </a:r>
              <a:endParaRPr lang="en-US" sz="1400" dirty="0"/>
            </a:p>
          </p:txBody>
        </p:sp>
      </p:grpSp>
      <p:sp>
        <p:nvSpPr>
          <p:cNvPr id="3" name="Text 0"/>
          <p:cNvSpPr>
            <a:spLocks noGrp="1"/>
          </p:cNvSpPr>
          <p:nvPr>
            <p:ph type="title" idx="100" hasCustomPrompt="1"/>
          </p:nvPr>
        </p:nvSpPr>
        <p:spPr>
          <a:xfrm>
            <a:off x="548640" y="365760"/>
            <a:ext cx="11064240" cy="777240"/>
          </a:xfrm>
          <a:prstGeom prst="rect">
            <a:avLst/>
          </a:prstGeom>
          <a:noFill/>
          <a:ln/>
        </p:spPr>
        <p:txBody>
          <a:bodyPr wrap="square" lIns="0" tIns="0" rIns="0" bIns="0" rtlCol="0" anchor="t"/>
          <a:lstStyle/>
          <a:p>
            <a:pPr marL="0" indent="0" algn="l">
              <a:buNone/>
            </a:pPr>
            <a:r>
              <a:rPr lang="en-US" sz="3600" b="1" dirty="0">
                <a:solidFill>
                  <a:schemeClr val="tx1"/>
                </a:solidFill>
              </a:rPr>
              <a:t>Four gate-independent checks</a:t>
            </a:r>
            <a:endParaRPr lang="en-US" sz="3600" dirty="0"/>
          </a:p>
        </p:txBody>
      </p:sp>
      <p:sp>
        <p:nvSpPr>
          <p:cNvPr id="10" name="check 2"/>
          <p:cNvSpPr/>
          <p:nvPr/>
        </p:nvSpPr>
        <p:spPr>
          <a:xfrm>
            <a:off x="6217920" y="1371600"/>
            <a:ext cx="5394960" cy="2286000"/>
          </a:xfrm>
          <a:prstGeom prst="roundRect">
            <a:avLst>
              <a:gd name="adj" fmla="val 4800"/>
            </a:avLst>
          </a:prstGeom>
          <a:solidFill>
            <a:schemeClr val="bg2"/>
          </a:solidFill>
          <a:ln w="12700">
            <a:solidFill>
              <a:schemeClr val="bg2"/>
            </a:solidFill>
            <a:prstDash val="solid"/>
          </a:ln>
          <a:effectLst>
            <a:outerShdw blurRad="101600" dist="25400" dir="5400000" algn="bl" rotWithShape="0">
              <a:srgbClr val="0F1B33">
                <a:alpha val="12000"/>
              </a:srgbClr>
            </a:outerShdw>
          </a:effectLst>
        </p:spPr>
      </p:sp>
      <p:sp>
        <p:nvSpPr>
          <p:cNvPr id="11" name="badge 2"/>
          <p:cNvSpPr/>
          <p:nvPr/>
        </p:nvSpPr>
        <p:spPr>
          <a:xfrm>
            <a:off x="6492240" y="1645920"/>
            <a:ext cx="548640" cy="548640"/>
          </a:xfrm>
          <a:prstGeom prst="ellipse">
            <a:avLst/>
          </a:prstGeom>
          <a:solidFill>
            <a:schemeClr val="accent2"/>
          </a:solidFill>
          <a:ln w="12700">
            <a:solidFill>
              <a:schemeClr val="accent2"/>
            </a:solidFill>
            <a:prstDash val="solid"/>
          </a:ln>
        </p:spPr>
      </p:sp>
      <p:sp>
        <p:nvSpPr>
          <p:cNvPr id="12" name="Text 9"/>
          <p:cNvSpPr txBox="1"/>
          <p:nvPr/>
        </p:nvSpPr>
        <p:spPr>
          <a:xfrm>
            <a:off x="6492240" y="1645920"/>
            <a:ext cx="548640" cy="548640"/>
          </a:xfrm>
          <a:prstGeom prst="rect">
            <a:avLst/>
          </a:prstGeom>
          <a:noFill/>
          <a:ln/>
        </p:spPr>
        <p:txBody>
          <a:bodyPr wrap="square" lIns="0" tIns="0" rIns="0" bIns="0" rtlCol="0" anchor="ctr"/>
          <a:lstStyle/>
          <a:p>
            <a:pPr marL="0" indent="0" algn="ctr">
              <a:buNone/>
            </a:pPr>
            <a:r>
              <a:rPr lang="en-US" sz="2000" b="1" dirty="0">
                <a:solidFill>
                  <a:schemeClr val="bg1"/>
                </a:solidFill>
              </a:rPr>
              <a:t>2</a:t>
            </a:r>
            <a:endParaRPr lang="en-US" sz="2000" dirty="0"/>
          </a:p>
        </p:txBody>
      </p:sp>
      <p:sp>
        <p:nvSpPr>
          <p:cNvPr id="13" name="Text 10"/>
          <p:cNvSpPr txBox="1"/>
          <p:nvPr/>
        </p:nvSpPr>
        <p:spPr>
          <a:xfrm>
            <a:off x="7223760" y="1645920"/>
            <a:ext cx="4114800" cy="548640"/>
          </a:xfrm>
          <a:prstGeom prst="rect">
            <a:avLst/>
          </a:prstGeom>
          <a:noFill/>
          <a:ln/>
        </p:spPr>
        <p:txBody>
          <a:bodyPr wrap="square" lIns="0" tIns="0" rIns="0" bIns="0" rtlCol="0" anchor="ctr"/>
          <a:lstStyle/>
          <a:p>
            <a:pPr marL="0" indent="0">
              <a:buNone/>
            </a:pPr>
            <a:r>
              <a:rPr lang="en-US" sz="2000" b="1" dirty="0">
                <a:solidFill>
                  <a:schemeClr val="tx1"/>
                </a:solidFill>
                <a:latin typeface="Cambria" pitchFamily="34" charset="0"/>
                <a:ea typeface="Cambria" pitchFamily="34" charset="-122"/>
                <a:cs typeface="Cambria" pitchFamily="34" charset="-120"/>
              </a:rPr>
              <a:t>Gradient trace</a:t>
            </a:r>
            <a:endParaRPr lang="en-US" sz="2000" dirty="0"/>
          </a:p>
        </p:txBody>
      </p:sp>
      <p:sp>
        <p:nvSpPr>
          <p:cNvPr id="14" name="Text 11"/>
          <p:cNvSpPr txBox="1"/>
          <p:nvPr/>
        </p:nvSpPr>
        <p:spPr>
          <a:xfrm>
            <a:off x="6492240" y="2286000"/>
            <a:ext cx="4846320" cy="731520"/>
          </a:xfrm>
          <a:prstGeom prst="rect">
            <a:avLst/>
          </a:prstGeom>
          <a:noFill/>
          <a:ln/>
        </p:spPr>
        <p:txBody>
          <a:bodyPr wrap="square" lIns="0" tIns="0" rIns="0" bIns="0" rtlCol="0" anchor="t"/>
          <a:lstStyle/>
          <a:p>
            <a:pPr marL="0" indent="0">
              <a:buNone/>
            </a:pPr>
            <a:r>
              <a:rPr lang="en-US" sz="1400" dirty="0">
                <a:solidFill>
                  <a:schemeClr val="tx1"/>
                </a:solidFill>
              </a:rPr>
              <a:t>Code-level check that the training signal reaches the angular heads end to end.</a:t>
            </a:r>
            <a:endParaRPr lang="en-US" sz="1400" dirty="0"/>
          </a:p>
        </p:txBody>
      </p:sp>
      <p:sp>
        <p:nvSpPr>
          <p:cNvPr id="15" name="Text 12"/>
          <p:cNvSpPr txBox="1"/>
          <p:nvPr/>
        </p:nvSpPr>
        <p:spPr>
          <a:xfrm>
            <a:off x="6492240" y="3063240"/>
            <a:ext cx="4846320" cy="548640"/>
          </a:xfrm>
          <a:prstGeom prst="rect">
            <a:avLst/>
          </a:prstGeom>
          <a:noFill/>
          <a:ln/>
        </p:spPr>
        <p:txBody>
          <a:bodyPr wrap="square" lIns="0" tIns="0" rIns="0" bIns="0" rtlCol="0" anchor="t"/>
          <a:lstStyle/>
          <a:p>
            <a:pPr marL="0" indent="0">
              <a:buNone/>
            </a:pPr>
            <a:r>
              <a:rPr lang="en-US" sz="1400" b="1" dirty="0">
                <a:solidFill>
                  <a:schemeClr val="tx1"/>
                </a:solidFill>
              </a:rPr>
              <a:t>Finding: </a:t>
            </a:r>
            <a:r>
              <a:rPr lang="en-US" sz="1400" dirty="0">
                <a:solidFill>
                  <a:schemeClr val="tx1"/>
                </a:solidFill>
              </a:rPr>
              <a:t>Loss wiring and gradient chain healthy: rules out an implementation bug.</a:t>
            </a:r>
            <a:endParaRPr lang="en-US" sz="1400" dirty="0"/>
          </a:p>
        </p:txBody>
      </p:sp>
      <p:sp>
        <p:nvSpPr>
          <p:cNvPr id="16" name="check 3"/>
          <p:cNvSpPr/>
          <p:nvPr/>
        </p:nvSpPr>
        <p:spPr>
          <a:xfrm>
            <a:off x="548640" y="3840480"/>
            <a:ext cx="5394960" cy="2286000"/>
          </a:xfrm>
          <a:prstGeom prst="roundRect">
            <a:avLst>
              <a:gd name="adj" fmla="val 4800"/>
            </a:avLst>
          </a:prstGeom>
          <a:solidFill>
            <a:schemeClr val="bg2"/>
          </a:solidFill>
          <a:ln w="12700">
            <a:solidFill>
              <a:schemeClr val="bg2"/>
            </a:solidFill>
            <a:prstDash val="solid"/>
          </a:ln>
          <a:effectLst>
            <a:outerShdw blurRad="101600" dist="25400" dir="5400000" algn="bl" rotWithShape="0">
              <a:srgbClr val="0F1B33">
                <a:alpha val="12000"/>
              </a:srgbClr>
            </a:outerShdw>
          </a:effectLst>
        </p:spPr>
      </p:sp>
      <p:sp>
        <p:nvSpPr>
          <p:cNvPr id="17" name="badge 3"/>
          <p:cNvSpPr/>
          <p:nvPr/>
        </p:nvSpPr>
        <p:spPr>
          <a:xfrm>
            <a:off x="822960" y="4114800"/>
            <a:ext cx="548640" cy="548640"/>
          </a:xfrm>
          <a:prstGeom prst="ellipse">
            <a:avLst/>
          </a:prstGeom>
          <a:solidFill>
            <a:schemeClr val="accent2"/>
          </a:solidFill>
          <a:ln w="12700">
            <a:solidFill>
              <a:schemeClr val="accent2"/>
            </a:solidFill>
            <a:prstDash val="solid"/>
          </a:ln>
        </p:spPr>
      </p:sp>
      <p:sp>
        <p:nvSpPr>
          <p:cNvPr id="18" name="Text 15"/>
          <p:cNvSpPr txBox="1"/>
          <p:nvPr/>
        </p:nvSpPr>
        <p:spPr>
          <a:xfrm>
            <a:off x="822960" y="4114800"/>
            <a:ext cx="548640" cy="548640"/>
          </a:xfrm>
          <a:prstGeom prst="rect">
            <a:avLst/>
          </a:prstGeom>
          <a:noFill/>
          <a:ln/>
        </p:spPr>
        <p:txBody>
          <a:bodyPr wrap="square" lIns="0" tIns="0" rIns="0" bIns="0" rtlCol="0" anchor="ctr"/>
          <a:lstStyle/>
          <a:p>
            <a:pPr marL="0" indent="0" algn="ctr">
              <a:buNone/>
            </a:pPr>
            <a:r>
              <a:rPr lang="en-US" sz="2000" b="1" dirty="0">
                <a:solidFill>
                  <a:schemeClr val="bg1"/>
                </a:solidFill>
              </a:rPr>
              <a:t>3</a:t>
            </a:r>
            <a:endParaRPr lang="en-US" sz="2000" dirty="0"/>
          </a:p>
        </p:txBody>
      </p:sp>
      <p:sp>
        <p:nvSpPr>
          <p:cNvPr id="19" name="Text 16"/>
          <p:cNvSpPr txBox="1"/>
          <p:nvPr/>
        </p:nvSpPr>
        <p:spPr>
          <a:xfrm>
            <a:off x="1554480" y="4114800"/>
            <a:ext cx="4114800" cy="548640"/>
          </a:xfrm>
          <a:prstGeom prst="rect">
            <a:avLst/>
          </a:prstGeom>
          <a:noFill/>
          <a:ln/>
        </p:spPr>
        <p:txBody>
          <a:bodyPr wrap="square" lIns="0" tIns="0" rIns="0" bIns="0" rtlCol="0" anchor="ctr"/>
          <a:lstStyle/>
          <a:p>
            <a:pPr marL="0" indent="0">
              <a:buNone/>
            </a:pPr>
            <a:r>
              <a:rPr lang="en-US" sz="2000" b="1" dirty="0">
                <a:solidFill>
                  <a:schemeClr val="tx1"/>
                </a:solidFill>
                <a:latin typeface="Cambria" pitchFamily="34" charset="0"/>
                <a:ea typeface="Cambria" pitchFamily="34" charset="-122"/>
                <a:cs typeface="Cambria" pitchFamily="34" charset="-120"/>
              </a:rPr>
              <a:t>Permutation bootstrap</a:t>
            </a:r>
            <a:endParaRPr lang="en-US" sz="2000" dirty="0"/>
          </a:p>
        </p:txBody>
      </p:sp>
      <p:sp>
        <p:nvSpPr>
          <p:cNvPr id="20" name="Text 17"/>
          <p:cNvSpPr txBox="1"/>
          <p:nvPr/>
        </p:nvSpPr>
        <p:spPr>
          <a:xfrm>
            <a:off x="822960" y="4754880"/>
            <a:ext cx="4846320" cy="731520"/>
          </a:xfrm>
          <a:prstGeom prst="rect">
            <a:avLst/>
          </a:prstGeom>
          <a:noFill/>
          <a:ln/>
        </p:spPr>
        <p:txBody>
          <a:bodyPr wrap="square" lIns="0" tIns="0" rIns="0" bIns="0" rtlCol="0" anchor="t"/>
          <a:lstStyle/>
          <a:p>
            <a:pPr marL="0" indent="0">
              <a:buNone/>
            </a:pPr>
            <a:r>
              <a:rPr lang="en-US" sz="1400">
                <a:solidFill>
                  <a:schemeClr val="tx1"/>
                </a:solidFill>
              </a:rPr>
              <a:t>10,000 label shuffles: does the angular error beat that of shuffled labels?</a:t>
            </a:r>
            <a:endParaRPr lang="en-US" sz="1400" dirty="0"/>
          </a:p>
        </p:txBody>
      </p:sp>
      <p:sp>
        <p:nvSpPr>
          <p:cNvPr id="21" name="Text 18"/>
          <p:cNvSpPr txBox="1"/>
          <p:nvPr/>
        </p:nvSpPr>
        <p:spPr>
          <a:xfrm>
            <a:off x="822960" y="5532120"/>
            <a:ext cx="4846320" cy="548640"/>
          </a:xfrm>
          <a:prstGeom prst="rect">
            <a:avLst/>
          </a:prstGeom>
          <a:noFill/>
          <a:ln/>
        </p:spPr>
        <p:txBody>
          <a:bodyPr wrap="square" lIns="0" tIns="0" rIns="0" bIns="0" rtlCol="0" anchor="t"/>
          <a:lstStyle/>
          <a:p>
            <a:pPr marL="0" indent="0">
              <a:buNone/>
            </a:pPr>
            <a:r>
              <a:rPr lang="en-US" sz="1400" b="1">
                <a:solidFill>
                  <a:schemeClr val="tx1"/>
                </a:solidFill>
              </a:rPr>
              <a:t>Finding: </a:t>
            </a:r>
            <a:r>
              <a:rPr lang="en-US" sz="1400">
                <a:solidFill>
                  <a:schemeClr val="tx1"/>
                </a:solidFill>
              </a:rPr>
              <a:t>No </a:t>
            </a:r>
            <a:r>
              <a:rPr lang="en-US" sz="1400" i="1">
                <a:solidFill>
                  <a:schemeClr val="tx1"/>
                </a:solidFill>
              </a:rPr>
              <a:t>φ</a:t>
            </a:r>
            <a:r>
              <a:rPr lang="en-US" sz="1400" baseline="-25000">
                <a:solidFill>
                  <a:schemeClr val="tx1"/>
                </a:solidFill>
              </a:rPr>
              <a:t>c</a:t>
            </a:r>
            <a:r>
              <a:rPr lang="en-US" sz="1400">
                <a:solidFill>
                  <a:schemeClr val="tx1"/>
                </a:solidFill>
              </a:rPr>
              <a:t>/</a:t>
            </a:r>
            <a:r>
              <a:rPr lang="en-US" sz="1400" i="1">
                <a:solidFill>
                  <a:schemeClr val="tx1"/>
                </a:solidFill>
              </a:rPr>
              <a:t>ψ</a:t>
            </a:r>
            <a:r>
              <a:rPr lang="en-US" sz="1400">
                <a:solidFill>
                  <a:schemeClr val="tx1"/>
                </a:solidFill>
              </a:rPr>
              <a:t> test is significant; most are on the wrong side of chance.</a:t>
            </a:r>
            <a:endParaRPr lang="en-US" sz="1400" dirty="0"/>
          </a:p>
        </p:txBody>
      </p:sp>
      <p:sp>
        <p:nvSpPr>
          <p:cNvPr id="22" name="check 4"/>
          <p:cNvSpPr/>
          <p:nvPr/>
        </p:nvSpPr>
        <p:spPr>
          <a:xfrm>
            <a:off x="6217920" y="3840480"/>
            <a:ext cx="5394960" cy="2286000"/>
          </a:xfrm>
          <a:prstGeom prst="roundRect">
            <a:avLst>
              <a:gd name="adj" fmla="val 4800"/>
            </a:avLst>
          </a:prstGeom>
          <a:solidFill>
            <a:schemeClr val="bg2"/>
          </a:solidFill>
          <a:ln w="12700">
            <a:solidFill>
              <a:schemeClr val="bg2"/>
            </a:solidFill>
            <a:prstDash val="solid"/>
          </a:ln>
          <a:effectLst>
            <a:outerShdw blurRad="101600" dist="25400" dir="5400000" algn="bl" rotWithShape="0">
              <a:srgbClr val="0F1B33">
                <a:alpha val="12000"/>
              </a:srgbClr>
            </a:outerShdw>
          </a:effectLst>
        </p:spPr>
      </p:sp>
      <p:sp>
        <p:nvSpPr>
          <p:cNvPr id="23" name="badge 4"/>
          <p:cNvSpPr/>
          <p:nvPr/>
        </p:nvSpPr>
        <p:spPr>
          <a:xfrm>
            <a:off x="6492240" y="4114800"/>
            <a:ext cx="548640" cy="548640"/>
          </a:xfrm>
          <a:prstGeom prst="ellipse">
            <a:avLst/>
          </a:prstGeom>
          <a:solidFill>
            <a:schemeClr val="accent2"/>
          </a:solidFill>
          <a:ln w="12700">
            <a:solidFill>
              <a:schemeClr val="accent2"/>
            </a:solidFill>
            <a:prstDash val="solid"/>
          </a:ln>
        </p:spPr>
      </p:sp>
      <p:sp>
        <p:nvSpPr>
          <p:cNvPr id="24" name="Text 21"/>
          <p:cNvSpPr txBox="1"/>
          <p:nvPr/>
        </p:nvSpPr>
        <p:spPr>
          <a:xfrm>
            <a:off x="6492240" y="4114800"/>
            <a:ext cx="548640" cy="548640"/>
          </a:xfrm>
          <a:prstGeom prst="rect">
            <a:avLst/>
          </a:prstGeom>
          <a:noFill/>
          <a:ln/>
        </p:spPr>
        <p:txBody>
          <a:bodyPr wrap="square" lIns="0" tIns="0" rIns="0" bIns="0" rtlCol="0" anchor="ctr"/>
          <a:lstStyle/>
          <a:p>
            <a:pPr marL="0" indent="0" algn="ctr">
              <a:buNone/>
            </a:pPr>
            <a:r>
              <a:rPr lang="en-US" sz="2000" b="1" dirty="0">
                <a:solidFill>
                  <a:schemeClr val="bg1"/>
                </a:solidFill>
              </a:rPr>
              <a:t>4</a:t>
            </a:r>
            <a:endParaRPr lang="en-US" sz="2000" dirty="0"/>
          </a:p>
        </p:txBody>
      </p:sp>
      <p:sp>
        <p:nvSpPr>
          <p:cNvPr id="25" name="Text 22"/>
          <p:cNvSpPr txBox="1"/>
          <p:nvPr/>
        </p:nvSpPr>
        <p:spPr>
          <a:xfrm>
            <a:off x="7223760" y="4114800"/>
            <a:ext cx="4114800" cy="548640"/>
          </a:xfrm>
          <a:prstGeom prst="rect">
            <a:avLst/>
          </a:prstGeom>
          <a:noFill/>
          <a:ln/>
        </p:spPr>
        <p:txBody>
          <a:bodyPr wrap="square" lIns="0" tIns="0" rIns="0" bIns="0" rtlCol="0" anchor="ctr"/>
          <a:lstStyle/>
          <a:p>
            <a:pPr marL="0" indent="0">
              <a:buNone/>
            </a:pPr>
            <a:r>
              <a:rPr lang="en-US" sz="2000" b="1" dirty="0">
                <a:solidFill>
                  <a:schemeClr val="tx1"/>
                </a:solidFill>
                <a:latin typeface="Cambria" pitchFamily="34" charset="0"/>
                <a:ea typeface="Cambria" pitchFamily="34" charset="-122"/>
                <a:cs typeface="Cambria" pitchFamily="34" charset="-120"/>
              </a:rPr>
              <a:t>Stratification</a:t>
            </a:r>
            <a:endParaRPr lang="en-US" sz="2000" dirty="0"/>
          </a:p>
        </p:txBody>
      </p:sp>
      <p:sp>
        <p:nvSpPr>
          <p:cNvPr id="26" name="Text 23"/>
          <p:cNvSpPr txBox="1"/>
          <p:nvPr/>
        </p:nvSpPr>
        <p:spPr>
          <a:xfrm>
            <a:off x="6492240" y="4754880"/>
            <a:ext cx="4846320" cy="731520"/>
          </a:xfrm>
          <a:prstGeom prst="rect">
            <a:avLst/>
          </a:prstGeom>
          <a:noFill/>
          <a:ln/>
        </p:spPr>
        <p:txBody>
          <a:bodyPr wrap="square" lIns="0" tIns="0" rIns="0" bIns="0" rtlCol="0" anchor="t"/>
          <a:lstStyle/>
          <a:p>
            <a:pPr marL="0" indent="0">
              <a:buNone/>
            </a:pPr>
            <a:r>
              <a:rPr lang="en-US" sz="1400" dirty="0">
                <a:solidFill>
                  <a:schemeClr val="tx1"/>
                </a:solidFill>
              </a:rPr>
              <a:t>Recovery by SNR tercile and by inclination band.</a:t>
            </a:r>
            <a:endParaRPr lang="en-US" sz="1400" dirty="0"/>
          </a:p>
        </p:txBody>
      </p:sp>
      <p:sp>
        <p:nvSpPr>
          <p:cNvPr id="27" name="Text 24"/>
          <p:cNvSpPr txBox="1"/>
          <p:nvPr/>
        </p:nvSpPr>
        <p:spPr>
          <a:xfrm>
            <a:off x="6492240" y="5532120"/>
            <a:ext cx="4846320" cy="548640"/>
          </a:xfrm>
          <a:prstGeom prst="rect">
            <a:avLst/>
          </a:prstGeom>
          <a:noFill/>
          <a:ln/>
        </p:spPr>
        <p:txBody>
          <a:bodyPr wrap="square" lIns="0" tIns="0" rIns="0" bIns="0" rtlCol="0" anchor="t"/>
          <a:lstStyle/>
          <a:p>
            <a:pPr marL="0" indent="0">
              <a:buNone/>
            </a:pPr>
            <a:r>
              <a:rPr lang="en-US" sz="1400" b="1" dirty="0">
                <a:solidFill>
                  <a:schemeClr val="tx1"/>
                </a:solidFill>
              </a:rPr>
              <a:t>Finding: </a:t>
            </a:r>
            <a:r>
              <a:rPr lang="en-US" sz="1400" dirty="0">
                <a:solidFill>
                  <a:schemeClr val="tx1"/>
                </a:solidFill>
              </a:rPr>
              <a:t>No band clears the pre-set 0.10 rad materiality floor.</a:t>
            </a:r>
            <a:endParaRPr lang="en-US" sz="1400" dirty="0"/>
          </a:p>
        </p:txBody>
      </p:sp>
      <p:sp>
        <p:nvSpPr>
          <p:cNvPr id="2"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100">
                <a:solidFill>
                  <a:srgbClr val="55627A"/>
                </a:solidFill>
              </a:defRPr>
            </a:lvl1pPr>
          </a:lstStyle>
          <a:p>
            <a:pPr algn="r"/>
            <a:fld id="{F7021451-1387-4CA6-816F-3879F97B5CBC}" type="slidenum">
              <a:rPr lang="en-US" b="0"/>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ext 0"/>
          <p:cNvSpPr>
            <a:spLocks noGrp="1"/>
          </p:cNvSpPr>
          <p:nvPr>
            <p:ph type="title" idx="100" hasCustomPrompt="1"/>
          </p:nvPr>
        </p:nvSpPr>
        <p:spPr>
          <a:xfrm>
            <a:off x="548640" y="365760"/>
            <a:ext cx="11064240" cy="777240"/>
          </a:xfrm>
          <a:prstGeom prst="rect">
            <a:avLst/>
          </a:prstGeom>
          <a:noFill/>
          <a:ln/>
        </p:spPr>
        <p:txBody>
          <a:bodyPr wrap="square" lIns="0" tIns="0" rIns="0" bIns="0" rtlCol="0" anchor="t"/>
          <a:lstStyle/>
          <a:p>
            <a:pPr marL="0" indent="0" algn="l">
              <a:buNone/>
            </a:pPr>
            <a:r>
              <a:rPr lang="en-US" sz="3600" b="1" dirty="0">
                <a:solidFill>
                  <a:schemeClr val="tx1"/>
                </a:solidFill>
              </a:rPr>
              <a:t>Verdict: a statistical null</a:t>
            </a:r>
            <a:endParaRPr lang="en-US" sz="3600" dirty="0"/>
          </a:p>
        </p:txBody>
      </p:sp>
      <p:grpSp>
        <p:nvGrpSpPr>
          <p:cNvPr id="2" name="Group 1">
            <a:extLst>
              <a:ext uri="{FF2B5EF4-FFF2-40B4-BE49-F238E27FC236}">
                <a16:creationId xmlns:a16="http://schemas.microsoft.com/office/drawing/2014/main" id="{23844CFF-9F11-6E4E-59AC-DFBA30DA60D0}"/>
              </a:ext>
            </a:extLst>
          </p:cNvPr>
          <p:cNvGrpSpPr/>
          <p:nvPr/>
        </p:nvGrpSpPr>
        <p:grpSpPr>
          <a:xfrm>
            <a:off x="548640" y="1371600"/>
            <a:ext cx="2628900" cy="2468880"/>
            <a:chOff x="548640" y="1371600"/>
            <a:chExt cx="2628900" cy="2468880"/>
          </a:xfrm>
        </p:grpSpPr>
        <p:sp>
          <p:nvSpPr>
            <p:cNvPr id="4" name="verdict stat 0"/>
            <p:cNvSpPr/>
            <p:nvPr/>
          </p:nvSpPr>
          <p:spPr>
            <a:xfrm>
              <a:off x="548640" y="1371600"/>
              <a:ext cx="2628900" cy="2468880"/>
            </a:xfrm>
            <a:prstGeom prst="roundRect">
              <a:avLst>
                <a:gd name="adj" fmla="val 4444"/>
              </a:avLst>
            </a:prstGeom>
            <a:solidFill>
              <a:schemeClr val="bg2"/>
            </a:solidFill>
            <a:ln w="12700">
              <a:solidFill>
                <a:schemeClr val="bg2"/>
              </a:solidFill>
              <a:prstDash val="solid"/>
            </a:ln>
            <a:effectLst>
              <a:outerShdw blurRad="101600" dist="25400" dir="5400000" algn="bl" rotWithShape="0">
                <a:srgbClr val="0F1B33">
                  <a:alpha val="12000"/>
                </a:srgbClr>
              </a:outerShdw>
            </a:effectLst>
          </p:spPr>
        </p:sp>
        <p:sp>
          <p:nvSpPr>
            <p:cNvPr id="5" name="Text 2"/>
            <p:cNvSpPr txBox="1"/>
            <p:nvPr/>
          </p:nvSpPr>
          <p:spPr>
            <a:xfrm>
              <a:off x="777240" y="1600200"/>
              <a:ext cx="2194560" cy="731520"/>
            </a:xfrm>
            <a:prstGeom prst="rect">
              <a:avLst/>
            </a:prstGeom>
            <a:noFill/>
            <a:ln/>
          </p:spPr>
          <p:txBody>
            <a:bodyPr wrap="square" lIns="0" tIns="0" rIns="0" bIns="0" rtlCol="0" anchor="t"/>
            <a:lstStyle/>
            <a:p>
              <a:pPr marL="0" indent="0">
                <a:buNone/>
              </a:pPr>
              <a:r>
                <a:rPr lang="en-US" sz="3400" b="1" dirty="0">
                  <a:solidFill>
                    <a:schemeClr val="accent4"/>
                  </a:solidFill>
                  <a:latin typeface="Cambria" pitchFamily="34" charset="0"/>
                  <a:ea typeface="Cambria" pitchFamily="34" charset="-122"/>
                  <a:cs typeface="Cambria" pitchFamily="34" charset="-120"/>
                </a:rPr>
                <a:t>0 / 8</a:t>
              </a:r>
              <a:endParaRPr lang="en-US" sz="3400" dirty="0"/>
            </a:p>
          </p:txBody>
        </p:sp>
        <p:sp>
          <p:nvSpPr>
            <p:cNvPr id="6" name="Text 3"/>
            <p:cNvSpPr txBox="1"/>
            <p:nvPr/>
          </p:nvSpPr>
          <p:spPr>
            <a:xfrm>
              <a:off x="777240" y="2468880"/>
              <a:ext cx="2194560" cy="1280160"/>
            </a:xfrm>
            <a:prstGeom prst="rect">
              <a:avLst/>
            </a:prstGeom>
            <a:noFill/>
            <a:ln/>
          </p:spPr>
          <p:txBody>
            <a:bodyPr wrap="square" lIns="0" tIns="0" rIns="0" bIns="0" rtlCol="0" anchor="t"/>
            <a:lstStyle/>
            <a:p>
              <a:pPr marL="0" indent="0">
                <a:buNone/>
              </a:pPr>
              <a:r>
                <a:rPr lang="en-US" sz="1400" i="1" dirty="0">
                  <a:solidFill>
                    <a:schemeClr val="tx1"/>
                  </a:solidFill>
                </a:rPr>
                <a:t>φ</a:t>
              </a:r>
              <a:r>
                <a:rPr lang="en-US" sz="1400" baseline="-25000" dirty="0">
                  <a:solidFill>
                    <a:schemeClr val="tx1"/>
                  </a:solidFill>
                </a:rPr>
                <a:t>c</a:t>
              </a:r>
              <a:r>
                <a:rPr lang="en-US" sz="1400" dirty="0">
                  <a:solidFill>
                    <a:schemeClr val="tx1"/>
                  </a:solidFill>
                </a:rPr>
                <a:t> and </a:t>
              </a:r>
              <a:r>
                <a:rPr lang="en-US" sz="1400" i="1" dirty="0">
                  <a:solidFill>
                    <a:schemeClr val="tx1"/>
                  </a:solidFill>
                </a:rPr>
                <a:t>ψ</a:t>
              </a:r>
              <a:r>
                <a:rPr lang="en-US" sz="1400" dirty="0">
                  <a:solidFill>
                    <a:schemeClr val="tx1"/>
                  </a:solidFill>
                </a:rPr>
                <a:t> bootstrap tests significant (4 models × 2 heads)</a:t>
              </a:r>
              <a:endParaRPr lang="en-US" sz="1400" dirty="0"/>
            </a:p>
          </p:txBody>
        </p:sp>
      </p:grpSp>
      <p:grpSp>
        <p:nvGrpSpPr>
          <p:cNvPr id="20" name="Group 19">
            <a:extLst>
              <a:ext uri="{FF2B5EF4-FFF2-40B4-BE49-F238E27FC236}">
                <a16:creationId xmlns:a16="http://schemas.microsoft.com/office/drawing/2014/main" id="{49F87C84-1623-9507-ABF6-C5080B532E4C}"/>
              </a:ext>
            </a:extLst>
          </p:cNvPr>
          <p:cNvGrpSpPr/>
          <p:nvPr/>
        </p:nvGrpSpPr>
        <p:grpSpPr>
          <a:xfrm>
            <a:off x="3360420" y="1371600"/>
            <a:ext cx="2628900" cy="2468880"/>
            <a:chOff x="3360420" y="1371600"/>
            <a:chExt cx="2628900" cy="2468880"/>
          </a:xfrm>
        </p:grpSpPr>
        <p:sp>
          <p:nvSpPr>
            <p:cNvPr id="7" name="verdict stat 1"/>
            <p:cNvSpPr/>
            <p:nvPr/>
          </p:nvSpPr>
          <p:spPr>
            <a:xfrm>
              <a:off x="3360420" y="1371600"/>
              <a:ext cx="2628900" cy="2468880"/>
            </a:xfrm>
            <a:prstGeom prst="roundRect">
              <a:avLst>
                <a:gd name="adj" fmla="val 4444"/>
              </a:avLst>
            </a:prstGeom>
            <a:solidFill>
              <a:schemeClr val="bg2"/>
            </a:solidFill>
            <a:ln w="12700">
              <a:solidFill>
                <a:schemeClr val="bg2"/>
              </a:solidFill>
              <a:prstDash val="solid"/>
            </a:ln>
            <a:effectLst>
              <a:outerShdw blurRad="101600" dist="25400" dir="5400000" algn="bl" rotWithShape="0">
                <a:srgbClr val="0F1B33">
                  <a:alpha val="12000"/>
                </a:srgbClr>
              </a:outerShdw>
            </a:effectLst>
          </p:spPr>
        </p:sp>
        <p:sp>
          <p:nvSpPr>
            <p:cNvPr id="8" name="Text 5"/>
            <p:cNvSpPr txBox="1"/>
            <p:nvPr/>
          </p:nvSpPr>
          <p:spPr>
            <a:xfrm>
              <a:off x="3589020" y="1600200"/>
              <a:ext cx="2194560" cy="731520"/>
            </a:xfrm>
            <a:prstGeom prst="rect">
              <a:avLst/>
            </a:prstGeom>
            <a:noFill/>
            <a:ln/>
          </p:spPr>
          <p:txBody>
            <a:bodyPr wrap="square" lIns="0" tIns="0" rIns="0" bIns="0" rtlCol="0" anchor="t"/>
            <a:lstStyle/>
            <a:p>
              <a:pPr marL="0" indent="0">
                <a:buNone/>
              </a:pPr>
              <a:r>
                <a:rPr lang="en-US" sz="3400" b="1" dirty="0">
                  <a:solidFill>
                    <a:schemeClr val="accent2"/>
                  </a:solidFill>
                  <a:latin typeface="Cambria" pitchFamily="34" charset="0"/>
                  <a:ea typeface="Cambria" pitchFamily="34" charset="-122"/>
                  <a:cs typeface="Cambria" pitchFamily="34" charset="-120"/>
                </a:rPr>
                <a:t>10,000</a:t>
              </a:r>
              <a:endParaRPr lang="en-US" sz="3400" dirty="0"/>
            </a:p>
          </p:txBody>
        </p:sp>
        <p:sp>
          <p:nvSpPr>
            <p:cNvPr id="9" name="Text 6"/>
            <p:cNvSpPr txBox="1"/>
            <p:nvPr/>
          </p:nvSpPr>
          <p:spPr>
            <a:xfrm>
              <a:off x="3589020" y="2468880"/>
              <a:ext cx="2194560" cy="1280160"/>
            </a:xfrm>
            <a:prstGeom prst="rect">
              <a:avLst/>
            </a:prstGeom>
            <a:noFill/>
            <a:ln/>
          </p:spPr>
          <p:txBody>
            <a:bodyPr wrap="square" lIns="0" tIns="0" rIns="0" bIns="0" rtlCol="0" anchor="t"/>
            <a:lstStyle/>
            <a:p>
              <a:pPr marL="0" indent="0">
                <a:buNone/>
              </a:pPr>
              <a:r>
                <a:rPr lang="en-US" sz="1400" dirty="0">
                  <a:solidFill>
                    <a:schemeClr val="tx1"/>
                  </a:solidFill>
                </a:rPr>
                <a:t>label shuffles per test in the permutation bootstrap</a:t>
              </a:r>
              <a:endParaRPr lang="en-US" sz="1400" dirty="0"/>
            </a:p>
          </p:txBody>
        </p:sp>
      </p:grpSp>
      <p:grpSp>
        <p:nvGrpSpPr>
          <p:cNvPr id="21" name="Group 20">
            <a:extLst>
              <a:ext uri="{FF2B5EF4-FFF2-40B4-BE49-F238E27FC236}">
                <a16:creationId xmlns:a16="http://schemas.microsoft.com/office/drawing/2014/main" id="{8B89CF79-A1BF-2EC2-C45B-560CC48E0297}"/>
              </a:ext>
            </a:extLst>
          </p:cNvPr>
          <p:cNvGrpSpPr/>
          <p:nvPr/>
        </p:nvGrpSpPr>
        <p:grpSpPr>
          <a:xfrm>
            <a:off x="6172200" y="1371600"/>
            <a:ext cx="2628900" cy="2468880"/>
            <a:chOff x="6172200" y="1371600"/>
            <a:chExt cx="2628900" cy="2468880"/>
          </a:xfrm>
        </p:grpSpPr>
        <p:sp>
          <p:nvSpPr>
            <p:cNvPr id="10" name="verdict stat 2"/>
            <p:cNvSpPr/>
            <p:nvPr/>
          </p:nvSpPr>
          <p:spPr>
            <a:xfrm>
              <a:off x="6172200" y="1371600"/>
              <a:ext cx="2628900" cy="2468880"/>
            </a:xfrm>
            <a:prstGeom prst="roundRect">
              <a:avLst>
                <a:gd name="adj" fmla="val 4444"/>
              </a:avLst>
            </a:prstGeom>
            <a:solidFill>
              <a:schemeClr val="bg2"/>
            </a:solidFill>
            <a:ln w="12700">
              <a:solidFill>
                <a:schemeClr val="bg2"/>
              </a:solidFill>
              <a:prstDash val="solid"/>
            </a:ln>
            <a:effectLst>
              <a:outerShdw blurRad="101600" dist="25400" dir="5400000" algn="bl" rotWithShape="0">
                <a:srgbClr val="0F1B33">
                  <a:alpha val="12000"/>
                </a:srgbClr>
              </a:outerShdw>
            </a:effectLst>
          </p:spPr>
        </p:sp>
        <p:sp>
          <p:nvSpPr>
            <p:cNvPr id="11" name="Text 8"/>
            <p:cNvSpPr txBox="1"/>
            <p:nvPr/>
          </p:nvSpPr>
          <p:spPr>
            <a:xfrm>
              <a:off x="6400800" y="1600200"/>
              <a:ext cx="2194560" cy="731520"/>
            </a:xfrm>
            <a:prstGeom prst="rect">
              <a:avLst/>
            </a:prstGeom>
            <a:noFill/>
            <a:ln/>
          </p:spPr>
          <p:txBody>
            <a:bodyPr wrap="square" lIns="0" tIns="0" rIns="0" bIns="0" rtlCol="0" anchor="t"/>
            <a:lstStyle/>
            <a:p>
              <a:pPr marL="0" indent="0">
                <a:buNone/>
              </a:pPr>
              <a:r>
                <a:rPr lang="en-US" sz="3400" b="1" dirty="0">
                  <a:solidFill>
                    <a:schemeClr val="accent1"/>
                  </a:solidFill>
                  <a:latin typeface="Cambria" pitchFamily="34" charset="0"/>
                  <a:ea typeface="Cambria" pitchFamily="34" charset="-122"/>
                  <a:cs typeface="Cambria" pitchFamily="34" charset="-120"/>
                </a:rPr>
                <a:t>0.10 rad</a:t>
              </a:r>
              <a:endParaRPr lang="en-US" sz="3400" dirty="0"/>
            </a:p>
          </p:txBody>
        </p:sp>
        <p:sp>
          <p:nvSpPr>
            <p:cNvPr id="12" name="Text 9"/>
            <p:cNvSpPr txBox="1"/>
            <p:nvPr/>
          </p:nvSpPr>
          <p:spPr>
            <a:xfrm>
              <a:off x="6400800" y="2468880"/>
              <a:ext cx="2194560" cy="1280160"/>
            </a:xfrm>
            <a:prstGeom prst="rect">
              <a:avLst/>
            </a:prstGeom>
            <a:noFill/>
            <a:ln/>
          </p:spPr>
          <p:txBody>
            <a:bodyPr wrap="square" lIns="0" tIns="0" rIns="0" bIns="0" rtlCol="0" anchor="t"/>
            <a:lstStyle/>
            <a:p>
              <a:pPr marL="0" indent="0">
                <a:buNone/>
              </a:pPr>
              <a:r>
                <a:rPr lang="en-US" sz="1400" dirty="0">
                  <a:solidFill>
                    <a:schemeClr val="tx1"/>
                  </a:solidFill>
                </a:rPr>
                <a:t>materiality floor: no inclination band or SNR tercile clears it</a:t>
              </a:r>
              <a:endParaRPr lang="en-US" sz="1400" dirty="0"/>
            </a:p>
          </p:txBody>
        </p:sp>
      </p:grpSp>
      <p:grpSp>
        <p:nvGrpSpPr>
          <p:cNvPr id="22" name="Group 21">
            <a:extLst>
              <a:ext uri="{FF2B5EF4-FFF2-40B4-BE49-F238E27FC236}">
                <a16:creationId xmlns:a16="http://schemas.microsoft.com/office/drawing/2014/main" id="{0308CB77-6CD1-BC64-EE10-F14885FCD61C}"/>
              </a:ext>
            </a:extLst>
          </p:cNvPr>
          <p:cNvGrpSpPr/>
          <p:nvPr/>
        </p:nvGrpSpPr>
        <p:grpSpPr>
          <a:xfrm>
            <a:off x="8983980" y="1371600"/>
            <a:ext cx="2628900" cy="2468880"/>
            <a:chOff x="8983980" y="1371600"/>
            <a:chExt cx="2628900" cy="2468880"/>
          </a:xfrm>
        </p:grpSpPr>
        <p:sp>
          <p:nvSpPr>
            <p:cNvPr id="13" name="verdict stat 3"/>
            <p:cNvSpPr/>
            <p:nvPr/>
          </p:nvSpPr>
          <p:spPr>
            <a:xfrm>
              <a:off x="8983980" y="1371600"/>
              <a:ext cx="2628900" cy="2468880"/>
            </a:xfrm>
            <a:prstGeom prst="roundRect">
              <a:avLst>
                <a:gd name="adj" fmla="val 4444"/>
              </a:avLst>
            </a:prstGeom>
            <a:solidFill>
              <a:schemeClr val="bg2"/>
            </a:solidFill>
            <a:ln w="12700">
              <a:solidFill>
                <a:schemeClr val="bg2"/>
              </a:solidFill>
              <a:prstDash val="solid"/>
            </a:ln>
            <a:effectLst>
              <a:outerShdw blurRad="101600" dist="25400" dir="5400000" algn="bl" rotWithShape="0">
                <a:srgbClr val="0F1B33">
                  <a:alpha val="12000"/>
                </a:srgbClr>
              </a:outerShdw>
            </a:effectLst>
          </p:spPr>
        </p:sp>
        <p:sp>
          <p:nvSpPr>
            <p:cNvPr id="14" name="Text 11"/>
            <p:cNvSpPr txBox="1"/>
            <p:nvPr/>
          </p:nvSpPr>
          <p:spPr>
            <a:xfrm>
              <a:off x="9212580" y="1600200"/>
              <a:ext cx="2194560" cy="731520"/>
            </a:xfrm>
            <a:prstGeom prst="rect">
              <a:avLst/>
            </a:prstGeom>
            <a:noFill/>
            <a:ln/>
          </p:spPr>
          <p:txBody>
            <a:bodyPr wrap="square" lIns="0" tIns="0" rIns="0" bIns="0" rtlCol="0" anchor="t"/>
            <a:lstStyle/>
            <a:p>
              <a:pPr marL="0" indent="0">
                <a:buNone/>
              </a:pPr>
              <a:r>
                <a:rPr lang="en-US" sz="3400" b="1" dirty="0">
                  <a:solidFill>
                    <a:schemeClr val="accent3"/>
                  </a:solidFill>
                  <a:latin typeface="Cambria" pitchFamily="34" charset="0"/>
                  <a:ea typeface="Cambria" pitchFamily="34" charset="-122"/>
                  <a:cs typeface="Cambria" pitchFamily="34" charset="-120"/>
                </a:rPr>
                <a:t>4 / 4</a:t>
              </a:r>
              <a:endParaRPr lang="en-US" sz="3400" dirty="0"/>
            </a:p>
          </p:txBody>
        </p:sp>
        <p:sp>
          <p:nvSpPr>
            <p:cNvPr id="15" name="Text 12"/>
            <p:cNvSpPr txBox="1"/>
            <p:nvPr/>
          </p:nvSpPr>
          <p:spPr>
            <a:xfrm>
              <a:off x="9212580" y="2468880"/>
              <a:ext cx="2194560" cy="1280160"/>
            </a:xfrm>
            <a:prstGeom prst="rect">
              <a:avLst/>
            </a:prstGeom>
            <a:noFill/>
            <a:ln/>
          </p:spPr>
          <p:txBody>
            <a:bodyPr wrap="square" lIns="0" tIns="0" rIns="0" bIns="0" rtlCol="0" anchor="t"/>
            <a:lstStyle/>
            <a:p>
              <a:pPr marL="0" indent="0">
                <a:buNone/>
              </a:pPr>
              <a:r>
                <a:rPr lang="en-US" sz="1400" dirty="0">
                  <a:solidFill>
                    <a:schemeClr val="tx1"/>
                  </a:solidFill>
                </a:rPr>
                <a:t>models with a healthy gradient chain to the angular heads: not a bug</a:t>
              </a:r>
              <a:endParaRPr lang="en-US" sz="1400" dirty="0"/>
            </a:p>
          </p:txBody>
        </p:sp>
      </p:grpSp>
      <p:grpSp>
        <p:nvGrpSpPr>
          <p:cNvPr id="23" name="Group 22">
            <a:extLst>
              <a:ext uri="{FF2B5EF4-FFF2-40B4-BE49-F238E27FC236}">
                <a16:creationId xmlns:a16="http://schemas.microsoft.com/office/drawing/2014/main" id="{84256E82-C451-9431-1616-EFF9211C9398}"/>
              </a:ext>
            </a:extLst>
          </p:cNvPr>
          <p:cNvGrpSpPr/>
          <p:nvPr/>
        </p:nvGrpSpPr>
        <p:grpSpPr>
          <a:xfrm>
            <a:off x="548640" y="4114800"/>
            <a:ext cx="11064240" cy="2057400"/>
            <a:chOff x="548640" y="4114800"/>
            <a:chExt cx="11064240" cy="2057400"/>
          </a:xfrm>
        </p:grpSpPr>
        <p:sp>
          <p:nvSpPr>
            <p:cNvPr id="16" name="bottom line"/>
            <p:cNvSpPr/>
            <p:nvPr/>
          </p:nvSpPr>
          <p:spPr>
            <a:xfrm>
              <a:off x="548640" y="4114800"/>
              <a:ext cx="11064240" cy="2057400"/>
            </a:xfrm>
            <a:prstGeom prst="roundRect">
              <a:avLst>
                <a:gd name="adj" fmla="val 5333"/>
              </a:avLst>
            </a:prstGeom>
            <a:solidFill>
              <a:schemeClr val="tx2"/>
            </a:solidFill>
            <a:ln w="12700">
              <a:solidFill>
                <a:schemeClr val="tx2"/>
              </a:solidFill>
              <a:prstDash val="solid"/>
            </a:ln>
            <a:effectLst>
              <a:outerShdw blurRad="101600" dist="25400" dir="5400000" algn="bl" rotWithShape="0">
                <a:srgbClr val="0F1B33">
                  <a:alpha val="12000"/>
                </a:srgbClr>
              </a:outerShdw>
            </a:effectLst>
          </p:spPr>
        </p:sp>
        <p:sp>
          <p:nvSpPr>
            <p:cNvPr id="17" name="Text 14"/>
            <p:cNvSpPr txBox="1"/>
            <p:nvPr/>
          </p:nvSpPr>
          <p:spPr>
            <a:xfrm>
              <a:off x="914400" y="4297680"/>
              <a:ext cx="3657600" cy="320040"/>
            </a:xfrm>
            <a:prstGeom prst="rect">
              <a:avLst/>
            </a:prstGeom>
            <a:noFill/>
            <a:ln/>
          </p:spPr>
          <p:txBody>
            <a:bodyPr wrap="square" lIns="0" tIns="0" rIns="0" bIns="0" rtlCol="0" anchor="t"/>
            <a:lstStyle/>
            <a:p>
              <a:pPr marL="0" indent="0">
                <a:buNone/>
              </a:pPr>
              <a:r>
                <a:rPr lang="en-US" sz="1400" b="1" dirty="0">
                  <a:solidFill>
                    <a:schemeClr val="accent1"/>
                  </a:solidFill>
                </a:rPr>
                <a:t>BOTTOM LINE</a:t>
              </a:r>
              <a:endParaRPr lang="en-US" sz="1400" dirty="0"/>
            </a:p>
          </p:txBody>
        </p:sp>
        <p:sp>
          <p:nvSpPr>
            <p:cNvPr id="18" name="Text 15"/>
            <p:cNvSpPr txBox="1"/>
            <p:nvPr/>
          </p:nvSpPr>
          <p:spPr>
            <a:xfrm>
              <a:off x="914400" y="4663440"/>
              <a:ext cx="10332720" cy="731520"/>
            </a:xfrm>
            <a:prstGeom prst="rect">
              <a:avLst/>
            </a:prstGeom>
            <a:noFill/>
            <a:ln/>
          </p:spPr>
          <p:txBody>
            <a:bodyPr wrap="square" lIns="0" tIns="0" rIns="0" bIns="0" rtlCol="0" anchor="t"/>
            <a:lstStyle/>
            <a:p>
              <a:pPr marL="0" indent="0">
                <a:buNone/>
              </a:pPr>
              <a:r>
                <a:rPr lang="en-US" sz="2000" b="1" dirty="0">
                  <a:solidFill>
                    <a:schemeClr val="bg1"/>
                  </a:solidFill>
                  <a:latin typeface="Cambria" pitchFamily="34" charset="0"/>
                  <a:ea typeface="Cambria" pitchFamily="34" charset="-122"/>
                  <a:cs typeface="Cambria" pitchFamily="34" charset="-120"/>
                </a:rPr>
                <a:t>On this architecture set, </a:t>
              </a:r>
              <a:r>
                <a:rPr lang="en-US" sz="2000" b="1" i="1" dirty="0">
                  <a:solidFill>
                    <a:schemeClr val="bg1"/>
                  </a:solidFill>
                  <a:latin typeface="Cambria" pitchFamily="34" charset="0"/>
                  <a:ea typeface="Cambria" pitchFamily="34" charset="-122"/>
                  <a:cs typeface="Cambria" pitchFamily="34" charset="-120"/>
                </a:rPr>
                <a:t>φ</a:t>
              </a:r>
              <a:r>
                <a:rPr lang="en-US" sz="2000" b="1" baseline="-25000" dirty="0">
                  <a:solidFill>
                    <a:schemeClr val="bg1"/>
                  </a:solidFill>
                  <a:latin typeface="Cambria" pitchFamily="34" charset="0"/>
                  <a:ea typeface="Cambria" pitchFamily="34" charset="-122"/>
                  <a:cs typeface="Cambria" pitchFamily="34" charset="-120"/>
                </a:rPr>
                <a:t>c</a:t>
              </a:r>
              <a:r>
                <a:rPr lang="en-US" sz="2000" b="1" dirty="0">
                  <a:solidFill>
                    <a:schemeClr val="bg1"/>
                  </a:solidFill>
                  <a:latin typeface="Cambria" pitchFamily="34" charset="0"/>
                  <a:ea typeface="Cambria" pitchFamily="34" charset="-122"/>
                  <a:cs typeface="Cambria" pitchFamily="34" charset="-120"/>
                </a:rPr>
                <a:t> and </a:t>
              </a:r>
              <a:r>
                <a:rPr lang="en-US" sz="2000" b="1" i="1" dirty="0">
                  <a:solidFill>
                    <a:schemeClr val="bg1"/>
                  </a:solidFill>
                  <a:latin typeface="Cambria" pitchFamily="34" charset="0"/>
                  <a:ea typeface="Cambria" pitchFamily="34" charset="-122"/>
                  <a:cs typeface="Cambria" pitchFamily="34" charset="-120"/>
                </a:rPr>
                <a:t>ψ</a:t>
              </a:r>
              <a:r>
                <a:rPr lang="en-US" sz="2000" b="1" dirty="0">
                  <a:solidFill>
                    <a:schemeClr val="bg1"/>
                  </a:solidFill>
                  <a:latin typeface="Cambria" pitchFamily="34" charset="0"/>
                  <a:ea typeface="Cambria" pitchFamily="34" charset="-122"/>
                  <a:cs typeface="Cambria" pitchFamily="34" charset="-120"/>
                </a:rPr>
                <a:t> are not recoverable from strain by a regression network, individually or through 2</a:t>
              </a:r>
              <a:r>
                <a:rPr lang="en-US" sz="2000" b="1" i="1" dirty="0">
                  <a:solidFill>
                    <a:schemeClr val="bg1"/>
                  </a:solidFill>
                  <a:latin typeface="Cambria" pitchFamily="34" charset="0"/>
                  <a:ea typeface="Cambria" pitchFamily="34" charset="-122"/>
                  <a:cs typeface="Cambria" pitchFamily="34" charset="-120"/>
                </a:rPr>
                <a:t>φ</a:t>
              </a:r>
              <a:r>
                <a:rPr lang="en-US" sz="2000" b="1" baseline="-25000" dirty="0">
                  <a:solidFill>
                    <a:schemeClr val="bg1"/>
                  </a:solidFill>
                  <a:latin typeface="Cambria" pitchFamily="34" charset="0"/>
                  <a:ea typeface="Cambria" pitchFamily="34" charset="-122"/>
                  <a:cs typeface="Cambria" pitchFamily="34" charset="-120"/>
                </a:rPr>
                <a:t>c</a:t>
              </a:r>
              <a:r>
                <a:rPr lang="en-US" sz="2000" b="1" dirty="0">
                  <a:solidFill>
                    <a:schemeClr val="bg1"/>
                  </a:solidFill>
                  <a:latin typeface="Cambria" pitchFamily="34" charset="0"/>
                  <a:ea typeface="Cambria" pitchFamily="34" charset="-122"/>
                  <a:cs typeface="Cambria" pitchFamily="34" charset="-120"/>
                </a:rPr>
                <a:t> ± 2</a:t>
              </a:r>
              <a:r>
                <a:rPr lang="en-US" sz="2000" b="1" i="1" dirty="0">
                  <a:solidFill>
                    <a:schemeClr val="bg1"/>
                  </a:solidFill>
                  <a:latin typeface="Cambria" pitchFamily="34" charset="0"/>
                  <a:ea typeface="Cambria" pitchFamily="34" charset="-122"/>
                  <a:cs typeface="Cambria" pitchFamily="34" charset="-120"/>
                </a:rPr>
                <a:t>ψ</a:t>
              </a:r>
              <a:r>
                <a:rPr lang="en-US" sz="2000" b="1" dirty="0">
                  <a:solidFill>
                    <a:schemeClr val="bg1"/>
                  </a:solidFill>
                  <a:latin typeface="Cambria" pitchFamily="34" charset="0"/>
                  <a:ea typeface="Cambria" pitchFamily="34" charset="-122"/>
                  <a:cs typeface="Cambria" pitchFamily="34" charset="-120"/>
                </a:rPr>
                <a:t>.</a:t>
              </a:r>
              <a:endParaRPr lang="en-US" sz="2000" dirty="0"/>
            </a:p>
          </p:txBody>
        </p:sp>
        <p:sp>
          <p:nvSpPr>
            <p:cNvPr id="19" name="Text 16"/>
            <p:cNvSpPr txBox="1"/>
            <p:nvPr/>
          </p:nvSpPr>
          <p:spPr>
            <a:xfrm>
              <a:off x="914400" y="5440680"/>
              <a:ext cx="10332720" cy="640080"/>
            </a:xfrm>
            <a:prstGeom prst="rect">
              <a:avLst/>
            </a:prstGeom>
            <a:noFill/>
            <a:ln/>
          </p:spPr>
          <p:txBody>
            <a:bodyPr wrap="square" lIns="0" tIns="0" rIns="0" bIns="0" rtlCol="0" anchor="t"/>
            <a:lstStyle/>
            <a:p>
              <a:pPr marL="0" indent="0">
                <a:buNone/>
              </a:pPr>
              <a:r>
                <a:rPr lang="en-US" sz="1400" dirty="0">
                  <a:solidFill>
                    <a:schemeClr val="bg2"/>
                  </a:solidFill>
                </a:rPr>
                <a:t>A well-evidenced null, not an implementation artifact: the gradient chain is healthy end to end. It rests on four checks assembled after the gated route failed, so it carries less confirmatory weight than a pre-registered test.</a:t>
              </a:r>
              <a:endParaRPr lang="en-US" sz="1400" dirty="0"/>
            </a:p>
          </p:txBody>
        </p:sp>
      </p:gr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100">
                <a:solidFill>
                  <a:srgbClr val="55627A"/>
                </a:solidFill>
              </a:defRPr>
            </a:lvl1pPr>
          </a:lstStyle>
          <a:p>
            <a:pPr algn="r"/>
            <a:fld id="{F7021451-1387-4CA6-816F-3879F97B5CBC}" type="slidenum">
              <a:rPr lang="en-US" b="0"/>
              <a:t>13</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cBhvr additive="base">
                                        <p:cTn id="7" dur="500" fill="hold"/>
                                        <p:tgtEl>
                                          <p:spTgt spid="2"/>
                                        </p:tgtEl>
                                        <p:attrNameLst>
                                          <p:attrName>ppt_x</p:attrName>
                                        </p:attrNameLst>
                                      </p:cBhvr>
                                      <p:tavLst>
                                        <p:tav tm="0">
                                          <p:val>
                                            <p:strVal val="#ppt_x"/>
                                          </p:val>
                                        </p:tav>
                                        <p:tav tm="100000">
                                          <p:val>
                                            <p:strVal val="#ppt_x"/>
                                          </p:val>
                                        </p:tav>
                                      </p:tavLst>
                                    </p:anim>
                                    <p:anim calcmode="lin" valueType="num">
                                      <p:cBhvr additive="base">
                                        <p:cTn id="8" dur="500" fill="hold"/>
                                        <p:tgtEl>
                                          <p:spTgt spid="2"/>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nodeType="clickEffect">
                                  <p:stCondLst>
                                    <p:cond delay="0"/>
                                  </p:stCondLst>
                                  <p:childTnLst>
                                    <p:set>
                                      <p:cBhvr>
                                        <p:cTn id="12" dur="1" fill="hold">
                                          <p:stCondLst>
                                            <p:cond delay="0"/>
                                          </p:stCondLst>
                                        </p:cTn>
                                        <p:tgtEl>
                                          <p:spTgt spid="20"/>
                                        </p:tgtEl>
                                        <p:attrNameLst>
                                          <p:attrName>style.visibility</p:attrName>
                                        </p:attrNameLst>
                                      </p:cBhvr>
                                      <p:to>
                                        <p:strVal val="visible"/>
                                      </p:to>
                                    </p:set>
                                    <p:anim calcmode="lin" valueType="num">
                                      <p:cBhvr additive="base">
                                        <p:cTn id="13" dur="500" fill="hold"/>
                                        <p:tgtEl>
                                          <p:spTgt spid="20"/>
                                        </p:tgtEl>
                                        <p:attrNameLst>
                                          <p:attrName>ppt_x</p:attrName>
                                        </p:attrNameLst>
                                      </p:cBhvr>
                                      <p:tavLst>
                                        <p:tav tm="0">
                                          <p:val>
                                            <p:strVal val="#ppt_x"/>
                                          </p:val>
                                        </p:tav>
                                        <p:tav tm="100000">
                                          <p:val>
                                            <p:strVal val="#ppt_x"/>
                                          </p:val>
                                        </p:tav>
                                      </p:tavLst>
                                    </p:anim>
                                    <p:anim calcmode="lin" valueType="num">
                                      <p:cBhvr additive="base">
                                        <p:cTn id="14" dur="500" fill="hold"/>
                                        <p:tgtEl>
                                          <p:spTgt spid="20"/>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nodeType="clickEffect">
                                  <p:stCondLst>
                                    <p:cond delay="0"/>
                                  </p:stCondLst>
                                  <p:childTnLst>
                                    <p:set>
                                      <p:cBhvr>
                                        <p:cTn id="18" dur="1" fill="hold">
                                          <p:stCondLst>
                                            <p:cond delay="0"/>
                                          </p:stCondLst>
                                        </p:cTn>
                                        <p:tgtEl>
                                          <p:spTgt spid="21"/>
                                        </p:tgtEl>
                                        <p:attrNameLst>
                                          <p:attrName>style.visibility</p:attrName>
                                        </p:attrNameLst>
                                      </p:cBhvr>
                                      <p:to>
                                        <p:strVal val="visible"/>
                                      </p:to>
                                    </p:set>
                                    <p:anim calcmode="lin" valueType="num">
                                      <p:cBhvr additive="base">
                                        <p:cTn id="19" dur="500" fill="hold"/>
                                        <p:tgtEl>
                                          <p:spTgt spid="21"/>
                                        </p:tgtEl>
                                        <p:attrNameLst>
                                          <p:attrName>ppt_x</p:attrName>
                                        </p:attrNameLst>
                                      </p:cBhvr>
                                      <p:tavLst>
                                        <p:tav tm="0">
                                          <p:val>
                                            <p:strVal val="#ppt_x"/>
                                          </p:val>
                                        </p:tav>
                                        <p:tav tm="100000">
                                          <p:val>
                                            <p:strVal val="#ppt_x"/>
                                          </p:val>
                                        </p:tav>
                                      </p:tavLst>
                                    </p:anim>
                                    <p:anim calcmode="lin" valueType="num">
                                      <p:cBhvr additive="base">
                                        <p:cTn id="20" dur="500" fill="hold"/>
                                        <p:tgtEl>
                                          <p:spTgt spid="21"/>
                                        </p:tgtEl>
                                        <p:attrNameLst>
                                          <p:attrName>ppt_y</p:attrName>
                                        </p:attrNameLst>
                                      </p:cBhvr>
                                      <p:tavLst>
                                        <p:tav tm="0">
                                          <p:val>
                                            <p:strVal val="1+#ppt_h/2"/>
                                          </p:val>
                                        </p:tav>
                                        <p:tav tm="100000">
                                          <p:val>
                                            <p:strVal val="#ppt_y"/>
                                          </p:val>
                                        </p:tav>
                                      </p:tavLst>
                                    </p:anim>
                                  </p:childTnLst>
                                </p:cTn>
                              </p:par>
                            </p:childTnLst>
                          </p:cTn>
                        </p:par>
                      </p:childTnLst>
                    </p:cTn>
                  </p:par>
                  <p:par>
                    <p:cTn id="21" fill="hold">
                      <p:stCondLst>
                        <p:cond delay="indefinite"/>
                      </p:stCondLst>
                      <p:childTnLst>
                        <p:par>
                          <p:cTn id="22" fill="hold">
                            <p:stCondLst>
                              <p:cond delay="0"/>
                            </p:stCondLst>
                            <p:childTnLst>
                              <p:par>
                                <p:cTn id="23" presetID="2" presetClass="entr" presetSubtype="4" fill="hold" nodeType="clickEffect">
                                  <p:stCondLst>
                                    <p:cond delay="0"/>
                                  </p:stCondLst>
                                  <p:childTnLst>
                                    <p:set>
                                      <p:cBhvr>
                                        <p:cTn id="24" dur="1" fill="hold">
                                          <p:stCondLst>
                                            <p:cond delay="0"/>
                                          </p:stCondLst>
                                        </p:cTn>
                                        <p:tgtEl>
                                          <p:spTgt spid="22"/>
                                        </p:tgtEl>
                                        <p:attrNameLst>
                                          <p:attrName>style.visibility</p:attrName>
                                        </p:attrNameLst>
                                      </p:cBhvr>
                                      <p:to>
                                        <p:strVal val="visible"/>
                                      </p:to>
                                    </p:set>
                                    <p:anim calcmode="lin" valueType="num">
                                      <p:cBhvr additive="base">
                                        <p:cTn id="25" dur="500" fill="hold"/>
                                        <p:tgtEl>
                                          <p:spTgt spid="22"/>
                                        </p:tgtEl>
                                        <p:attrNameLst>
                                          <p:attrName>ppt_x</p:attrName>
                                        </p:attrNameLst>
                                      </p:cBhvr>
                                      <p:tavLst>
                                        <p:tav tm="0">
                                          <p:val>
                                            <p:strVal val="#ppt_x"/>
                                          </p:val>
                                        </p:tav>
                                        <p:tav tm="100000">
                                          <p:val>
                                            <p:strVal val="#ppt_x"/>
                                          </p:val>
                                        </p:tav>
                                      </p:tavLst>
                                    </p:anim>
                                    <p:anim calcmode="lin" valueType="num">
                                      <p:cBhvr additive="base">
                                        <p:cTn id="26" dur="500" fill="hold"/>
                                        <p:tgtEl>
                                          <p:spTgt spid="22"/>
                                        </p:tgtEl>
                                        <p:attrNameLst>
                                          <p:attrName>ppt_y</p:attrName>
                                        </p:attrNameLst>
                                      </p:cBhvr>
                                      <p:tavLst>
                                        <p:tav tm="0">
                                          <p:val>
                                            <p:strVal val="1+#ppt_h/2"/>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9" presetID="2" presetClass="entr" presetSubtype="4" fill="hold" nodeType="clickEffect">
                                  <p:stCondLst>
                                    <p:cond delay="0"/>
                                  </p:stCondLst>
                                  <p:childTnLst>
                                    <p:set>
                                      <p:cBhvr>
                                        <p:cTn id="30" dur="1" fill="hold">
                                          <p:stCondLst>
                                            <p:cond delay="0"/>
                                          </p:stCondLst>
                                        </p:cTn>
                                        <p:tgtEl>
                                          <p:spTgt spid="23"/>
                                        </p:tgtEl>
                                        <p:attrNameLst>
                                          <p:attrName>style.visibility</p:attrName>
                                        </p:attrNameLst>
                                      </p:cBhvr>
                                      <p:to>
                                        <p:strVal val="visible"/>
                                      </p:to>
                                    </p:set>
                                    <p:anim calcmode="lin" valueType="num">
                                      <p:cBhvr additive="base">
                                        <p:cTn id="31" dur="500" fill="hold"/>
                                        <p:tgtEl>
                                          <p:spTgt spid="23"/>
                                        </p:tgtEl>
                                        <p:attrNameLst>
                                          <p:attrName>ppt_x</p:attrName>
                                        </p:attrNameLst>
                                      </p:cBhvr>
                                      <p:tavLst>
                                        <p:tav tm="0">
                                          <p:val>
                                            <p:strVal val="#ppt_x"/>
                                          </p:val>
                                        </p:tav>
                                        <p:tav tm="100000">
                                          <p:val>
                                            <p:strVal val="#ppt_x"/>
                                          </p:val>
                                        </p:tav>
                                      </p:tavLst>
                                    </p:anim>
                                    <p:anim calcmode="lin" valueType="num">
                                      <p:cBhvr additive="base">
                                        <p:cTn id="32" dur="500" fill="hold"/>
                                        <p:tgtEl>
                                          <p:spTgt spid="23"/>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ext 0"/>
          <p:cNvSpPr>
            <a:spLocks noGrp="1"/>
          </p:cNvSpPr>
          <p:nvPr>
            <p:ph type="title" idx="100" hasCustomPrompt="1"/>
          </p:nvPr>
        </p:nvSpPr>
        <p:spPr>
          <a:xfrm>
            <a:off x="548640" y="365760"/>
            <a:ext cx="11064240" cy="777240"/>
          </a:xfrm>
          <a:prstGeom prst="rect">
            <a:avLst/>
          </a:prstGeom>
          <a:noFill/>
          <a:ln/>
        </p:spPr>
        <p:txBody>
          <a:bodyPr wrap="square" lIns="0" tIns="0" rIns="0" bIns="0" rtlCol="0" anchor="t"/>
          <a:lstStyle/>
          <a:p>
            <a:pPr marL="0" indent="0" algn="l">
              <a:buNone/>
            </a:pPr>
            <a:r>
              <a:rPr lang="en-US" sz="3600" b="1" dirty="0">
                <a:solidFill>
                  <a:schemeClr val="tx1"/>
                </a:solidFill>
              </a:rPr>
              <a:t>Bonus: sky localization is real</a:t>
            </a:r>
            <a:endParaRPr lang="en-US" sz="3600" dirty="0"/>
          </a:p>
        </p:txBody>
      </p:sp>
      <p:graphicFrame>
        <p:nvGraphicFramePr>
          <p:cNvPr id="4" name="Chart 0"/>
          <p:cNvGraphicFramePr/>
          <p:nvPr/>
        </p:nvGraphicFramePr>
        <p:xfrm>
          <a:off x="548640" y="1280160"/>
          <a:ext cx="6766560" cy="4754880"/>
        </p:xfrm>
        <a:graphic>
          <a:graphicData uri="http://schemas.openxmlformats.org/drawingml/2006/chart">
            <c:chart xmlns:c="http://schemas.openxmlformats.org/drawingml/2006/chart" xmlns:r="http://schemas.openxmlformats.org/officeDocument/2006/relationships" r:id="rId3"/>
          </a:graphicData>
        </a:graphic>
      </p:graphicFrame>
      <p:grpSp>
        <p:nvGrpSpPr>
          <p:cNvPr id="2" name="Group 1">
            <a:extLst>
              <a:ext uri="{FF2B5EF4-FFF2-40B4-BE49-F238E27FC236}">
                <a16:creationId xmlns:a16="http://schemas.microsoft.com/office/drawing/2014/main" id="{B1C796A2-9C6B-CF1D-5922-F0BC63DACC27}"/>
              </a:ext>
            </a:extLst>
          </p:cNvPr>
          <p:cNvGrpSpPr/>
          <p:nvPr/>
        </p:nvGrpSpPr>
        <p:grpSpPr>
          <a:xfrm>
            <a:off x="7680960" y="1280160"/>
            <a:ext cx="3931920" cy="1691640"/>
            <a:chOff x="7680960" y="1280160"/>
            <a:chExt cx="3931920" cy="1691640"/>
          </a:xfrm>
        </p:grpSpPr>
        <p:sp>
          <p:nvSpPr>
            <p:cNvPr id="5" name="Text 1"/>
            <p:cNvSpPr txBox="1"/>
            <p:nvPr/>
          </p:nvSpPr>
          <p:spPr>
            <a:xfrm>
              <a:off x="7680960" y="1280160"/>
              <a:ext cx="3931920" cy="822960"/>
            </a:xfrm>
            <a:prstGeom prst="rect">
              <a:avLst/>
            </a:prstGeom>
            <a:noFill/>
            <a:ln/>
          </p:spPr>
          <p:txBody>
            <a:bodyPr wrap="square" lIns="0" tIns="0" rIns="0" bIns="0" rtlCol="0" anchor="t"/>
            <a:lstStyle/>
            <a:p>
              <a:pPr marL="0" indent="0">
                <a:buNone/>
              </a:pPr>
              <a:r>
                <a:rPr lang="en-US" sz="4600" b="1" dirty="0">
                  <a:solidFill>
                    <a:schemeClr val="accent2"/>
                  </a:solidFill>
                  <a:latin typeface="Cambria" pitchFamily="34" charset="0"/>
                  <a:ea typeface="Cambria" pitchFamily="34" charset="-122"/>
                  <a:cs typeface="Cambria" pitchFamily="34" charset="-120"/>
                </a:rPr>
                <a:t>+12.6°</a:t>
              </a:r>
              <a:endParaRPr lang="en-US" sz="4600" dirty="0"/>
            </a:p>
          </p:txBody>
        </p:sp>
        <p:sp>
          <p:nvSpPr>
            <p:cNvPr id="6" name="Text 2"/>
            <p:cNvSpPr txBox="1"/>
            <p:nvPr/>
          </p:nvSpPr>
          <p:spPr>
            <a:xfrm>
              <a:off x="7680960" y="2148840"/>
              <a:ext cx="3931920" cy="822960"/>
            </a:xfrm>
            <a:prstGeom prst="rect">
              <a:avLst/>
            </a:prstGeom>
            <a:noFill/>
            <a:ln/>
          </p:spPr>
          <p:txBody>
            <a:bodyPr wrap="square" lIns="0" tIns="0" rIns="0" bIns="0" rtlCol="0" anchor="t"/>
            <a:lstStyle/>
            <a:p>
              <a:pPr marL="0" indent="0">
                <a:buNone/>
              </a:pPr>
              <a:r>
                <a:rPr lang="en-US" sz="1400" dirty="0">
                  <a:solidFill>
                    <a:schemeClr val="tx1"/>
                  </a:solidFill>
                </a:rPr>
                <a:t>better than the shuffled null (</a:t>
              </a:r>
              <a:r>
                <a:rPr lang="en-US" sz="1400" i="1" dirty="0">
                  <a:solidFill>
                    <a:schemeClr val="tx1"/>
                  </a:solidFill>
                </a:rPr>
                <a:t>z</a:t>
              </a:r>
              <a:r>
                <a:rPr lang="en-US" sz="1400" dirty="0">
                  <a:solidFill>
                    <a:schemeClr val="tx1"/>
                  </a:solidFill>
                </a:rPr>
                <a:t> = +23.2σ); clears the 0.10 rad floor</a:t>
              </a:r>
              <a:endParaRPr lang="en-US" sz="1400" dirty="0"/>
            </a:p>
          </p:txBody>
        </p:sp>
      </p:grpSp>
      <p:grpSp>
        <p:nvGrpSpPr>
          <p:cNvPr id="9" name="Group 8">
            <a:extLst>
              <a:ext uri="{FF2B5EF4-FFF2-40B4-BE49-F238E27FC236}">
                <a16:creationId xmlns:a16="http://schemas.microsoft.com/office/drawing/2014/main" id="{B997F22B-F17D-A02D-53F4-2C158338B033}"/>
              </a:ext>
            </a:extLst>
          </p:cNvPr>
          <p:cNvGrpSpPr/>
          <p:nvPr/>
        </p:nvGrpSpPr>
        <p:grpSpPr>
          <a:xfrm>
            <a:off x="7711440" y="3205832"/>
            <a:ext cx="3931920" cy="3017520"/>
            <a:chOff x="7711440" y="3205832"/>
            <a:chExt cx="3931920" cy="3017520"/>
          </a:xfrm>
        </p:grpSpPr>
        <p:sp>
          <p:nvSpPr>
            <p:cNvPr id="7" name="sky notes"/>
            <p:cNvSpPr/>
            <p:nvPr/>
          </p:nvSpPr>
          <p:spPr>
            <a:xfrm>
              <a:off x="7711440" y="3205832"/>
              <a:ext cx="3931920" cy="3017520"/>
            </a:xfrm>
            <a:prstGeom prst="roundRect">
              <a:avLst>
                <a:gd name="adj" fmla="val 3636"/>
              </a:avLst>
            </a:prstGeom>
            <a:solidFill>
              <a:schemeClr val="bg2"/>
            </a:solidFill>
            <a:ln w="12700">
              <a:solidFill>
                <a:schemeClr val="bg2"/>
              </a:solidFill>
              <a:prstDash val="solid"/>
            </a:ln>
            <a:effectLst>
              <a:outerShdw blurRad="101600" dist="25400" dir="5400000" algn="bl" rotWithShape="0">
                <a:srgbClr val="0F1B33">
                  <a:alpha val="12000"/>
                </a:srgbClr>
              </a:outerShdw>
            </a:effectLst>
          </p:spPr>
        </p:sp>
        <p:sp>
          <p:nvSpPr>
            <p:cNvPr id="8" name="Text 4"/>
            <p:cNvSpPr txBox="1"/>
            <p:nvPr/>
          </p:nvSpPr>
          <p:spPr>
            <a:xfrm>
              <a:off x="7955280" y="3337560"/>
              <a:ext cx="3383280" cy="274320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chemeClr val="tx1"/>
                  </a:solidFill>
                </a:rPr>
                <a:t>Error falls monotonically with SNR, the signature of a real strain-to-direction mapping, not a memorization shortcut</a:t>
              </a:r>
              <a:endParaRPr lang="en-US" sz="1400" dirty="0"/>
            </a:p>
            <a:p>
              <a:pPr marL="342900" indent="-342900">
                <a:spcAft>
                  <a:spcPts val="800"/>
                </a:spcAft>
                <a:buSzPct val="100000"/>
                <a:buChar char="•"/>
              </a:pPr>
              <a:r>
                <a:rPr lang="en-US" sz="1400" dirty="0">
                  <a:solidFill>
                    <a:schemeClr val="tx1"/>
                  </a:solidFill>
                </a:rPr>
                <a:t>Always guessing the mean direction scores only about 89.4°</a:t>
              </a:r>
              <a:endParaRPr lang="en-US" sz="1400" dirty="0"/>
            </a:p>
            <a:p>
              <a:pPr marL="342900" indent="-342900">
                <a:spcAft>
                  <a:spcPts val="800"/>
                </a:spcAft>
                <a:buSzPct val="100000"/>
                <a:buChar char="•"/>
              </a:pPr>
              <a:r>
                <a:rPr lang="en-US" sz="1400" dirty="0">
                  <a:solidFill>
                    <a:schemeClr val="tx1"/>
                  </a:solidFill>
                </a:rPr>
                <a:t>Inferred, untested: cross-detector H1/L1 amplitude ratio via antenna pattern</a:t>
              </a:r>
              <a:endParaRPr lang="en-US" sz="1400" dirty="0"/>
            </a:p>
          </p:txBody>
        </p:sp>
      </p:gr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100">
                <a:solidFill>
                  <a:srgbClr val="55627A"/>
                </a:solidFill>
              </a:defRPr>
            </a:lvl1pPr>
          </a:lstStyle>
          <a:p>
            <a:pPr algn="r"/>
            <a:fld id="{F7021451-1387-4CA6-816F-3879F97B5CBC}" type="slidenum">
              <a:rPr lang="en-US" b="0"/>
              <a:t>14</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additive="base">
                                        <p:cTn id="7" dur="500" fill="hold"/>
                                        <p:tgtEl>
                                          <p:spTgt spid="4"/>
                                        </p:tgtEl>
                                        <p:attrNameLst>
                                          <p:attrName>ppt_x</p:attrName>
                                        </p:attrNameLst>
                                      </p:cBhvr>
                                      <p:tavLst>
                                        <p:tav tm="0">
                                          <p:val>
                                            <p:strVal val="#ppt_x"/>
                                          </p:val>
                                        </p:tav>
                                        <p:tav tm="100000">
                                          <p:val>
                                            <p:strVal val="#ppt_x"/>
                                          </p:val>
                                        </p:tav>
                                      </p:tavLst>
                                    </p:anim>
                                    <p:anim calcmode="lin" valueType="num">
                                      <p:cBhvr additive="base">
                                        <p:cTn id="8" dur="500" fill="hold"/>
                                        <p:tgtEl>
                                          <p:spTgt spid="4"/>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nodeType="clickEffect">
                                  <p:stCondLst>
                                    <p:cond delay="0"/>
                                  </p:stCondLst>
                                  <p:childTnLst>
                                    <p:set>
                                      <p:cBhvr>
                                        <p:cTn id="12" dur="1" fill="hold">
                                          <p:stCondLst>
                                            <p:cond delay="0"/>
                                          </p:stCondLst>
                                        </p:cTn>
                                        <p:tgtEl>
                                          <p:spTgt spid="2"/>
                                        </p:tgtEl>
                                        <p:attrNameLst>
                                          <p:attrName>style.visibility</p:attrName>
                                        </p:attrNameLst>
                                      </p:cBhvr>
                                      <p:to>
                                        <p:strVal val="visible"/>
                                      </p:to>
                                    </p:set>
                                    <p:anim calcmode="lin" valueType="num">
                                      <p:cBhvr additive="base">
                                        <p:cTn id="13" dur="500" fill="hold"/>
                                        <p:tgtEl>
                                          <p:spTgt spid="2"/>
                                        </p:tgtEl>
                                        <p:attrNameLst>
                                          <p:attrName>ppt_x</p:attrName>
                                        </p:attrNameLst>
                                      </p:cBhvr>
                                      <p:tavLst>
                                        <p:tav tm="0">
                                          <p:val>
                                            <p:strVal val="#ppt_x"/>
                                          </p:val>
                                        </p:tav>
                                        <p:tav tm="100000">
                                          <p:val>
                                            <p:strVal val="#ppt_x"/>
                                          </p:val>
                                        </p:tav>
                                      </p:tavLst>
                                    </p:anim>
                                    <p:anim calcmode="lin" valueType="num">
                                      <p:cBhvr additive="base">
                                        <p:cTn id="14" dur="500" fill="hold"/>
                                        <p:tgtEl>
                                          <p:spTgt spid="2"/>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nodeType="clickEffect">
                                  <p:stCondLst>
                                    <p:cond delay="0"/>
                                  </p:stCondLst>
                                  <p:childTnLst>
                                    <p:set>
                                      <p:cBhvr>
                                        <p:cTn id="18" dur="1" fill="hold">
                                          <p:stCondLst>
                                            <p:cond delay="0"/>
                                          </p:stCondLst>
                                        </p:cTn>
                                        <p:tgtEl>
                                          <p:spTgt spid="9"/>
                                        </p:tgtEl>
                                        <p:attrNameLst>
                                          <p:attrName>style.visibility</p:attrName>
                                        </p:attrNameLst>
                                      </p:cBhvr>
                                      <p:to>
                                        <p:strVal val="visible"/>
                                      </p:to>
                                    </p:set>
                                    <p:anim calcmode="lin" valueType="num">
                                      <p:cBhvr additive="base">
                                        <p:cTn id="19" dur="500" fill="hold"/>
                                        <p:tgtEl>
                                          <p:spTgt spid="9"/>
                                        </p:tgtEl>
                                        <p:attrNameLst>
                                          <p:attrName>ppt_x</p:attrName>
                                        </p:attrNameLst>
                                      </p:cBhvr>
                                      <p:tavLst>
                                        <p:tav tm="0">
                                          <p:val>
                                            <p:strVal val="#ppt_x"/>
                                          </p:val>
                                        </p:tav>
                                        <p:tav tm="100000">
                                          <p:val>
                                            <p:strVal val="#ppt_x"/>
                                          </p:val>
                                        </p:tav>
                                      </p:tavLst>
                                    </p:anim>
                                    <p:anim calcmode="lin" valueType="num">
                                      <p:cBhvr additive="base">
                                        <p:cTn id="20" dur="500" fill="hold"/>
                                        <p:tgtEl>
                                          <p:spTgt spid="9"/>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4" grpId="0">
        <p:bldAsOne/>
      </p:bldGraphic>
    </p:bldLst>
  </p:timing>
</p:sld>
</file>

<file path=ppt/slides/slide15.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ext 0"/>
          <p:cNvSpPr>
            <a:spLocks noGrp="1"/>
          </p:cNvSpPr>
          <p:nvPr>
            <p:ph type="title" idx="100" hasCustomPrompt="1"/>
          </p:nvPr>
        </p:nvSpPr>
        <p:spPr>
          <a:xfrm>
            <a:off x="548640" y="365760"/>
            <a:ext cx="11064240" cy="777240"/>
          </a:xfrm>
          <a:prstGeom prst="rect">
            <a:avLst/>
          </a:prstGeom>
          <a:noFill/>
          <a:ln/>
        </p:spPr>
        <p:txBody>
          <a:bodyPr wrap="square" lIns="0" tIns="0" rIns="0" bIns="0" rtlCol="0" anchor="t"/>
          <a:lstStyle/>
          <a:p>
            <a:pPr marL="0" indent="0" algn="l">
              <a:buNone/>
            </a:pPr>
            <a:r>
              <a:rPr lang="en-US" sz="3600" b="1" dirty="0">
                <a:solidFill>
                  <a:schemeClr val="tx1"/>
                </a:solidFill>
              </a:rPr>
              <a:t>Inclination and memorization</a:t>
            </a:r>
            <a:endParaRPr lang="en-US" sz="3600" dirty="0"/>
          </a:p>
        </p:txBody>
      </p:sp>
      <p:grpSp>
        <p:nvGrpSpPr>
          <p:cNvPr id="2" name="Group 1">
            <a:extLst>
              <a:ext uri="{FF2B5EF4-FFF2-40B4-BE49-F238E27FC236}">
                <a16:creationId xmlns:a16="http://schemas.microsoft.com/office/drawing/2014/main" id="{B183F31E-0C3A-BA60-D491-A873DF114E41}"/>
              </a:ext>
            </a:extLst>
          </p:cNvPr>
          <p:cNvGrpSpPr/>
          <p:nvPr/>
        </p:nvGrpSpPr>
        <p:grpSpPr>
          <a:xfrm>
            <a:off x="548640" y="1371600"/>
            <a:ext cx="5394960" cy="4800600"/>
            <a:chOff x="548640" y="1371600"/>
            <a:chExt cx="5394960" cy="4800600"/>
          </a:xfrm>
        </p:grpSpPr>
        <p:sp>
          <p:nvSpPr>
            <p:cNvPr id="4" name="inclination card"/>
            <p:cNvSpPr/>
            <p:nvPr/>
          </p:nvSpPr>
          <p:spPr>
            <a:xfrm>
              <a:off x="548640" y="1371600"/>
              <a:ext cx="5394960" cy="4800600"/>
            </a:xfrm>
            <a:prstGeom prst="roundRect">
              <a:avLst>
                <a:gd name="adj" fmla="val 2286"/>
              </a:avLst>
            </a:prstGeom>
            <a:solidFill>
              <a:schemeClr val="bg2"/>
            </a:solidFill>
            <a:ln w="12700">
              <a:solidFill>
                <a:schemeClr val="bg2"/>
              </a:solidFill>
              <a:prstDash val="solid"/>
            </a:ln>
            <a:effectLst>
              <a:outerShdw blurRad="101600" dist="25400" dir="5400000" algn="bl" rotWithShape="0">
                <a:srgbClr val="0F1B33">
                  <a:alpha val="12000"/>
                </a:srgbClr>
              </a:outerShdw>
            </a:effectLst>
          </p:spPr>
        </p:sp>
        <p:sp>
          <p:nvSpPr>
            <p:cNvPr id="5" name="Text 2"/>
            <p:cNvSpPr txBox="1"/>
            <p:nvPr/>
          </p:nvSpPr>
          <p:spPr>
            <a:xfrm>
              <a:off x="822960" y="1600200"/>
              <a:ext cx="4846320" cy="365760"/>
            </a:xfrm>
            <a:prstGeom prst="rect">
              <a:avLst/>
            </a:prstGeom>
            <a:noFill/>
            <a:ln/>
          </p:spPr>
          <p:txBody>
            <a:bodyPr wrap="square" lIns="0" tIns="0" rIns="0" bIns="0" rtlCol="0" anchor="t"/>
            <a:lstStyle/>
            <a:p>
              <a:pPr marL="0" indent="0">
                <a:buNone/>
              </a:pPr>
              <a:r>
                <a:rPr lang="en-US" sz="1400" b="1" dirty="0">
                  <a:solidFill>
                    <a:schemeClr val="accent5"/>
                  </a:solidFill>
                </a:rPr>
                <a:t>INCLINATION IS NOT A CLEAN NOISE FLOOR</a:t>
              </a:r>
              <a:endParaRPr lang="en-US" sz="1400" dirty="0"/>
            </a:p>
          </p:txBody>
        </p:sp>
        <p:sp>
          <p:nvSpPr>
            <p:cNvPr id="6" name="Text 3"/>
            <p:cNvSpPr txBox="1"/>
            <p:nvPr/>
          </p:nvSpPr>
          <p:spPr>
            <a:xfrm>
              <a:off x="822960" y="2057400"/>
              <a:ext cx="4846320" cy="731520"/>
            </a:xfrm>
            <a:prstGeom prst="rect">
              <a:avLst/>
            </a:prstGeom>
            <a:noFill/>
            <a:ln/>
          </p:spPr>
          <p:txBody>
            <a:bodyPr wrap="square" lIns="0" tIns="0" rIns="0" bIns="0" rtlCol="0" anchor="t"/>
            <a:lstStyle/>
            <a:p>
              <a:pPr marL="0" indent="0">
                <a:buNone/>
              </a:pPr>
              <a:r>
                <a:rPr lang="en-US" sz="3800" b="1" dirty="0">
                  <a:solidFill>
                    <a:schemeClr val="accent1"/>
                  </a:solidFill>
                  <a:latin typeface="Cambria" pitchFamily="34" charset="0"/>
                  <a:ea typeface="Cambria" pitchFamily="34" charset="-122"/>
                  <a:cs typeface="Cambria" pitchFamily="34" charset="-120"/>
                </a:rPr>
                <a:t>p ≤ 0.022</a:t>
              </a:r>
              <a:endParaRPr lang="en-US" sz="3800" dirty="0"/>
            </a:p>
          </p:txBody>
        </p:sp>
        <p:sp>
          <p:nvSpPr>
            <p:cNvPr id="7" name="Text 4"/>
            <p:cNvSpPr txBox="1"/>
            <p:nvPr/>
          </p:nvSpPr>
          <p:spPr>
            <a:xfrm>
              <a:off x="822960" y="2834640"/>
              <a:ext cx="4846320" cy="822960"/>
            </a:xfrm>
            <a:prstGeom prst="rect">
              <a:avLst/>
            </a:prstGeom>
            <a:noFill/>
            <a:ln/>
          </p:spPr>
          <p:txBody>
            <a:bodyPr wrap="square" lIns="0" tIns="0" rIns="0" bIns="0" rtlCol="0" anchor="t"/>
            <a:lstStyle/>
            <a:p>
              <a:pPr marL="0" indent="0">
                <a:buNone/>
              </a:pPr>
              <a:r>
                <a:rPr lang="en-US" sz="1400" dirty="0">
                  <a:solidFill>
                    <a:schemeClr val="tx1"/>
                  </a:solidFill>
                </a:rPr>
                <a:t>bootstrap significance in all 4 models, but the effect is only about 0.02–0.04 rad, below the 0.10 rad floor.</a:t>
              </a:r>
              <a:endParaRPr lang="en-US" sz="1400" dirty="0"/>
            </a:p>
          </p:txBody>
        </p:sp>
        <p:sp>
          <p:nvSpPr>
            <p:cNvPr id="8" name="Text 5"/>
            <p:cNvSpPr txBox="1"/>
            <p:nvPr/>
          </p:nvSpPr>
          <p:spPr>
            <a:xfrm>
              <a:off x="822960" y="3749040"/>
              <a:ext cx="4846320" cy="228600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chemeClr val="tx1"/>
                  </a:solidFill>
                </a:rPr>
                <a:t>Predictions cluster at a handful of preferred angles: a partial mode collapse</a:t>
              </a:r>
              <a:endParaRPr lang="en-US" sz="1400" dirty="0"/>
            </a:p>
            <a:p>
              <a:pPr marL="342900" indent="-342900">
                <a:spcAft>
                  <a:spcPts val="800"/>
                </a:spcAft>
                <a:buSzPct val="100000"/>
                <a:buChar char="•"/>
              </a:pPr>
              <a:r>
                <a:rPr lang="en-US" sz="1400" dirty="0">
                  <a:solidFill>
                    <a:schemeClr val="tx1"/>
                  </a:solidFill>
                </a:rPr>
                <a:t>Its severity tracks each model's </a:t>
              </a:r>
              <a:r>
                <a:rPr lang="en-US" sz="1400" i="1" dirty="0">
                  <a:solidFill>
                    <a:schemeClr val="tx1"/>
                  </a:solidFill>
                </a:rPr>
                <a:t>φ</a:t>
              </a:r>
              <a:r>
                <a:rPr lang="en-US" sz="1400" baseline="-25000" dirty="0">
                  <a:solidFill>
                    <a:schemeClr val="tx1"/>
                  </a:solidFill>
                </a:rPr>
                <a:t>c</a:t>
              </a:r>
              <a:r>
                <a:rPr lang="en-US" sz="1400" dirty="0">
                  <a:solidFill>
                    <a:schemeClr val="tx1"/>
                  </a:solidFill>
                </a:rPr>
                <a:t>/</a:t>
              </a:r>
              <a:r>
                <a:rPr lang="en-US" sz="1400" i="1" dirty="0">
                  <a:solidFill>
                    <a:schemeClr val="tx1"/>
                  </a:solidFill>
                </a:rPr>
                <a:t>ψ</a:t>
              </a:r>
              <a:r>
                <a:rPr lang="en-US" sz="1400" dirty="0">
                  <a:solidFill>
                    <a:schemeClr val="tx1"/>
                  </a:solidFill>
                </a:rPr>
                <a:t> collapse, pointing to shared training dynamics rather than recoverable physics</a:t>
              </a:r>
              <a:endParaRPr lang="en-US" sz="1400" dirty="0"/>
            </a:p>
          </p:txBody>
        </p:sp>
      </p:grpSp>
      <p:grpSp>
        <p:nvGrpSpPr>
          <p:cNvPr id="14" name="Group 13">
            <a:extLst>
              <a:ext uri="{FF2B5EF4-FFF2-40B4-BE49-F238E27FC236}">
                <a16:creationId xmlns:a16="http://schemas.microsoft.com/office/drawing/2014/main" id="{0FA21D1C-20FB-AD43-3193-CA6CAA414B17}"/>
              </a:ext>
            </a:extLst>
          </p:cNvPr>
          <p:cNvGrpSpPr/>
          <p:nvPr/>
        </p:nvGrpSpPr>
        <p:grpSpPr>
          <a:xfrm>
            <a:off x="6217920" y="1371600"/>
            <a:ext cx="5394960" cy="4800600"/>
            <a:chOff x="6217920" y="1371600"/>
            <a:chExt cx="5394960" cy="4800600"/>
          </a:xfrm>
        </p:grpSpPr>
        <p:sp>
          <p:nvSpPr>
            <p:cNvPr id="9" name="memorization card"/>
            <p:cNvSpPr/>
            <p:nvPr/>
          </p:nvSpPr>
          <p:spPr>
            <a:xfrm>
              <a:off x="6217920" y="1371600"/>
              <a:ext cx="5394960" cy="4800600"/>
            </a:xfrm>
            <a:prstGeom prst="roundRect">
              <a:avLst>
                <a:gd name="adj" fmla="val 2286"/>
              </a:avLst>
            </a:prstGeom>
            <a:solidFill>
              <a:schemeClr val="bg2"/>
            </a:solidFill>
            <a:ln w="12700">
              <a:solidFill>
                <a:schemeClr val="bg2"/>
              </a:solidFill>
              <a:prstDash val="solid"/>
            </a:ln>
            <a:effectLst>
              <a:outerShdw blurRad="101600" dist="25400" dir="5400000" algn="bl" rotWithShape="0">
                <a:srgbClr val="0F1B33">
                  <a:alpha val="12000"/>
                </a:srgbClr>
              </a:outerShdw>
            </a:effectLst>
          </p:spPr>
        </p:sp>
        <p:sp>
          <p:nvSpPr>
            <p:cNvPr id="10" name="Text 7"/>
            <p:cNvSpPr txBox="1"/>
            <p:nvPr/>
          </p:nvSpPr>
          <p:spPr>
            <a:xfrm>
              <a:off x="6492240" y="1600200"/>
              <a:ext cx="4846320" cy="365760"/>
            </a:xfrm>
            <a:prstGeom prst="rect">
              <a:avLst/>
            </a:prstGeom>
            <a:noFill/>
            <a:ln/>
          </p:spPr>
          <p:txBody>
            <a:bodyPr wrap="square" lIns="0" tIns="0" rIns="0" bIns="0" rtlCol="0" anchor="t"/>
            <a:lstStyle/>
            <a:p>
              <a:pPr marL="0" indent="0">
                <a:buNone/>
              </a:pPr>
              <a:r>
                <a:rPr lang="en-US" sz="1400" b="1" dirty="0">
                  <a:solidFill>
                    <a:schemeClr val="accent5"/>
                  </a:solidFill>
                </a:rPr>
                <a:t>CNN_ATTENTION MEMORIZES </a:t>
              </a:r>
              <a:r>
                <a:rPr lang="en-US" sz="1400" b="1" i="1" dirty="0">
                  <a:solidFill>
                    <a:schemeClr val="accent5"/>
                  </a:solidFill>
                </a:rPr>
                <a:t>φ</a:t>
              </a:r>
              <a:r>
                <a:rPr lang="en-US" sz="1400" b="1" baseline="-25000" dirty="0">
                  <a:solidFill>
                    <a:schemeClr val="accent5"/>
                  </a:solidFill>
                </a:rPr>
                <a:t>c</a:t>
              </a:r>
              <a:r>
                <a:rPr lang="en-US" sz="1400" b="1" dirty="0">
                  <a:solidFill>
                    <a:schemeClr val="accent5"/>
                  </a:solidFill>
                </a:rPr>
                <a:t> AND </a:t>
              </a:r>
              <a:r>
                <a:rPr lang="en-US" sz="1400" b="1" i="1" dirty="0">
                  <a:solidFill>
                    <a:schemeClr val="accent5"/>
                  </a:solidFill>
                </a:rPr>
                <a:t>ψ</a:t>
              </a:r>
              <a:endParaRPr lang="en-US" sz="1400" dirty="0"/>
            </a:p>
          </p:txBody>
        </p:sp>
        <p:sp>
          <p:nvSpPr>
            <p:cNvPr id="11" name="Text 8"/>
            <p:cNvSpPr txBox="1"/>
            <p:nvPr/>
          </p:nvSpPr>
          <p:spPr>
            <a:xfrm>
              <a:off x="6492240" y="2057400"/>
              <a:ext cx="4846320" cy="731520"/>
            </a:xfrm>
            <a:prstGeom prst="rect">
              <a:avLst/>
            </a:prstGeom>
            <a:noFill/>
            <a:ln/>
          </p:spPr>
          <p:txBody>
            <a:bodyPr wrap="square" lIns="0" tIns="0" rIns="0" bIns="0" rtlCol="0" anchor="t"/>
            <a:lstStyle/>
            <a:p>
              <a:pPr marL="0" indent="0">
                <a:buNone/>
              </a:pPr>
              <a:r>
                <a:rPr lang="en-US" sz="3800" b="1" dirty="0">
                  <a:solidFill>
                    <a:schemeClr val="accent4"/>
                  </a:solidFill>
                  <a:latin typeface="Cambria" pitchFamily="34" charset="0"/>
                  <a:ea typeface="Cambria" pitchFamily="34" charset="-122"/>
                  <a:cs typeface="Cambria" pitchFamily="34" charset="-120"/>
                </a:rPr>
                <a:t>0.44–0.47</a:t>
              </a:r>
              <a:endParaRPr lang="en-US" sz="3800" dirty="0"/>
            </a:p>
          </p:txBody>
        </p:sp>
        <p:sp>
          <p:nvSpPr>
            <p:cNvPr id="12" name="Text 9"/>
            <p:cNvSpPr txBox="1"/>
            <p:nvPr/>
          </p:nvSpPr>
          <p:spPr>
            <a:xfrm>
              <a:off x="6492240" y="2834640"/>
              <a:ext cx="4846320" cy="822960"/>
            </a:xfrm>
            <a:prstGeom prst="rect">
              <a:avLst/>
            </a:prstGeom>
            <a:noFill/>
            <a:ln/>
          </p:spPr>
          <p:txBody>
            <a:bodyPr wrap="square" lIns="0" tIns="0" rIns="0" bIns="0" rtlCol="0" anchor="t"/>
            <a:lstStyle/>
            <a:p>
              <a:pPr marL="0" indent="0">
                <a:buNone/>
              </a:pPr>
              <a:r>
                <a:rPr lang="en-US" sz="1400" dirty="0">
                  <a:solidFill>
                    <a:schemeClr val="tx1"/>
                  </a:solidFill>
                </a:rPr>
                <a:t>train–validation loss gap, against 0.003–0.05 for the other three models.</a:t>
              </a:r>
              <a:endParaRPr lang="en-US" sz="1400" dirty="0"/>
            </a:p>
          </p:txBody>
        </p:sp>
        <p:sp>
          <p:nvSpPr>
            <p:cNvPr id="13" name="Text 10"/>
            <p:cNvSpPr txBox="1"/>
            <p:nvPr/>
          </p:nvSpPr>
          <p:spPr>
            <a:xfrm>
              <a:off x="6492240" y="3749040"/>
              <a:ext cx="4846320" cy="228600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chemeClr val="tx1"/>
                  </a:solidFill>
                </a:rPr>
                <a:t>Training circular loss falls to about 0.55 while validation stays flat at 1.0</a:t>
              </a:r>
              <a:endParaRPr lang="en-US" sz="1400" dirty="0"/>
            </a:p>
            <a:p>
              <a:pPr marL="342900" indent="-342900">
                <a:spcAft>
                  <a:spcPts val="800"/>
                </a:spcAft>
                <a:buSzPct val="100000"/>
                <a:buChar char="•"/>
              </a:pPr>
              <a:r>
                <a:rPr lang="en-US" sz="1400" dirty="0">
                  <a:solidFill>
                    <a:schemeClr val="tx1"/>
                  </a:solidFill>
                </a:rPr>
                <a:t>Invisible in earlier numbers because the Round-1 summary tracked only validation loss</a:t>
              </a:r>
              <a:endParaRPr lang="en-US" sz="1400" dirty="0"/>
            </a:p>
            <a:p>
              <a:pPr marL="342900" indent="-342900">
                <a:spcAft>
                  <a:spcPts val="800"/>
                </a:spcAft>
                <a:buSzPct val="100000"/>
                <a:buChar char="•"/>
              </a:pPr>
              <a:r>
                <a:rPr lang="en-US" sz="1400" dirty="0">
                  <a:solidFill>
                    <a:schemeClr val="tx1"/>
                  </a:solidFill>
                </a:rPr>
                <a:t>Why the sky-position result needed an SNR-stratification check before it was trusted</a:t>
              </a:r>
              <a:endParaRPr lang="en-US" sz="1400" dirty="0"/>
            </a:p>
          </p:txBody>
        </p:sp>
      </p:gr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100">
                <a:solidFill>
                  <a:srgbClr val="55627A"/>
                </a:solidFill>
              </a:defRPr>
            </a:lvl1pPr>
          </a:lstStyle>
          <a:p>
            <a:pPr algn="r"/>
            <a:fld id="{F7021451-1387-4CA6-816F-3879F97B5CBC}" type="slidenum">
              <a:rPr lang="en-US" b="0"/>
              <a:t>15</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cBhvr additive="base">
                                        <p:cTn id="7" dur="500" fill="hold"/>
                                        <p:tgtEl>
                                          <p:spTgt spid="2"/>
                                        </p:tgtEl>
                                        <p:attrNameLst>
                                          <p:attrName>ppt_x</p:attrName>
                                        </p:attrNameLst>
                                      </p:cBhvr>
                                      <p:tavLst>
                                        <p:tav tm="0">
                                          <p:val>
                                            <p:strVal val="#ppt_x"/>
                                          </p:val>
                                        </p:tav>
                                        <p:tav tm="100000">
                                          <p:val>
                                            <p:strVal val="#ppt_x"/>
                                          </p:val>
                                        </p:tav>
                                      </p:tavLst>
                                    </p:anim>
                                    <p:anim calcmode="lin" valueType="num">
                                      <p:cBhvr additive="base">
                                        <p:cTn id="8" dur="500" fill="hold"/>
                                        <p:tgtEl>
                                          <p:spTgt spid="2"/>
                                        </p:tgtEl>
                                        <p:attrNameLst>
                                          <p:attrName>ppt_y</p:attrName>
                                        </p:attrNameLst>
                                      </p:cBhvr>
                                      <p:tavLst>
                                        <p:tav tm="0">
                                          <p:val>
                                            <p:strVal val="1+#ppt_h/2"/>
                                          </p:val>
                                        </p:tav>
                                        <p:tav tm="100000">
                                          <p:val>
                                            <p:strVal val="#ppt_y"/>
                                          </p:val>
                                        </p:tav>
                                      </p:tavLst>
                                    </p:anim>
                                  </p:childTnLst>
                                </p:cTn>
                              </p:par>
                              <p:par>
                                <p:cTn id="9" presetID="2" presetClass="entr" presetSubtype="4" fill="hold" nodeType="withEffect">
                                  <p:stCondLst>
                                    <p:cond delay="0"/>
                                  </p:stCondLst>
                                  <p:childTnLst>
                                    <p:set>
                                      <p:cBhvr>
                                        <p:cTn id="10" dur="1" fill="hold">
                                          <p:stCondLst>
                                            <p:cond delay="0"/>
                                          </p:stCondLst>
                                        </p:cTn>
                                        <p:tgtEl>
                                          <p:spTgt spid="14"/>
                                        </p:tgtEl>
                                        <p:attrNameLst>
                                          <p:attrName>style.visibility</p:attrName>
                                        </p:attrNameLst>
                                      </p:cBhvr>
                                      <p:to>
                                        <p:strVal val="visible"/>
                                      </p:to>
                                    </p:set>
                                    <p:anim calcmode="lin" valueType="num">
                                      <p:cBhvr additive="base">
                                        <p:cTn id="11" dur="500" fill="hold"/>
                                        <p:tgtEl>
                                          <p:spTgt spid="14"/>
                                        </p:tgtEl>
                                        <p:attrNameLst>
                                          <p:attrName>ppt_x</p:attrName>
                                        </p:attrNameLst>
                                      </p:cBhvr>
                                      <p:tavLst>
                                        <p:tav tm="0">
                                          <p:val>
                                            <p:strVal val="#ppt_x"/>
                                          </p:val>
                                        </p:tav>
                                        <p:tav tm="100000">
                                          <p:val>
                                            <p:strVal val="#ppt_x"/>
                                          </p:val>
                                        </p:tav>
                                      </p:tavLst>
                                    </p:anim>
                                    <p:anim calcmode="lin" valueType="num">
                                      <p:cBhvr additive="base">
                                        <p:cTn id="12" dur="500" fill="hold"/>
                                        <p:tgtEl>
                                          <p:spTgt spid="14"/>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ext 0"/>
          <p:cNvSpPr>
            <a:spLocks noGrp="1"/>
          </p:cNvSpPr>
          <p:nvPr>
            <p:ph type="title" idx="100" hasCustomPrompt="1"/>
          </p:nvPr>
        </p:nvSpPr>
        <p:spPr>
          <a:xfrm>
            <a:off x="548640" y="365760"/>
            <a:ext cx="11064240" cy="777240"/>
          </a:xfrm>
          <a:prstGeom prst="rect">
            <a:avLst/>
          </a:prstGeom>
          <a:noFill/>
          <a:ln/>
        </p:spPr>
        <p:txBody>
          <a:bodyPr wrap="square" lIns="0" tIns="0" rIns="0" bIns="0" rtlCol="0" anchor="t"/>
          <a:lstStyle/>
          <a:p>
            <a:pPr marL="0" indent="0" algn="l">
              <a:buNone/>
            </a:pPr>
            <a:r>
              <a:rPr lang="en-US" sz="3600" b="1" dirty="0">
                <a:solidFill>
                  <a:schemeClr val="tx1"/>
                </a:solidFill>
              </a:rPr>
              <a:t>How strong is the evidence?</a:t>
            </a:r>
            <a:endParaRPr lang="en-US" sz="3600" dirty="0"/>
          </a:p>
        </p:txBody>
      </p:sp>
      <p:sp>
        <p:nvSpPr>
          <p:cNvPr id="4" name="solid card"/>
          <p:cNvSpPr/>
          <p:nvPr/>
        </p:nvSpPr>
        <p:spPr>
          <a:xfrm>
            <a:off x="548640" y="1371600"/>
            <a:ext cx="5029200" cy="4800600"/>
          </a:xfrm>
          <a:prstGeom prst="roundRect">
            <a:avLst>
              <a:gd name="adj" fmla="val 2286"/>
            </a:avLst>
          </a:prstGeom>
          <a:solidFill>
            <a:schemeClr val="tx2"/>
          </a:solidFill>
          <a:ln w="12700">
            <a:solidFill>
              <a:schemeClr val="tx2"/>
            </a:solidFill>
            <a:prstDash val="solid"/>
          </a:ln>
          <a:effectLst>
            <a:outerShdw blurRad="101600" dist="25400" dir="5400000" algn="bl" rotWithShape="0">
              <a:srgbClr val="0F1B33">
                <a:alpha val="12000"/>
              </a:srgbClr>
            </a:outerShdw>
          </a:effectLst>
        </p:spPr>
      </p:sp>
      <p:sp>
        <p:nvSpPr>
          <p:cNvPr id="7" name="Text 4"/>
          <p:cNvSpPr txBox="1"/>
          <p:nvPr/>
        </p:nvSpPr>
        <p:spPr>
          <a:xfrm>
            <a:off x="807720" y="1600200"/>
            <a:ext cx="4541520" cy="502920"/>
          </a:xfrm>
          <a:prstGeom prst="rect">
            <a:avLst/>
          </a:prstGeom>
          <a:noFill/>
          <a:ln/>
        </p:spPr>
        <p:txBody>
          <a:bodyPr wrap="square" lIns="0" tIns="0" rIns="0" bIns="0" rtlCol="0" anchor="ctr"/>
          <a:lstStyle/>
          <a:p>
            <a:pPr marL="0" indent="0">
              <a:buNone/>
            </a:pPr>
            <a:r>
              <a:rPr lang="en-US" sz="2200" b="1" dirty="0">
                <a:solidFill>
                  <a:schemeClr val="bg1"/>
                </a:solidFill>
                <a:latin typeface="Cambria" pitchFamily="34" charset="0"/>
                <a:ea typeface="Cambria" pitchFamily="34" charset="-122"/>
                <a:cs typeface="Cambria" pitchFamily="34" charset="-120"/>
              </a:rPr>
              <a:t>What holds up</a:t>
            </a:r>
            <a:endParaRPr lang="en-US" sz="2200" dirty="0"/>
          </a:p>
        </p:txBody>
      </p:sp>
      <p:sp>
        <p:nvSpPr>
          <p:cNvPr id="8" name="Text 5"/>
          <p:cNvSpPr txBox="1"/>
          <p:nvPr/>
        </p:nvSpPr>
        <p:spPr>
          <a:xfrm>
            <a:off x="822960" y="2331720"/>
            <a:ext cx="4572000" cy="3657600"/>
          </a:xfrm>
          <a:prstGeom prst="rect">
            <a:avLst/>
          </a:prstGeom>
          <a:noFill/>
          <a:ln/>
        </p:spPr>
        <p:txBody>
          <a:bodyPr wrap="square" lIns="0" tIns="0" rIns="0" bIns="0" rtlCol="0" anchor="t"/>
          <a:lstStyle/>
          <a:p>
            <a:pPr marL="342900" indent="-342900">
              <a:spcAft>
                <a:spcPts val="800"/>
              </a:spcAft>
              <a:buSzPct val="100000"/>
              <a:buChar char="•"/>
            </a:pPr>
            <a:r>
              <a:rPr lang="en-US" sz="1600" dirty="0">
                <a:solidFill>
                  <a:schemeClr val="bg1"/>
                </a:solidFill>
              </a:rPr>
              <a:t>Four independent methods agree on the null</a:t>
            </a:r>
            <a:endParaRPr lang="en-US" sz="1600" dirty="0"/>
          </a:p>
          <a:p>
            <a:pPr marL="342900" indent="-342900">
              <a:spcAft>
                <a:spcPts val="800"/>
              </a:spcAft>
              <a:buSzPct val="100000"/>
              <a:buChar char="•"/>
            </a:pPr>
            <a:r>
              <a:rPr lang="en-US" sz="1600" dirty="0">
                <a:solidFill>
                  <a:schemeClr val="bg1"/>
                </a:solidFill>
              </a:rPr>
              <a:t>Run uniformly on all four models, none excluded on interpretability grounds</a:t>
            </a:r>
            <a:endParaRPr lang="en-US" sz="1600" dirty="0"/>
          </a:p>
          <a:p>
            <a:pPr marL="342900" indent="-342900">
              <a:spcAft>
                <a:spcPts val="800"/>
              </a:spcAft>
              <a:buSzPct val="100000"/>
              <a:buChar char="•"/>
            </a:pPr>
            <a:r>
              <a:rPr lang="en-US" sz="1600" dirty="0">
                <a:solidFill>
                  <a:schemeClr val="bg1"/>
                </a:solidFill>
              </a:rPr>
              <a:t>Positive controls read correctly in every model</a:t>
            </a:r>
            <a:endParaRPr lang="en-US" sz="1600" dirty="0"/>
          </a:p>
          <a:p>
            <a:pPr marL="342900" indent="-342900">
              <a:spcAft>
                <a:spcPts val="800"/>
              </a:spcAft>
              <a:buSzPct val="100000"/>
              <a:buChar char="•"/>
            </a:pPr>
            <a:r>
              <a:rPr lang="en-US" sz="1600" dirty="0">
                <a:solidFill>
                  <a:schemeClr val="bg1"/>
                </a:solidFill>
              </a:rPr>
              <a:t>An implementation bug is ruled out by the gradient trace</a:t>
            </a:r>
            <a:endParaRPr lang="en-US" sz="1600" dirty="0"/>
          </a:p>
          <a:p>
            <a:pPr marL="342900" indent="-342900">
              <a:spcAft>
                <a:spcPts val="800"/>
              </a:spcAft>
              <a:buSzPct val="100000"/>
              <a:buChar char="•"/>
            </a:pPr>
            <a:r>
              <a:rPr lang="en-US" sz="1600" dirty="0">
                <a:solidFill>
                  <a:schemeClr val="bg1"/>
                </a:solidFill>
              </a:rPr>
              <a:t>Every quantitative claim traces to a repository artifact</a:t>
            </a:r>
            <a:endParaRPr lang="en-US" sz="1600" dirty="0"/>
          </a:p>
        </p:txBody>
      </p:sp>
      <p:grpSp>
        <p:nvGrpSpPr>
          <p:cNvPr id="15" name="Group 14">
            <a:extLst>
              <a:ext uri="{FF2B5EF4-FFF2-40B4-BE49-F238E27FC236}">
                <a16:creationId xmlns:a16="http://schemas.microsoft.com/office/drawing/2014/main" id="{0C353071-0156-D3A9-9CC2-21FD4AE6CA33}"/>
              </a:ext>
            </a:extLst>
          </p:cNvPr>
          <p:cNvGrpSpPr/>
          <p:nvPr/>
        </p:nvGrpSpPr>
        <p:grpSpPr>
          <a:xfrm>
            <a:off x="5852160" y="1371600"/>
            <a:ext cx="5760720" cy="4800600"/>
            <a:chOff x="5852160" y="1371600"/>
            <a:chExt cx="5760720" cy="4800600"/>
          </a:xfrm>
        </p:grpSpPr>
        <p:sp>
          <p:nvSpPr>
            <p:cNvPr id="9" name="limits card"/>
            <p:cNvSpPr/>
            <p:nvPr/>
          </p:nvSpPr>
          <p:spPr>
            <a:xfrm>
              <a:off x="5852160" y="1371600"/>
              <a:ext cx="5760720" cy="4800600"/>
            </a:xfrm>
            <a:prstGeom prst="roundRect">
              <a:avLst>
                <a:gd name="adj" fmla="val 2286"/>
              </a:avLst>
            </a:prstGeom>
            <a:solidFill>
              <a:schemeClr val="bg2"/>
            </a:solidFill>
            <a:ln w="12700">
              <a:solidFill>
                <a:schemeClr val="bg2"/>
              </a:solidFill>
              <a:prstDash val="solid"/>
            </a:ln>
            <a:effectLst>
              <a:outerShdw blurRad="101600" dist="25400" dir="5400000" algn="bl" rotWithShape="0">
                <a:srgbClr val="0F1B33">
                  <a:alpha val="12000"/>
                </a:srgbClr>
              </a:outerShdw>
            </a:effectLst>
          </p:spPr>
        </p:sp>
        <p:sp>
          <p:nvSpPr>
            <p:cNvPr id="12" name="Text 9"/>
            <p:cNvSpPr txBox="1"/>
            <p:nvPr/>
          </p:nvSpPr>
          <p:spPr>
            <a:xfrm>
              <a:off x="6126480" y="1600200"/>
              <a:ext cx="5257800" cy="502920"/>
            </a:xfrm>
            <a:prstGeom prst="rect">
              <a:avLst/>
            </a:prstGeom>
            <a:noFill/>
            <a:ln/>
          </p:spPr>
          <p:txBody>
            <a:bodyPr wrap="square" lIns="0" tIns="0" rIns="0" bIns="0" rtlCol="0" anchor="ctr"/>
            <a:lstStyle/>
            <a:p>
              <a:pPr marL="0" indent="0">
                <a:buNone/>
              </a:pPr>
              <a:r>
                <a:rPr lang="en-US" sz="2200" b="1" dirty="0">
                  <a:solidFill>
                    <a:schemeClr val="tx1"/>
                  </a:solidFill>
                  <a:latin typeface="Cambria" pitchFamily="34" charset="0"/>
                  <a:ea typeface="Cambria" pitchFamily="34" charset="-122"/>
                  <a:cs typeface="Cambria" pitchFamily="34" charset="-120"/>
                </a:rPr>
                <a:t>Limitations and open items</a:t>
              </a:r>
              <a:endParaRPr lang="en-US" sz="2200" dirty="0"/>
            </a:p>
          </p:txBody>
        </p:sp>
      </p:grpSp>
      <p:sp>
        <p:nvSpPr>
          <p:cNvPr id="13" name="Text 10"/>
          <p:cNvSpPr txBox="1"/>
          <p:nvPr/>
        </p:nvSpPr>
        <p:spPr>
          <a:xfrm>
            <a:off x="6126480" y="2331720"/>
            <a:ext cx="5303520" cy="3749040"/>
          </a:xfrm>
          <a:prstGeom prst="rect">
            <a:avLst/>
          </a:prstGeom>
          <a:noFill/>
          <a:ln/>
        </p:spPr>
        <p:txBody>
          <a:bodyPr wrap="square" lIns="0" tIns="0" rIns="0" bIns="0" rtlCol="0" anchor="t"/>
          <a:lstStyle/>
          <a:p>
            <a:pPr marL="342900" indent="-342900">
              <a:spcAft>
                <a:spcPts val="600"/>
              </a:spcAft>
              <a:buSzPct val="100000"/>
              <a:buChar char="•"/>
            </a:pPr>
            <a:r>
              <a:rPr lang="en-US" sz="1400" b="1" dirty="0">
                <a:solidFill>
                  <a:schemeClr val="tx1"/>
                </a:solidFill>
              </a:rPr>
              <a:t>Narrow pool: </a:t>
            </a:r>
            <a:r>
              <a:rPr lang="en-US" sz="1400" dirty="0">
                <a:solidFill>
                  <a:schemeClr val="tx1"/>
                </a:solidFill>
              </a:rPr>
              <a:t>two trunk families; down-select had no numeric threshold</a:t>
            </a:r>
            <a:endParaRPr lang="en-US" sz="1400" dirty="0"/>
          </a:p>
          <a:p>
            <a:pPr marL="342900" indent="-342900">
              <a:spcAft>
                <a:spcPts val="600"/>
              </a:spcAft>
              <a:buSzPct val="100000"/>
              <a:buChar char="•"/>
            </a:pPr>
            <a:r>
              <a:rPr lang="en-US" sz="1400" b="1" dirty="0">
                <a:solidFill>
                  <a:schemeClr val="tx1"/>
                </a:solidFill>
              </a:rPr>
              <a:t>Single seed (42): </a:t>
            </a:r>
            <a:r>
              <a:rPr lang="en-US" sz="1400" dirty="0">
                <a:solidFill>
                  <a:schemeClr val="tx1"/>
                </a:solidFill>
              </a:rPr>
              <a:t>null holds across configurations, not seeds</a:t>
            </a:r>
            <a:endParaRPr lang="en-US" sz="1400" dirty="0"/>
          </a:p>
          <a:p>
            <a:pPr marL="342900" indent="-342900">
              <a:spcAft>
                <a:spcPts val="600"/>
              </a:spcAft>
              <a:buSzPct val="100000"/>
              <a:buChar char="•"/>
            </a:pPr>
            <a:r>
              <a:rPr lang="en-US" sz="1400" b="1" dirty="0">
                <a:solidFill>
                  <a:schemeClr val="tx1"/>
                </a:solidFill>
              </a:rPr>
              <a:t>Reconstructed branch: </a:t>
            </a:r>
            <a:r>
              <a:rPr lang="en-US" sz="1400" dirty="0">
                <a:solidFill>
                  <a:schemeClr val="tx1"/>
                </a:solidFill>
              </a:rPr>
              <a:t>POC</a:t>
            </a:r>
            <a:r>
              <a:rPr lang="en-US" sz="1400" baseline="-25000" dirty="0">
                <a:solidFill>
                  <a:schemeClr val="tx1"/>
                </a:solidFill>
              </a:rPr>
              <a:t>B</a:t>
            </a:r>
            <a:r>
              <a:rPr lang="en-US" sz="1400" dirty="0">
                <a:solidFill>
                  <a:schemeClr val="tx1"/>
                </a:solidFill>
              </a:rPr>
              <a:t> bootstrap numbers are ground-truth-assisted (disclosed)</a:t>
            </a:r>
            <a:endParaRPr lang="en-US" sz="1400" dirty="0"/>
          </a:p>
          <a:p>
            <a:pPr marL="342900" indent="-342900">
              <a:spcAft>
                <a:spcPts val="600"/>
              </a:spcAft>
              <a:buSzPct val="100000"/>
              <a:buChar char="•"/>
            </a:pPr>
            <a:r>
              <a:rPr lang="en-US" sz="1400" b="1" dirty="0">
                <a:solidFill>
                  <a:schemeClr val="tx1"/>
                </a:solidFill>
              </a:rPr>
              <a:t>Probe parked: </a:t>
            </a:r>
            <a:r>
              <a:rPr lang="en-US" sz="1400" dirty="0">
                <a:solidFill>
                  <a:schemeClr val="tx1"/>
                </a:solidFill>
              </a:rPr>
              <a:t>perturbation trace failed its own positive control</a:t>
            </a:r>
            <a:endParaRPr lang="en-US" sz="1400" dirty="0"/>
          </a:p>
          <a:p>
            <a:pPr marL="342900" indent="-342900">
              <a:spcAft>
                <a:spcPts val="600"/>
              </a:spcAft>
              <a:buSzPct val="100000"/>
              <a:buChar char="•"/>
            </a:pPr>
            <a:r>
              <a:rPr lang="en-US" sz="1400" b="1" dirty="0">
                <a:solidFill>
                  <a:schemeClr val="tx1"/>
                </a:solidFill>
              </a:rPr>
              <a:t>Unrun: </a:t>
            </a:r>
            <a:r>
              <a:rPr lang="en-US" sz="1400" dirty="0">
                <a:solidFill>
                  <a:schemeClr val="tx1"/>
                </a:solidFill>
              </a:rPr>
              <a:t>synthetic ablation, high-SNR / Fisher bound, joint (</a:t>
            </a:r>
            <a:r>
              <a:rPr lang="en-US" sz="1400" i="1" dirty="0">
                <a:solidFill>
                  <a:schemeClr val="tx1"/>
                </a:solidFill>
              </a:rPr>
              <a:t>φ</a:t>
            </a:r>
            <a:r>
              <a:rPr lang="en-US" sz="1400" baseline="-25000" dirty="0">
                <a:solidFill>
                  <a:schemeClr val="tx1"/>
                </a:solidFill>
              </a:rPr>
              <a:t>c</a:t>
            </a:r>
            <a:r>
              <a:rPr lang="en-US" sz="1400" dirty="0">
                <a:solidFill>
                  <a:schemeClr val="tx1"/>
                </a:solidFill>
              </a:rPr>
              <a:t>, </a:t>
            </a:r>
            <a:r>
              <a:rPr lang="en-US" sz="1400" i="1" dirty="0">
                <a:solidFill>
                  <a:schemeClr val="tx1"/>
                </a:solidFill>
              </a:rPr>
              <a:t>ψ</a:t>
            </a:r>
            <a:r>
              <a:rPr lang="en-US" sz="1400" dirty="0">
                <a:solidFill>
                  <a:schemeClr val="tx1"/>
                </a:solidFill>
              </a:rPr>
              <a:t>) scatter</a:t>
            </a:r>
            <a:endParaRPr lang="en-US" sz="1400" dirty="0"/>
          </a:p>
          <a:p>
            <a:pPr marL="342900" indent="-342900">
              <a:spcAft>
                <a:spcPts val="600"/>
              </a:spcAft>
              <a:buSzPct val="100000"/>
              <a:buChar char="•"/>
            </a:pPr>
            <a:r>
              <a:rPr lang="en-US" sz="1400" b="1" dirty="0">
                <a:solidFill>
                  <a:schemeClr val="tx1"/>
                </a:solidFill>
              </a:rPr>
              <a:t>No adversarial review </a:t>
            </a:r>
            <a:r>
              <a:rPr lang="en-US" sz="1400" dirty="0">
                <a:solidFill>
                  <a:schemeClr val="tx1"/>
                </a:solidFill>
              </a:rPr>
              <a:t>of the manuscript yet</a:t>
            </a:r>
            <a:endParaRPr lang="en-US" sz="14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100">
                <a:solidFill>
                  <a:srgbClr val="55627A"/>
                </a:solidFill>
              </a:defRPr>
            </a:lvl1pPr>
          </a:lstStyle>
          <a:p>
            <a:pPr algn="r"/>
            <a:fld id="{F7021451-1387-4CA6-816F-3879F97B5CBC}" type="slidenum">
              <a:rPr lang="en-US" b="0"/>
              <a:t>16</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additive="base">
                                        <p:cTn id="7" dur="500" fill="hold"/>
                                        <p:tgtEl>
                                          <p:spTgt spid="4"/>
                                        </p:tgtEl>
                                        <p:attrNameLst>
                                          <p:attrName>ppt_x</p:attrName>
                                        </p:attrNameLst>
                                      </p:cBhvr>
                                      <p:tavLst>
                                        <p:tav tm="0">
                                          <p:val>
                                            <p:strVal val="#ppt_x"/>
                                          </p:val>
                                        </p:tav>
                                        <p:tav tm="100000">
                                          <p:val>
                                            <p:strVal val="#ppt_x"/>
                                          </p:val>
                                        </p:tav>
                                      </p:tavLst>
                                    </p:anim>
                                    <p:anim calcmode="lin" valueType="num">
                                      <p:cBhvr additive="base">
                                        <p:cTn id="8" dur="500" fill="hold"/>
                                        <p:tgtEl>
                                          <p:spTgt spid="4"/>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nodeType="clickEffect">
                                  <p:stCondLst>
                                    <p:cond delay="0"/>
                                  </p:stCondLst>
                                  <p:childTnLst>
                                    <p:set>
                                      <p:cBhvr>
                                        <p:cTn id="12" dur="1" fill="hold">
                                          <p:stCondLst>
                                            <p:cond delay="0"/>
                                          </p:stCondLst>
                                        </p:cTn>
                                        <p:tgtEl>
                                          <p:spTgt spid="8">
                                            <p:txEl>
                                              <p:pRg st="0" end="0"/>
                                            </p:txEl>
                                          </p:spTgt>
                                        </p:tgtEl>
                                        <p:attrNameLst>
                                          <p:attrName>style.visibility</p:attrName>
                                        </p:attrNameLst>
                                      </p:cBhvr>
                                      <p:to>
                                        <p:strVal val="visible"/>
                                      </p:to>
                                    </p:set>
                                    <p:anim calcmode="lin" valueType="num">
                                      <p:cBhvr additive="base">
                                        <p:cTn id="13" dur="500" fill="hold"/>
                                        <p:tgtEl>
                                          <p:spTgt spid="8">
                                            <p:txEl>
                                              <p:pRg st="0" end="0"/>
                                            </p:txEl>
                                          </p:spTgt>
                                        </p:tgtEl>
                                        <p:attrNameLst>
                                          <p:attrName>ppt_x</p:attrName>
                                        </p:attrNameLst>
                                      </p:cBhvr>
                                      <p:tavLst>
                                        <p:tav tm="0">
                                          <p:val>
                                            <p:strVal val="#ppt_x"/>
                                          </p:val>
                                        </p:tav>
                                        <p:tav tm="100000">
                                          <p:val>
                                            <p:strVal val="#ppt_x"/>
                                          </p:val>
                                        </p:tav>
                                      </p:tavLst>
                                    </p:anim>
                                    <p:anim calcmode="lin" valueType="num">
                                      <p:cBhvr additive="base">
                                        <p:cTn id="14" dur="500" fill="hold"/>
                                        <p:tgtEl>
                                          <p:spTgt spid="8">
                                            <p:txEl>
                                              <p:pRg st="0" end="0"/>
                                            </p:txEl>
                                          </p:spTgt>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nodeType="clickEffect">
                                  <p:stCondLst>
                                    <p:cond delay="0"/>
                                  </p:stCondLst>
                                  <p:childTnLst>
                                    <p:set>
                                      <p:cBhvr>
                                        <p:cTn id="18" dur="1" fill="hold">
                                          <p:stCondLst>
                                            <p:cond delay="0"/>
                                          </p:stCondLst>
                                        </p:cTn>
                                        <p:tgtEl>
                                          <p:spTgt spid="8">
                                            <p:txEl>
                                              <p:pRg st="1" end="1"/>
                                            </p:txEl>
                                          </p:spTgt>
                                        </p:tgtEl>
                                        <p:attrNameLst>
                                          <p:attrName>style.visibility</p:attrName>
                                        </p:attrNameLst>
                                      </p:cBhvr>
                                      <p:to>
                                        <p:strVal val="visible"/>
                                      </p:to>
                                    </p:set>
                                    <p:anim calcmode="lin" valueType="num">
                                      <p:cBhvr additive="base">
                                        <p:cTn id="19" dur="500" fill="hold"/>
                                        <p:tgtEl>
                                          <p:spTgt spid="8">
                                            <p:txEl>
                                              <p:pRg st="1" end="1"/>
                                            </p:txEl>
                                          </p:spTgt>
                                        </p:tgtEl>
                                        <p:attrNameLst>
                                          <p:attrName>ppt_x</p:attrName>
                                        </p:attrNameLst>
                                      </p:cBhvr>
                                      <p:tavLst>
                                        <p:tav tm="0">
                                          <p:val>
                                            <p:strVal val="#ppt_x"/>
                                          </p:val>
                                        </p:tav>
                                        <p:tav tm="100000">
                                          <p:val>
                                            <p:strVal val="#ppt_x"/>
                                          </p:val>
                                        </p:tav>
                                      </p:tavLst>
                                    </p:anim>
                                    <p:anim calcmode="lin" valueType="num">
                                      <p:cBhvr additive="base">
                                        <p:cTn id="20" dur="500" fill="hold"/>
                                        <p:tgtEl>
                                          <p:spTgt spid="8">
                                            <p:txEl>
                                              <p:pRg st="1" end="1"/>
                                            </p:txEl>
                                          </p:spTgt>
                                        </p:tgtEl>
                                        <p:attrNameLst>
                                          <p:attrName>ppt_y</p:attrName>
                                        </p:attrNameLst>
                                      </p:cBhvr>
                                      <p:tavLst>
                                        <p:tav tm="0">
                                          <p:val>
                                            <p:strVal val="1+#ppt_h/2"/>
                                          </p:val>
                                        </p:tav>
                                        <p:tav tm="100000">
                                          <p:val>
                                            <p:strVal val="#ppt_y"/>
                                          </p:val>
                                        </p:tav>
                                      </p:tavLst>
                                    </p:anim>
                                  </p:childTnLst>
                                </p:cTn>
                              </p:par>
                            </p:childTnLst>
                          </p:cTn>
                        </p:par>
                      </p:childTnLst>
                    </p:cTn>
                  </p:par>
                  <p:par>
                    <p:cTn id="21" fill="hold">
                      <p:stCondLst>
                        <p:cond delay="indefinite"/>
                      </p:stCondLst>
                      <p:childTnLst>
                        <p:par>
                          <p:cTn id="22" fill="hold">
                            <p:stCondLst>
                              <p:cond delay="0"/>
                            </p:stCondLst>
                            <p:childTnLst>
                              <p:par>
                                <p:cTn id="23" presetID="2" presetClass="entr" presetSubtype="4" fill="hold" nodeType="clickEffect">
                                  <p:stCondLst>
                                    <p:cond delay="0"/>
                                  </p:stCondLst>
                                  <p:childTnLst>
                                    <p:set>
                                      <p:cBhvr>
                                        <p:cTn id="24" dur="1" fill="hold">
                                          <p:stCondLst>
                                            <p:cond delay="0"/>
                                          </p:stCondLst>
                                        </p:cTn>
                                        <p:tgtEl>
                                          <p:spTgt spid="8">
                                            <p:txEl>
                                              <p:pRg st="2" end="2"/>
                                            </p:txEl>
                                          </p:spTgt>
                                        </p:tgtEl>
                                        <p:attrNameLst>
                                          <p:attrName>style.visibility</p:attrName>
                                        </p:attrNameLst>
                                      </p:cBhvr>
                                      <p:to>
                                        <p:strVal val="visible"/>
                                      </p:to>
                                    </p:set>
                                    <p:anim calcmode="lin" valueType="num">
                                      <p:cBhvr additive="base">
                                        <p:cTn id="25" dur="500" fill="hold"/>
                                        <p:tgtEl>
                                          <p:spTgt spid="8">
                                            <p:txEl>
                                              <p:pRg st="2" end="2"/>
                                            </p:txEl>
                                          </p:spTgt>
                                        </p:tgtEl>
                                        <p:attrNameLst>
                                          <p:attrName>ppt_x</p:attrName>
                                        </p:attrNameLst>
                                      </p:cBhvr>
                                      <p:tavLst>
                                        <p:tav tm="0">
                                          <p:val>
                                            <p:strVal val="#ppt_x"/>
                                          </p:val>
                                        </p:tav>
                                        <p:tav tm="100000">
                                          <p:val>
                                            <p:strVal val="#ppt_x"/>
                                          </p:val>
                                        </p:tav>
                                      </p:tavLst>
                                    </p:anim>
                                    <p:anim calcmode="lin" valueType="num">
                                      <p:cBhvr additive="base">
                                        <p:cTn id="26" dur="500" fill="hold"/>
                                        <p:tgtEl>
                                          <p:spTgt spid="8">
                                            <p:txEl>
                                              <p:pRg st="2" end="2"/>
                                            </p:txEl>
                                          </p:spTgt>
                                        </p:tgtEl>
                                        <p:attrNameLst>
                                          <p:attrName>ppt_y</p:attrName>
                                        </p:attrNameLst>
                                      </p:cBhvr>
                                      <p:tavLst>
                                        <p:tav tm="0">
                                          <p:val>
                                            <p:strVal val="1+#ppt_h/2"/>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9" presetID="2" presetClass="entr" presetSubtype="4" fill="hold" nodeType="clickEffect">
                                  <p:stCondLst>
                                    <p:cond delay="0"/>
                                  </p:stCondLst>
                                  <p:childTnLst>
                                    <p:set>
                                      <p:cBhvr>
                                        <p:cTn id="30" dur="1" fill="hold">
                                          <p:stCondLst>
                                            <p:cond delay="0"/>
                                          </p:stCondLst>
                                        </p:cTn>
                                        <p:tgtEl>
                                          <p:spTgt spid="8">
                                            <p:txEl>
                                              <p:pRg st="3" end="3"/>
                                            </p:txEl>
                                          </p:spTgt>
                                        </p:tgtEl>
                                        <p:attrNameLst>
                                          <p:attrName>style.visibility</p:attrName>
                                        </p:attrNameLst>
                                      </p:cBhvr>
                                      <p:to>
                                        <p:strVal val="visible"/>
                                      </p:to>
                                    </p:set>
                                    <p:anim calcmode="lin" valueType="num">
                                      <p:cBhvr additive="base">
                                        <p:cTn id="31" dur="500" fill="hold"/>
                                        <p:tgtEl>
                                          <p:spTgt spid="8">
                                            <p:txEl>
                                              <p:pRg st="3" end="3"/>
                                            </p:txEl>
                                          </p:spTgt>
                                        </p:tgtEl>
                                        <p:attrNameLst>
                                          <p:attrName>ppt_x</p:attrName>
                                        </p:attrNameLst>
                                      </p:cBhvr>
                                      <p:tavLst>
                                        <p:tav tm="0">
                                          <p:val>
                                            <p:strVal val="#ppt_x"/>
                                          </p:val>
                                        </p:tav>
                                        <p:tav tm="100000">
                                          <p:val>
                                            <p:strVal val="#ppt_x"/>
                                          </p:val>
                                        </p:tav>
                                      </p:tavLst>
                                    </p:anim>
                                    <p:anim calcmode="lin" valueType="num">
                                      <p:cBhvr additive="base">
                                        <p:cTn id="32" dur="500" fill="hold"/>
                                        <p:tgtEl>
                                          <p:spTgt spid="8">
                                            <p:txEl>
                                              <p:pRg st="3" end="3"/>
                                            </p:txEl>
                                          </p:spTgt>
                                        </p:tgtEl>
                                        <p:attrNameLst>
                                          <p:attrName>ppt_y</p:attrName>
                                        </p:attrNameLst>
                                      </p:cBhvr>
                                      <p:tavLst>
                                        <p:tav tm="0">
                                          <p:val>
                                            <p:strVal val="1+#ppt_h/2"/>
                                          </p:val>
                                        </p:tav>
                                        <p:tav tm="100000">
                                          <p:val>
                                            <p:strVal val="#ppt_y"/>
                                          </p:val>
                                        </p:tav>
                                      </p:tavLst>
                                    </p:anim>
                                  </p:childTnLst>
                                </p:cTn>
                              </p:par>
                            </p:childTnLst>
                          </p:cTn>
                        </p:par>
                      </p:childTnLst>
                    </p:cTn>
                  </p:par>
                  <p:par>
                    <p:cTn id="33" fill="hold">
                      <p:stCondLst>
                        <p:cond delay="indefinite"/>
                      </p:stCondLst>
                      <p:childTnLst>
                        <p:par>
                          <p:cTn id="34" fill="hold">
                            <p:stCondLst>
                              <p:cond delay="0"/>
                            </p:stCondLst>
                            <p:childTnLst>
                              <p:par>
                                <p:cTn id="35" presetID="2" presetClass="entr" presetSubtype="4" fill="hold" nodeType="clickEffect">
                                  <p:stCondLst>
                                    <p:cond delay="0"/>
                                  </p:stCondLst>
                                  <p:childTnLst>
                                    <p:set>
                                      <p:cBhvr>
                                        <p:cTn id="36" dur="1" fill="hold">
                                          <p:stCondLst>
                                            <p:cond delay="0"/>
                                          </p:stCondLst>
                                        </p:cTn>
                                        <p:tgtEl>
                                          <p:spTgt spid="8">
                                            <p:txEl>
                                              <p:pRg st="4" end="4"/>
                                            </p:txEl>
                                          </p:spTgt>
                                        </p:tgtEl>
                                        <p:attrNameLst>
                                          <p:attrName>style.visibility</p:attrName>
                                        </p:attrNameLst>
                                      </p:cBhvr>
                                      <p:to>
                                        <p:strVal val="visible"/>
                                      </p:to>
                                    </p:set>
                                    <p:anim calcmode="lin" valueType="num">
                                      <p:cBhvr additive="base">
                                        <p:cTn id="37" dur="500" fill="hold"/>
                                        <p:tgtEl>
                                          <p:spTgt spid="8">
                                            <p:txEl>
                                              <p:pRg st="4" end="4"/>
                                            </p:txEl>
                                          </p:spTgt>
                                        </p:tgtEl>
                                        <p:attrNameLst>
                                          <p:attrName>ppt_x</p:attrName>
                                        </p:attrNameLst>
                                      </p:cBhvr>
                                      <p:tavLst>
                                        <p:tav tm="0">
                                          <p:val>
                                            <p:strVal val="#ppt_x"/>
                                          </p:val>
                                        </p:tav>
                                        <p:tav tm="100000">
                                          <p:val>
                                            <p:strVal val="#ppt_x"/>
                                          </p:val>
                                        </p:tav>
                                      </p:tavLst>
                                    </p:anim>
                                    <p:anim calcmode="lin" valueType="num">
                                      <p:cBhvr additive="base">
                                        <p:cTn id="38" dur="500" fill="hold"/>
                                        <p:tgtEl>
                                          <p:spTgt spid="8">
                                            <p:txEl>
                                              <p:pRg st="4" end="4"/>
                                            </p:txEl>
                                          </p:spTgt>
                                        </p:tgtEl>
                                        <p:attrNameLst>
                                          <p:attrName>ppt_y</p:attrName>
                                        </p:attrNameLst>
                                      </p:cBhvr>
                                      <p:tavLst>
                                        <p:tav tm="0">
                                          <p:val>
                                            <p:strVal val="1+#ppt_h/2"/>
                                          </p:val>
                                        </p:tav>
                                        <p:tav tm="100000">
                                          <p:val>
                                            <p:strVal val="#ppt_y"/>
                                          </p:val>
                                        </p:tav>
                                      </p:tavLst>
                                    </p:anim>
                                  </p:childTnLst>
                                </p:cTn>
                              </p:par>
                            </p:childTnLst>
                          </p:cTn>
                        </p:par>
                      </p:childTnLst>
                    </p:cTn>
                  </p:par>
                  <p:par>
                    <p:cTn id="39" fill="hold">
                      <p:stCondLst>
                        <p:cond delay="indefinite"/>
                      </p:stCondLst>
                      <p:childTnLst>
                        <p:par>
                          <p:cTn id="40" fill="hold">
                            <p:stCondLst>
                              <p:cond delay="0"/>
                            </p:stCondLst>
                            <p:childTnLst>
                              <p:par>
                                <p:cTn id="41" presetID="2" presetClass="entr" presetSubtype="4" fill="hold" nodeType="clickEffect">
                                  <p:stCondLst>
                                    <p:cond delay="0"/>
                                  </p:stCondLst>
                                  <p:childTnLst>
                                    <p:set>
                                      <p:cBhvr>
                                        <p:cTn id="42" dur="1" fill="hold">
                                          <p:stCondLst>
                                            <p:cond delay="0"/>
                                          </p:stCondLst>
                                        </p:cTn>
                                        <p:tgtEl>
                                          <p:spTgt spid="15"/>
                                        </p:tgtEl>
                                        <p:attrNameLst>
                                          <p:attrName>style.visibility</p:attrName>
                                        </p:attrNameLst>
                                      </p:cBhvr>
                                      <p:to>
                                        <p:strVal val="visible"/>
                                      </p:to>
                                    </p:set>
                                    <p:anim calcmode="lin" valueType="num">
                                      <p:cBhvr additive="base">
                                        <p:cTn id="43" dur="500" fill="hold"/>
                                        <p:tgtEl>
                                          <p:spTgt spid="15"/>
                                        </p:tgtEl>
                                        <p:attrNameLst>
                                          <p:attrName>ppt_x</p:attrName>
                                        </p:attrNameLst>
                                      </p:cBhvr>
                                      <p:tavLst>
                                        <p:tav tm="0">
                                          <p:val>
                                            <p:strVal val="#ppt_x"/>
                                          </p:val>
                                        </p:tav>
                                        <p:tav tm="100000">
                                          <p:val>
                                            <p:strVal val="#ppt_x"/>
                                          </p:val>
                                        </p:tav>
                                      </p:tavLst>
                                    </p:anim>
                                    <p:anim calcmode="lin" valueType="num">
                                      <p:cBhvr additive="base">
                                        <p:cTn id="44" dur="500" fill="hold"/>
                                        <p:tgtEl>
                                          <p:spTgt spid="15"/>
                                        </p:tgtEl>
                                        <p:attrNameLst>
                                          <p:attrName>ppt_y</p:attrName>
                                        </p:attrNameLst>
                                      </p:cBhvr>
                                      <p:tavLst>
                                        <p:tav tm="0">
                                          <p:val>
                                            <p:strVal val="1+#ppt_h/2"/>
                                          </p:val>
                                        </p:tav>
                                        <p:tav tm="100000">
                                          <p:val>
                                            <p:strVal val="#ppt_y"/>
                                          </p:val>
                                        </p:tav>
                                      </p:tavLst>
                                    </p:anim>
                                  </p:childTnLst>
                                </p:cTn>
                              </p:par>
                            </p:childTnLst>
                          </p:cTn>
                        </p:par>
                      </p:childTnLst>
                    </p:cTn>
                  </p:par>
                  <p:par>
                    <p:cTn id="45" fill="hold">
                      <p:stCondLst>
                        <p:cond delay="indefinite"/>
                      </p:stCondLst>
                      <p:childTnLst>
                        <p:par>
                          <p:cTn id="46" fill="hold">
                            <p:stCondLst>
                              <p:cond delay="0"/>
                            </p:stCondLst>
                            <p:childTnLst>
                              <p:par>
                                <p:cTn id="47" presetID="2" presetClass="entr" presetSubtype="4" fill="hold" nodeType="clickEffect">
                                  <p:stCondLst>
                                    <p:cond delay="0"/>
                                  </p:stCondLst>
                                  <p:childTnLst>
                                    <p:set>
                                      <p:cBhvr>
                                        <p:cTn id="48" dur="1" fill="hold">
                                          <p:stCondLst>
                                            <p:cond delay="0"/>
                                          </p:stCondLst>
                                        </p:cTn>
                                        <p:tgtEl>
                                          <p:spTgt spid="13">
                                            <p:txEl>
                                              <p:pRg st="0" end="0"/>
                                            </p:txEl>
                                          </p:spTgt>
                                        </p:tgtEl>
                                        <p:attrNameLst>
                                          <p:attrName>style.visibility</p:attrName>
                                        </p:attrNameLst>
                                      </p:cBhvr>
                                      <p:to>
                                        <p:strVal val="visible"/>
                                      </p:to>
                                    </p:set>
                                    <p:anim calcmode="lin" valueType="num">
                                      <p:cBhvr additive="base">
                                        <p:cTn id="49" dur="500" fill="hold"/>
                                        <p:tgtEl>
                                          <p:spTgt spid="13">
                                            <p:txEl>
                                              <p:pRg st="0" end="0"/>
                                            </p:txEl>
                                          </p:spTgt>
                                        </p:tgtEl>
                                        <p:attrNameLst>
                                          <p:attrName>ppt_x</p:attrName>
                                        </p:attrNameLst>
                                      </p:cBhvr>
                                      <p:tavLst>
                                        <p:tav tm="0">
                                          <p:val>
                                            <p:strVal val="#ppt_x"/>
                                          </p:val>
                                        </p:tav>
                                        <p:tav tm="100000">
                                          <p:val>
                                            <p:strVal val="#ppt_x"/>
                                          </p:val>
                                        </p:tav>
                                      </p:tavLst>
                                    </p:anim>
                                    <p:anim calcmode="lin" valueType="num">
                                      <p:cBhvr additive="base">
                                        <p:cTn id="50" dur="500" fill="hold"/>
                                        <p:tgtEl>
                                          <p:spTgt spid="13">
                                            <p:txEl>
                                              <p:pRg st="0" end="0"/>
                                            </p:txEl>
                                          </p:spTgt>
                                        </p:tgtEl>
                                        <p:attrNameLst>
                                          <p:attrName>ppt_y</p:attrName>
                                        </p:attrNameLst>
                                      </p:cBhvr>
                                      <p:tavLst>
                                        <p:tav tm="0">
                                          <p:val>
                                            <p:strVal val="1+#ppt_h/2"/>
                                          </p:val>
                                        </p:tav>
                                        <p:tav tm="100000">
                                          <p:val>
                                            <p:strVal val="#ppt_y"/>
                                          </p:val>
                                        </p:tav>
                                      </p:tavLst>
                                    </p:anim>
                                  </p:childTnLst>
                                </p:cTn>
                              </p:par>
                            </p:childTnLst>
                          </p:cTn>
                        </p:par>
                      </p:childTnLst>
                    </p:cTn>
                  </p:par>
                  <p:par>
                    <p:cTn id="51" fill="hold">
                      <p:stCondLst>
                        <p:cond delay="indefinite"/>
                      </p:stCondLst>
                      <p:childTnLst>
                        <p:par>
                          <p:cTn id="52" fill="hold">
                            <p:stCondLst>
                              <p:cond delay="0"/>
                            </p:stCondLst>
                            <p:childTnLst>
                              <p:par>
                                <p:cTn id="53" presetID="2" presetClass="entr" presetSubtype="4" fill="hold" nodeType="clickEffect">
                                  <p:stCondLst>
                                    <p:cond delay="0"/>
                                  </p:stCondLst>
                                  <p:childTnLst>
                                    <p:set>
                                      <p:cBhvr>
                                        <p:cTn id="54" dur="1" fill="hold">
                                          <p:stCondLst>
                                            <p:cond delay="0"/>
                                          </p:stCondLst>
                                        </p:cTn>
                                        <p:tgtEl>
                                          <p:spTgt spid="13">
                                            <p:txEl>
                                              <p:pRg st="1" end="1"/>
                                            </p:txEl>
                                          </p:spTgt>
                                        </p:tgtEl>
                                        <p:attrNameLst>
                                          <p:attrName>style.visibility</p:attrName>
                                        </p:attrNameLst>
                                      </p:cBhvr>
                                      <p:to>
                                        <p:strVal val="visible"/>
                                      </p:to>
                                    </p:set>
                                    <p:anim calcmode="lin" valueType="num">
                                      <p:cBhvr additive="base">
                                        <p:cTn id="55" dur="500" fill="hold"/>
                                        <p:tgtEl>
                                          <p:spTgt spid="13">
                                            <p:txEl>
                                              <p:pRg st="1" end="1"/>
                                            </p:txEl>
                                          </p:spTgt>
                                        </p:tgtEl>
                                        <p:attrNameLst>
                                          <p:attrName>ppt_x</p:attrName>
                                        </p:attrNameLst>
                                      </p:cBhvr>
                                      <p:tavLst>
                                        <p:tav tm="0">
                                          <p:val>
                                            <p:strVal val="#ppt_x"/>
                                          </p:val>
                                        </p:tav>
                                        <p:tav tm="100000">
                                          <p:val>
                                            <p:strVal val="#ppt_x"/>
                                          </p:val>
                                        </p:tav>
                                      </p:tavLst>
                                    </p:anim>
                                    <p:anim calcmode="lin" valueType="num">
                                      <p:cBhvr additive="base">
                                        <p:cTn id="56" dur="500" fill="hold"/>
                                        <p:tgtEl>
                                          <p:spTgt spid="13">
                                            <p:txEl>
                                              <p:pRg st="1" end="1"/>
                                            </p:txEl>
                                          </p:spTgt>
                                        </p:tgtEl>
                                        <p:attrNameLst>
                                          <p:attrName>ppt_y</p:attrName>
                                        </p:attrNameLst>
                                      </p:cBhvr>
                                      <p:tavLst>
                                        <p:tav tm="0">
                                          <p:val>
                                            <p:strVal val="1+#ppt_h/2"/>
                                          </p:val>
                                        </p:tav>
                                        <p:tav tm="100000">
                                          <p:val>
                                            <p:strVal val="#ppt_y"/>
                                          </p:val>
                                        </p:tav>
                                      </p:tavLst>
                                    </p:anim>
                                  </p:childTnLst>
                                </p:cTn>
                              </p:par>
                            </p:childTnLst>
                          </p:cTn>
                        </p:par>
                      </p:childTnLst>
                    </p:cTn>
                  </p:par>
                  <p:par>
                    <p:cTn id="57" fill="hold">
                      <p:stCondLst>
                        <p:cond delay="indefinite"/>
                      </p:stCondLst>
                      <p:childTnLst>
                        <p:par>
                          <p:cTn id="58" fill="hold">
                            <p:stCondLst>
                              <p:cond delay="0"/>
                            </p:stCondLst>
                            <p:childTnLst>
                              <p:par>
                                <p:cTn id="59" presetID="2" presetClass="entr" presetSubtype="4" fill="hold" nodeType="clickEffect">
                                  <p:stCondLst>
                                    <p:cond delay="0"/>
                                  </p:stCondLst>
                                  <p:childTnLst>
                                    <p:set>
                                      <p:cBhvr>
                                        <p:cTn id="60" dur="1" fill="hold">
                                          <p:stCondLst>
                                            <p:cond delay="0"/>
                                          </p:stCondLst>
                                        </p:cTn>
                                        <p:tgtEl>
                                          <p:spTgt spid="13">
                                            <p:txEl>
                                              <p:pRg st="2" end="2"/>
                                            </p:txEl>
                                          </p:spTgt>
                                        </p:tgtEl>
                                        <p:attrNameLst>
                                          <p:attrName>style.visibility</p:attrName>
                                        </p:attrNameLst>
                                      </p:cBhvr>
                                      <p:to>
                                        <p:strVal val="visible"/>
                                      </p:to>
                                    </p:set>
                                    <p:anim calcmode="lin" valueType="num">
                                      <p:cBhvr additive="base">
                                        <p:cTn id="61" dur="500" fill="hold"/>
                                        <p:tgtEl>
                                          <p:spTgt spid="13">
                                            <p:txEl>
                                              <p:pRg st="2" end="2"/>
                                            </p:txEl>
                                          </p:spTgt>
                                        </p:tgtEl>
                                        <p:attrNameLst>
                                          <p:attrName>ppt_x</p:attrName>
                                        </p:attrNameLst>
                                      </p:cBhvr>
                                      <p:tavLst>
                                        <p:tav tm="0">
                                          <p:val>
                                            <p:strVal val="#ppt_x"/>
                                          </p:val>
                                        </p:tav>
                                        <p:tav tm="100000">
                                          <p:val>
                                            <p:strVal val="#ppt_x"/>
                                          </p:val>
                                        </p:tav>
                                      </p:tavLst>
                                    </p:anim>
                                    <p:anim calcmode="lin" valueType="num">
                                      <p:cBhvr additive="base">
                                        <p:cTn id="62" dur="500" fill="hold"/>
                                        <p:tgtEl>
                                          <p:spTgt spid="13">
                                            <p:txEl>
                                              <p:pRg st="2" end="2"/>
                                            </p:txEl>
                                          </p:spTgt>
                                        </p:tgtEl>
                                        <p:attrNameLst>
                                          <p:attrName>ppt_y</p:attrName>
                                        </p:attrNameLst>
                                      </p:cBhvr>
                                      <p:tavLst>
                                        <p:tav tm="0">
                                          <p:val>
                                            <p:strVal val="1+#ppt_h/2"/>
                                          </p:val>
                                        </p:tav>
                                        <p:tav tm="100000">
                                          <p:val>
                                            <p:strVal val="#ppt_y"/>
                                          </p:val>
                                        </p:tav>
                                      </p:tavLst>
                                    </p:anim>
                                  </p:childTnLst>
                                </p:cTn>
                              </p:par>
                            </p:childTnLst>
                          </p:cTn>
                        </p:par>
                      </p:childTnLst>
                    </p:cTn>
                  </p:par>
                  <p:par>
                    <p:cTn id="63" fill="hold">
                      <p:stCondLst>
                        <p:cond delay="indefinite"/>
                      </p:stCondLst>
                      <p:childTnLst>
                        <p:par>
                          <p:cTn id="64" fill="hold">
                            <p:stCondLst>
                              <p:cond delay="0"/>
                            </p:stCondLst>
                            <p:childTnLst>
                              <p:par>
                                <p:cTn id="65" presetID="2" presetClass="entr" presetSubtype="4" fill="hold" nodeType="clickEffect">
                                  <p:stCondLst>
                                    <p:cond delay="0"/>
                                  </p:stCondLst>
                                  <p:childTnLst>
                                    <p:set>
                                      <p:cBhvr>
                                        <p:cTn id="66" dur="1" fill="hold">
                                          <p:stCondLst>
                                            <p:cond delay="0"/>
                                          </p:stCondLst>
                                        </p:cTn>
                                        <p:tgtEl>
                                          <p:spTgt spid="13">
                                            <p:txEl>
                                              <p:pRg st="3" end="3"/>
                                            </p:txEl>
                                          </p:spTgt>
                                        </p:tgtEl>
                                        <p:attrNameLst>
                                          <p:attrName>style.visibility</p:attrName>
                                        </p:attrNameLst>
                                      </p:cBhvr>
                                      <p:to>
                                        <p:strVal val="visible"/>
                                      </p:to>
                                    </p:set>
                                    <p:anim calcmode="lin" valueType="num">
                                      <p:cBhvr additive="base">
                                        <p:cTn id="67" dur="500" fill="hold"/>
                                        <p:tgtEl>
                                          <p:spTgt spid="13">
                                            <p:txEl>
                                              <p:pRg st="3" end="3"/>
                                            </p:txEl>
                                          </p:spTgt>
                                        </p:tgtEl>
                                        <p:attrNameLst>
                                          <p:attrName>ppt_x</p:attrName>
                                        </p:attrNameLst>
                                      </p:cBhvr>
                                      <p:tavLst>
                                        <p:tav tm="0">
                                          <p:val>
                                            <p:strVal val="#ppt_x"/>
                                          </p:val>
                                        </p:tav>
                                        <p:tav tm="100000">
                                          <p:val>
                                            <p:strVal val="#ppt_x"/>
                                          </p:val>
                                        </p:tav>
                                      </p:tavLst>
                                    </p:anim>
                                    <p:anim calcmode="lin" valueType="num">
                                      <p:cBhvr additive="base">
                                        <p:cTn id="68" dur="500" fill="hold"/>
                                        <p:tgtEl>
                                          <p:spTgt spid="13">
                                            <p:txEl>
                                              <p:pRg st="3" end="3"/>
                                            </p:txEl>
                                          </p:spTgt>
                                        </p:tgtEl>
                                        <p:attrNameLst>
                                          <p:attrName>ppt_y</p:attrName>
                                        </p:attrNameLst>
                                      </p:cBhvr>
                                      <p:tavLst>
                                        <p:tav tm="0">
                                          <p:val>
                                            <p:strVal val="1+#ppt_h/2"/>
                                          </p:val>
                                        </p:tav>
                                        <p:tav tm="100000">
                                          <p:val>
                                            <p:strVal val="#ppt_y"/>
                                          </p:val>
                                        </p:tav>
                                      </p:tavLst>
                                    </p:anim>
                                  </p:childTnLst>
                                </p:cTn>
                              </p:par>
                            </p:childTnLst>
                          </p:cTn>
                        </p:par>
                      </p:childTnLst>
                    </p:cTn>
                  </p:par>
                  <p:par>
                    <p:cTn id="69" fill="hold">
                      <p:stCondLst>
                        <p:cond delay="indefinite"/>
                      </p:stCondLst>
                      <p:childTnLst>
                        <p:par>
                          <p:cTn id="70" fill="hold">
                            <p:stCondLst>
                              <p:cond delay="0"/>
                            </p:stCondLst>
                            <p:childTnLst>
                              <p:par>
                                <p:cTn id="71" presetID="2" presetClass="entr" presetSubtype="4" fill="hold" nodeType="clickEffect">
                                  <p:stCondLst>
                                    <p:cond delay="0"/>
                                  </p:stCondLst>
                                  <p:childTnLst>
                                    <p:set>
                                      <p:cBhvr>
                                        <p:cTn id="72" dur="1" fill="hold">
                                          <p:stCondLst>
                                            <p:cond delay="0"/>
                                          </p:stCondLst>
                                        </p:cTn>
                                        <p:tgtEl>
                                          <p:spTgt spid="13">
                                            <p:txEl>
                                              <p:pRg st="4" end="4"/>
                                            </p:txEl>
                                          </p:spTgt>
                                        </p:tgtEl>
                                        <p:attrNameLst>
                                          <p:attrName>style.visibility</p:attrName>
                                        </p:attrNameLst>
                                      </p:cBhvr>
                                      <p:to>
                                        <p:strVal val="visible"/>
                                      </p:to>
                                    </p:set>
                                    <p:anim calcmode="lin" valueType="num">
                                      <p:cBhvr additive="base">
                                        <p:cTn id="73" dur="500" fill="hold"/>
                                        <p:tgtEl>
                                          <p:spTgt spid="13">
                                            <p:txEl>
                                              <p:pRg st="4" end="4"/>
                                            </p:txEl>
                                          </p:spTgt>
                                        </p:tgtEl>
                                        <p:attrNameLst>
                                          <p:attrName>ppt_x</p:attrName>
                                        </p:attrNameLst>
                                      </p:cBhvr>
                                      <p:tavLst>
                                        <p:tav tm="0">
                                          <p:val>
                                            <p:strVal val="#ppt_x"/>
                                          </p:val>
                                        </p:tav>
                                        <p:tav tm="100000">
                                          <p:val>
                                            <p:strVal val="#ppt_x"/>
                                          </p:val>
                                        </p:tav>
                                      </p:tavLst>
                                    </p:anim>
                                    <p:anim calcmode="lin" valueType="num">
                                      <p:cBhvr additive="base">
                                        <p:cTn id="74" dur="500" fill="hold"/>
                                        <p:tgtEl>
                                          <p:spTgt spid="13">
                                            <p:txEl>
                                              <p:pRg st="4" end="4"/>
                                            </p:txEl>
                                          </p:spTgt>
                                        </p:tgtEl>
                                        <p:attrNameLst>
                                          <p:attrName>ppt_y</p:attrName>
                                        </p:attrNameLst>
                                      </p:cBhvr>
                                      <p:tavLst>
                                        <p:tav tm="0">
                                          <p:val>
                                            <p:strVal val="1+#ppt_h/2"/>
                                          </p:val>
                                        </p:tav>
                                        <p:tav tm="100000">
                                          <p:val>
                                            <p:strVal val="#ppt_y"/>
                                          </p:val>
                                        </p:tav>
                                      </p:tavLst>
                                    </p:anim>
                                  </p:childTnLst>
                                </p:cTn>
                              </p:par>
                            </p:childTnLst>
                          </p:cTn>
                        </p:par>
                      </p:childTnLst>
                    </p:cTn>
                  </p:par>
                  <p:par>
                    <p:cTn id="75" fill="hold">
                      <p:stCondLst>
                        <p:cond delay="indefinite"/>
                      </p:stCondLst>
                      <p:childTnLst>
                        <p:par>
                          <p:cTn id="76" fill="hold">
                            <p:stCondLst>
                              <p:cond delay="0"/>
                            </p:stCondLst>
                            <p:childTnLst>
                              <p:par>
                                <p:cTn id="77" presetID="2" presetClass="entr" presetSubtype="4" fill="hold" nodeType="clickEffect">
                                  <p:stCondLst>
                                    <p:cond delay="0"/>
                                  </p:stCondLst>
                                  <p:childTnLst>
                                    <p:set>
                                      <p:cBhvr>
                                        <p:cTn id="78" dur="1" fill="hold">
                                          <p:stCondLst>
                                            <p:cond delay="0"/>
                                          </p:stCondLst>
                                        </p:cTn>
                                        <p:tgtEl>
                                          <p:spTgt spid="13">
                                            <p:txEl>
                                              <p:pRg st="5" end="5"/>
                                            </p:txEl>
                                          </p:spTgt>
                                        </p:tgtEl>
                                        <p:attrNameLst>
                                          <p:attrName>style.visibility</p:attrName>
                                        </p:attrNameLst>
                                      </p:cBhvr>
                                      <p:to>
                                        <p:strVal val="visible"/>
                                      </p:to>
                                    </p:set>
                                    <p:anim calcmode="lin" valueType="num">
                                      <p:cBhvr additive="base">
                                        <p:cTn id="79" dur="500" fill="hold"/>
                                        <p:tgtEl>
                                          <p:spTgt spid="13">
                                            <p:txEl>
                                              <p:pRg st="5" end="5"/>
                                            </p:txEl>
                                          </p:spTgt>
                                        </p:tgtEl>
                                        <p:attrNameLst>
                                          <p:attrName>ppt_x</p:attrName>
                                        </p:attrNameLst>
                                      </p:cBhvr>
                                      <p:tavLst>
                                        <p:tav tm="0">
                                          <p:val>
                                            <p:strVal val="#ppt_x"/>
                                          </p:val>
                                        </p:tav>
                                        <p:tav tm="100000">
                                          <p:val>
                                            <p:strVal val="#ppt_x"/>
                                          </p:val>
                                        </p:tav>
                                      </p:tavLst>
                                    </p:anim>
                                    <p:anim calcmode="lin" valueType="num">
                                      <p:cBhvr additive="base">
                                        <p:cTn id="80" dur="500" fill="hold"/>
                                        <p:tgtEl>
                                          <p:spTgt spid="13">
                                            <p:txEl>
                                              <p:pRg st="5" end="5"/>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Text 0"/>
          <p:cNvSpPr>
            <a:spLocks noGrp="1"/>
          </p:cNvSpPr>
          <p:nvPr>
            <p:ph type="title" idx="100" hasCustomPrompt="1"/>
          </p:nvPr>
        </p:nvSpPr>
        <p:spPr>
          <a:xfrm>
            <a:off x="548640" y="365760"/>
            <a:ext cx="11064240" cy="777240"/>
          </a:xfrm>
          <a:prstGeom prst="rect">
            <a:avLst/>
          </a:prstGeom>
          <a:noFill/>
          <a:ln/>
        </p:spPr>
        <p:txBody>
          <a:bodyPr wrap="square" lIns="0" tIns="0" rIns="0" bIns="0" rtlCol="0" anchor="t"/>
          <a:lstStyle/>
          <a:p>
            <a:pPr marL="0" indent="0" algn="l">
              <a:buNone/>
            </a:pPr>
            <a:r>
              <a:rPr lang="en-US" sz="3600" b="1" dirty="0">
                <a:solidFill>
                  <a:schemeClr val="bg1"/>
                </a:solidFill>
              </a:rPr>
              <a:t>Takeaways and open items</a:t>
            </a:r>
            <a:endParaRPr lang="en-US" sz="3600" dirty="0"/>
          </a:p>
        </p:txBody>
      </p:sp>
      <p:sp>
        <p:nvSpPr>
          <p:cNvPr id="4" name="badge 1"/>
          <p:cNvSpPr/>
          <p:nvPr/>
        </p:nvSpPr>
        <p:spPr>
          <a:xfrm>
            <a:off x="548640" y="1508760"/>
            <a:ext cx="640080" cy="640080"/>
          </a:xfrm>
          <a:prstGeom prst="ellipse">
            <a:avLst/>
          </a:prstGeom>
          <a:solidFill>
            <a:schemeClr val="accent1"/>
          </a:solidFill>
          <a:ln w="12700">
            <a:solidFill>
              <a:schemeClr val="accent1"/>
            </a:solidFill>
            <a:prstDash val="solid"/>
          </a:ln>
        </p:spPr>
      </p:sp>
      <p:sp>
        <p:nvSpPr>
          <p:cNvPr id="5" name="Text 2"/>
          <p:cNvSpPr txBox="1"/>
          <p:nvPr/>
        </p:nvSpPr>
        <p:spPr>
          <a:xfrm>
            <a:off x="548640" y="1508760"/>
            <a:ext cx="640080" cy="640080"/>
          </a:xfrm>
          <a:prstGeom prst="rect">
            <a:avLst/>
          </a:prstGeom>
          <a:noFill/>
          <a:ln/>
        </p:spPr>
        <p:txBody>
          <a:bodyPr wrap="square" lIns="0" tIns="0" rIns="0" bIns="0" rtlCol="0" anchor="ctr"/>
          <a:lstStyle/>
          <a:p>
            <a:pPr marL="0" indent="0" algn="ctr">
              <a:buNone/>
            </a:pPr>
            <a:r>
              <a:rPr lang="en-US" sz="2400" b="1" dirty="0">
                <a:solidFill>
                  <a:schemeClr val="tx1"/>
                </a:solidFill>
              </a:rPr>
              <a:t>1</a:t>
            </a:r>
            <a:endParaRPr lang="en-US" sz="2400" dirty="0"/>
          </a:p>
        </p:txBody>
      </p:sp>
      <p:sp>
        <p:nvSpPr>
          <p:cNvPr id="6" name="Text 3"/>
          <p:cNvSpPr txBox="1"/>
          <p:nvPr/>
        </p:nvSpPr>
        <p:spPr>
          <a:xfrm>
            <a:off x="1463040" y="1371600"/>
            <a:ext cx="5486400" cy="457200"/>
          </a:xfrm>
          <a:prstGeom prst="rect">
            <a:avLst/>
          </a:prstGeom>
          <a:noFill/>
          <a:ln/>
        </p:spPr>
        <p:txBody>
          <a:bodyPr wrap="square" lIns="0" tIns="0" rIns="0" bIns="0" rtlCol="0" anchor="t"/>
          <a:lstStyle/>
          <a:p>
            <a:pPr marL="0" indent="0">
              <a:buNone/>
            </a:pPr>
            <a:r>
              <a:rPr lang="en-US" sz="2000" b="1" dirty="0">
                <a:solidFill>
                  <a:schemeClr val="bg1"/>
                </a:solidFill>
                <a:latin typeface="Cambria" pitchFamily="34" charset="0"/>
                <a:ea typeface="Cambria" pitchFamily="34" charset="-122"/>
                <a:cs typeface="Cambria" pitchFamily="34" charset="-120"/>
              </a:rPr>
              <a:t>A null for regression heads</a:t>
            </a:r>
            <a:endParaRPr lang="en-US" sz="2000" dirty="0"/>
          </a:p>
        </p:txBody>
      </p:sp>
      <p:sp>
        <p:nvSpPr>
          <p:cNvPr id="7" name="Text 4"/>
          <p:cNvSpPr txBox="1"/>
          <p:nvPr/>
        </p:nvSpPr>
        <p:spPr>
          <a:xfrm>
            <a:off x="1463040" y="1874520"/>
            <a:ext cx="5486400" cy="822960"/>
          </a:xfrm>
          <a:prstGeom prst="rect">
            <a:avLst/>
          </a:prstGeom>
          <a:noFill/>
          <a:ln/>
        </p:spPr>
        <p:txBody>
          <a:bodyPr wrap="square" lIns="0" tIns="0" rIns="0" bIns="0" rtlCol="0" anchor="t"/>
          <a:lstStyle/>
          <a:p>
            <a:pPr marL="0" indent="0">
              <a:buNone/>
            </a:pPr>
            <a:r>
              <a:rPr lang="en-US" sz="1400" i="1" dirty="0">
                <a:solidFill>
                  <a:schemeClr val="bg2"/>
                </a:solidFill>
              </a:rPr>
              <a:t>φ</a:t>
            </a:r>
            <a:r>
              <a:rPr lang="en-US" sz="1400" baseline="-25000" dirty="0">
                <a:solidFill>
                  <a:schemeClr val="bg2"/>
                </a:solidFill>
              </a:rPr>
              <a:t>c</a:t>
            </a:r>
            <a:r>
              <a:rPr lang="en-US" sz="1400" dirty="0">
                <a:solidFill>
                  <a:schemeClr val="bg2"/>
                </a:solidFill>
              </a:rPr>
              <a:t> and </a:t>
            </a:r>
            <a:r>
              <a:rPr lang="en-US" sz="1400" i="1" dirty="0">
                <a:solidFill>
                  <a:schemeClr val="bg2"/>
                </a:solidFill>
              </a:rPr>
              <a:t>ψ</a:t>
            </a:r>
            <a:r>
              <a:rPr lang="en-US" sz="1400" dirty="0">
                <a:solidFill>
                  <a:schemeClr val="bg2"/>
                </a:solidFill>
              </a:rPr>
              <a:t> are not recoverable from strain on this architecture set, individually or through 2</a:t>
            </a:r>
            <a:r>
              <a:rPr lang="en-US" sz="1400" i="1" dirty="0">
                <a:solidFill>
                  <a:schemeClr val="bg2"/>
                </a:solidFill>
              </a:rPr>
              <a:t>φ</a:t>
            </a:r>
            <a:r>
              <a:rPr lang="en-US" sz="1400" baseline="-25000" dirty="0">
                <a:solidFill>
                  <a:schemeClr val="bg2"/>
                </a:solidFill>
              </a:rPr>
              <a:t>c</a:t>
            </a:r>
            <a:r>
              <a:rPr lang="en-US" sz="1400" dirty="0">
                <a:solidFill>
                  <a:schemeClr val="bg2"/>
                </a:solidFill>
              </a:rPr>
              <a:t> ± 2</a:t>
            </a:r>
            <a:r>
              <a:rPr lang="en-US" sz="1400" i="1" dirty="0">
                <a:solidFill>
                  <a:schemeClr val="bg2"/>
                </a:solidFill>
              </a:rPr>
              <a:t>ψ</a:t>
            </a:r>
            <a:r>
              <a:rPr lang="en-US" sz="1400" dirty="0">
                <a:solidFill>
                  <a:schemeClr val="bg2"/>
                </a:solidFill>
              </a:rPr>
              <a:t>.</a:t>
            </a:r>
            <a:endParaRPr lang="en-US" sz="1400" dirty="0"/>
          </a:p>
        </p:txBody>
      </p:sp>
      <p:sp>
        <p:nvSpPr>
          <p:cNvPr id="8" name="badge 2"/>
          <p:cNvSpPr/>
          <p:nvPr/>
        </p:nvSpPr>
        <p:spPr>
          <a:xfrm>
            <a:off x="548640" y="2926080"/>
            <a:ext cx="640080" cy="640080"/>
          </a:xfrm>
          <a:prstGeom prst="ellipse">
            <a:avLst/>
          </a:prstGeom>
          <a:solidFill>
            <a:schemeClr val="accent1"/>
          </a:solidFill>
          <a:ln w="12700">
            <a:solidFill>
              <a:schemeClr val="accent1"/>
            </a:solidFill>
            <a:prstDash val="solid"/>
          </a:ln>
        </p:spPr>
      </p:sp>
      <p:sp>
        <p:nvSpPr>
          <p:cNvPr id="9" name="Text 6"/>
          <p:cNvSpPr txBox="1"/>
          <p:nvPr/>
        </p:nvSpPr>
        <p:spPr>
          <a:xfrm>
            <a:off x="548640" y="2926080"/>
            <a:ext cx="640080" cy="640080"/>
          </a:xfrm>
          <a:prstGeom prst="rect">
            <a:avLst/>
          </a:prstGeom>
          <a:noFill/>
          <a:ln/>
        </p:spPr>
        <p:txBody>
          <a:bodyPr wrap="square" lIns="0" tIns="0" rIns="0" bIns="0" rtlCol="0" anchor="ctr"/>
          <a:lstStyle/>
          <a:p>
            <a:pPr marL="0" indent="0" algn="ctr">
              <a:buNone/>
            </a:pPr>
            <a:r>
              <a:rPr lang="en-US" sz="2400" b="1" dirty="0">
                <a:solidFill>
                  <a:schemeClr val="tx1"/>
                </a:solidFill>
              </a:rPr>
              <a:t>2</a:t>
            </a:r>
            <a:endParaRPr lang="en-US" sz="2400" dirty="0"/>
          </a:p>
        </p:txBody>
      </p:sp>
      <p:sp>
        <p:nvSpPr>
          <p:cNvPr id="10" name="Text 7"/>
          <p:cNvSpPr txBox="1"/>
          <p:nvPr/>
        </p:nvSpPr>
        <p:spPr>
          <a:xfrm>
            <a:off x="1463040" y="2788920"/>
            <a:ext cx="5486400" cy="457200"/>
          </a:xfrm>
          <a:prstGeom prst="rect">
            <a:avLst/>
          </a:prstGeom>
          <a:noFill/>
          <a:ln/>
        </p:spPr>
        <p:txBody>
          <a:bodyPr wrap="square" lIns="0" tIns="0" rIns="0" bIns="0" rtlCol="0" anchor="t"/>
          <a:lstStyle/>
          <a:p>
            <a:pPr marL="0" indent="0">
              <a:buNone/>
            </a:pPr>
            <a:r>
              <a:rPr lang="en-US" sz="2000" b="1" dirty="0">
                <a:solidFill>
                  <a:schemeClr val="bg1"/>
                </a:solidFill>
                <a:latin typeface="Cambria" pitchFamily="34" charset="0"/>
                <a:ea typeface="Cambria" pitchFamily="34" charset="-122"/>
                <a:cs typeface="Cambria" pitchFamily="34" charset="-120"/>
              </a:rPr>
              <a:t>A practical hazard</a:t>
            </a:r>
            <a:endParaRPr lang="en-US" sz="2000" dirty="0"/>
          </a:p>
        </p:txBody>
      </p:sp>
      <p:sp>
        <p:nvSpPr>
          <p:cNvPr id="11" name="Text 8"/>
          <p:cNvSpPr txBox="1"/>
          <p:nvPr/>
        </p:nvSpPr>
        <p:spPr>
          <a:xfrm>
            <a:off x="1463040" y="3291840"/>
            <a:ext cx="5486400" cy="822960"/>
          </a:xfrm>
          <a:prstGeom prst="rect">
            <a:avLst/>
          </a:prstGeom>
          <a:noFill/>
          <a:ln/>
        </p:spPr>
        <p:txBody>
          <a:bodyPr wrap="square" lIns="0" tIns="0" rIns="0" bIns="0" rtlCol="0" anchor="t"/>
          <a:lstStyle/>
          <a:p>
            <a:pPr marL="0" indent="0">
              <a:buNone/>
            </a:pPr>
            <a:r>
              <a:rPr lang="en-US" sz="1400" dirty="0">
                <a:solidFill>
                  <a:schemeClr val="bg2"/>
                </a:solidFill>
              </a:rPr>
              <a:t>Neural posterior estimators (VItamin, DINGO) represent degenerate targets by construction; point-estimate and hybrid pipelines do not.</a:t>
            </a:r>
            <a:endParaRPr lang="en-US" sz="1400" dirty="0"/>
          </a:p>
        </p:txBody>
      </p:sp>
      <p:sp>
        <p:nvSpPr>
          <p:cNvPr id="12" name="badge 3"/>
          <p:cNvSpPr/>
          <p:nvPr/>
        </p:nvSpPr>
        <p:spPr>
          <a:xfrm>
            <a:off x="548640" y="4343400"/>
            <a:ext cx="640080" cy="640080"/>
          </a:xfrm>
          <a:prstGeom prst="ellipse">
            <a:avLst/>
          </a:prstGeom>
          <a:solidFill>
            <a:schemeClr val="accent1"/>
          </a:solidFill>
          <a:ln w="12700">
            <a:solidFill>
              <a:schemeClr val="accent1"/>
            </a:solidFill>
            <a:prstDash val="solid"/>
          </a:ln>
        </p:spPr>
      </p:sp>
      <p:sp>
        <p:nvSpPr>
          <p:cNvPr id="13" name="Text 10"/>
          <p:cNvSpPr txBox="1"/>
          <p:nvPr/>
        </p:nvSpPr>
        <p:spPr>
          <a:xfrm>
            <a:off x="548640" y="4343400"/>
            <a:ext cx="640080" cy="640080"/>
          </a:xfrm>
          <a:prstGeom prst="rect">
            <a:avLst/>
          </a:prstGeom>
          <a:noFill/>
          <a:ln/>
        </p:spPr>
        <p:txBody>
          <a:bodyPr wrap="square" lIns="0" tIns="0" rIns="0" bIns="0" rtlCol="0" anchor="ctr"/>
          <a:lstStyle/>
          <a:p>
            <a:pPr marL="0" indent="0" algn="ctr">
              <a:buNone/>
            </a:pPr>
            <a:r>
              <a:rPr lang="en-US" sz="2400" b="1" dirty="0">
                <a:solidFill>
                  <a:schemeClr val="tx1"/>
                </a:solidFill>
              </a:rPr>
              <a:t>3</a:t>
            </a:r>
            <a:endParaRPr lang="en-US" sz="2400" dirty="0"/>
          </a:p>
        </p:txBody>
      </p:sp>
      <p:sp>
        <p:nvSpPr>
          <p:cNvPr id="14" name="Text 11"/>
          <p:cNvSpPr txBox="1"/>
          <p:nvPr/>
        </p:nvSpPr>
        <p:spPr>
          <a:xfrm>
            <a:off x="1463040" y="4206240"/>
            <a:ext cx="5486400" cy="457200"/>
          </a:xfrm>
          <a:prstGeom prst="rect">
            <a:avLst/>
          </a:prstGeom>
          <a:noFill/>
          <a:ln/>
        </p:spPr>
        <p:txBody>
          <a:bodyPr wrap="square" lIns="0" tIns="0" rIns="0" bIns="0" rtlCol="0" anchor="t"/>
          <a:lstStyle/>
          <a:p>
            <a:pPr marL="0" indent="0">
              <a:buNone/>
            </a:pPr>
            <a:r>
              <a:rPr lang="en-US" sz="2000" b="1" dirty="0">
                <a:solidFill>
                  <a:schemeClr val="bg1"/>
                </a:solidFill>
                <a:latin typeface="Cambria" pitchFamily="34" charset="0"/>
                <a:ea typeface="Cambria" pitchFamily="34" charset="-122"/>
                <a:cs typeface="Cambria" pitchFamily="34" charset="-120"/>
              </a:rPr>
              <a:t>Discipline is the contribution</a:t>
            </a:r>
            <a:endParaRPr lang="en-US" sz="2000" dirty="0"/>
          </a:p>
        </p:txBody>
      </p:sp>
      <p:sp>
        <p:nvSpPr>
          <p:cNvPr id="15" name="Text 12"/>
          <p:cNvSpPr txBox="1"/>
          <p:nvPr/>
        </p:nvSpPr>
        <p:spPr>
          <a:xfrm>
            <a:off x="1463040" y="4709160"/>
            <a:ext cx="5486400" cy="822960"/>
          </a:xfrm>
          <a:prstGeom prst="rect">
            <a:avLst/>
          </a:prstGeom>
          <a:noFill/>
          <a:ln/>
        </p:spPr>
        <p:txBody>
          <a:bodyPr wrap="square" lIns="0" tIns="0" rIns="0" bIns="0" rtlCol="0" anchor="t"/>
          <a:lstStyle/>
          <a:p>
            <a:pPr marL="0" indent="0">
              <a:buNone/>
            </a:pPr>
            <a:r>
              <a:rPr lang="en-US" sz="1400" dirty="0">
                <a:solidFill>
                  <a:schemeClr val="bg2"/>
                </a:solidFill>
              </a:rPr>
              <a:t>Positive controls on every instrument, and the lesson that passing an interpretability gate is not proof the property holds.</a:t>
            </a:r>
            <a:endParaRPr lang="en-US" sz="1400" dirty="0"/>
          </a:p>
        </p:txBody>
      </p:sp>
      <p:sp>
        <p:nvSpPr>
          <p:cNvPr id="16" name="open card"/>
          <p:cNvSpPr/>
          <p:nvPr/>
        </p:nvSpPr>
        <p:spPr>
          <a:xfrm>
            <a:off x="7406640" y="1371600"/>
            <a:ext cx="4206240" cy="4572000"/>
          </a:xfrm>
          <a:prstGeom prst="roundRect">
            <a:avLst>
              <a:gd name="adj" fmla="val 2609"/>
            </a:avLst>
          </a:prstGeom>
          <a:solidFill>
            <a:schemeClr val="tx2"/>
          </a:solidFill>
          <a:ln w="12700">
            <a:solidFill>
              <a:schemeClr val="tx2"/>
            </a:solidFill>
            <a:prstDash val="solid"/>
          </a:ln>
          <a:effectLst>
            <a:outerShdw blurRad="101600" dist="25400" dir="5400000" algn="bl" rotWithShape="0">
              <a:srgbClr val="0F1B33">
                <a:alpha val="12000"/>
              </a:srgbClr>
            </a:outerShdw>
          </a:effectLst>
        </p:spPr>
      </p:sp>
      <p:sp>
        <p:nvSpPr>
          <p:cNvPr id="17" name="Text 14"/>
          <p:cNvSpPr txBox="1"/>
          <p:nvPr/>
        </p:nvSpPr>
        <p:spPr>
          <a:xfrm>
            <a:off x="7680960" y="1600200"/>
            <a:ext cx="3657600" cy="365760"/>
          </a:xfrm>
          <a:prstGeom prst="rect">
            <a:avLst/>
          </a:prstGeom>
          <a:noFill/>
          <a:ln/>
        </p:spPr>
        <p:txBody>
          <a:bodyPr wrap="square" lIns="0" tIns="0" rIns="0" bIns="0" rtlCol="0" anchor="t"/>
          <a:lstStyle/>
          <a:p>
            <a:pPr marL="0" indent="0">
              <a:buNone/>
            </a:pPr>
            <a:r>
              <a:rPr lang="en-US" sz="1400" b="1" dirty="0">
                <a:solidFill>
                  <a:schemeClr val="accent1"/>
                </a:solidFill>
              </a:rPr>
              <a:t>STILL OPEN</a:t>
            </a:r>
            <a:endParaRPr lang="en-US" sz="1400" dirty="0"/>
          </a:p>
        </p:txBody>
      </p:sp>
      <p:sp>
        <p:nvSpPr>
          <p:cNvPr id="18" name="Text 15"/>
          <p:cNvSpPr txBox="1"/>
          <p:nvPr/>
        </p:nvSpPr>
        <p:spPr>
          <a:xfrm>
            <a:off x="7680960" y="2103120"/>
            <a:ext cx="3657600" cy="365760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chemeClr val="bg1"/>
                </a:solidFill>
              </a:rPr>
              <a:t>Separate degeneracy from a sensitivity floor: high-SNR (25–30) set or Fisher bound</a:t>
            </a:r>
            <a:endParaRPr lang="en-US" sz="1400" dirty="0"/>
          </a:p>
          <a:p>
            <a:pPr marL="342900" indent="-342900">
              <a:spcAft>
                <a:spcPts val="800"/>
              </a:spcAft>
              <a:buSzPct val="100000"/>
              <a:buChar char="•"/>
            </a:pPr>
            <a:r>
              <a:rPr lang="en-US" sz="1400" dirty="0">
                <a:solidFill>
                  <a:schemeClr val="bg1"/>
                </a:solidFill>
              </a:rPr>
              <a:t>Joint (</a:t>
            </a:r>
            <a:r>
              <a:rPr lang="en-US" sz="1400" i="1" dirty="0">
                <a:solidFill>
                  <a:schemeClr val="bg1"/>
                </a:solidFill>
              </a:rPr>
              <a:t>φ</a:t>
            </a:r>
            <a:r>
              <a:rPr lang="en-US" sz="1400" baseline="-25000" dirty="0">
                <a:solidFill>
                  <a:schemeClr val="bg1"/>
                </a:solidFill>
              </a:rPr>
              <a:t>c</a:t>
            </a:r>
            <a:r>
              <a:rPr lang="en-US" sz="1400" dirty="0">
                <a:solidFill>
                  <a:schemeClr val="bg1"/>
                </a:solidFill>
              </a:rPr>
              <a:t>, </a:t>
            </a:r>
            <a:r>
              <a:rPr lang="en-US" sz="1400" i="1" dirty="0">
                <a:solidFill>
                  <a:schemeClr val="bg1"/>
                </a:solidFill>
              </a:rPr>
              <a:t>ψ</a:t>
            </a:r>
            <a:r>
              <a:rPr lang="en-US" sz="1400" dirty="0">
                <a:solidFill>
                  <a:schemeClr val="bg1"/>
                </a:solidFill>
              </a:rPr>
              <a:t>) scatter to test for the degenerate ridge</a:t>
            </a:r>
            <a:endParaRPr lang="en-US" sz="1400" dirty="0"/>
          </a:p>
          <a:p>
            <a:pPr marL="342900" indent="-342900">
              <a:spcAft>
                <a:spcPts val="800"/>
              </a:spcAft>
              <a:buSzPct val="100000"/>
              <a:buChar char="•"/>
            </a:pPr>
            <a:r>
              <a:rPr lang="en-US" sz="1400" dirty="0">
                <a:solidFill>
                  <a:schemeClr val="bg1"/>
                </a:solidFill>
              </a:rPr>
              <a:t>Multiple seeds; the three dropped trunks through the full battery</a:t>
            </a:r>
            <a:endParaRPr lang="en-US" sz="1400" dirty="0"/>
          </a:p>
          <a:p>
            <a:pPr marL="342900" indent="-342900">
              <a:spcAft>
                <a:spcPts val="800"/>
              </a:spcAft>
              <a:buSzPct val="100000"/>
              <a:buChar char="•"/>
            </a:pPr>
            <a:r>
              <a:rPr lang="en-US" sz="1400" dirty="0">
                <a:solidFill>
                  <a:schemeClr val="bg1"/>
                </a:solidFill>
              </a:rPr>
              <a:t>Direct test of the H1/L1 amplitude-ratio explanation for sky localization</a:t>
            </a:r>
            <a:endParaRPr lang="en-US" sz="1400" dirty="0"/>
          </a:p>
          <a:p>
            <a:pPr marL="342900" indent="-342900">
              <a:spcAft>
                <a:spcPts val="800"/>
              </a:spcAft>
              <a:buSzPct val="100000"/>
              <a:buChar char="•"/>
            </a:pPr>
            <a:r>
              <a:rPr lang="en-US" sz="1400" dirty="0">
                <a:solidFill>
                  <a:schemeClr val="bg1"/>
                </a:solidFill>
              </a:rPr>
              <a:t>Independent adversarial review</a:t>
            </a:r>
            <a:endParaRPr lang="en-US" sz="14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100">
                <a:solidFill>
                  <a:srgbClr val="B8C4DA"/>
                </a:solidFill>
              </a:defRPr>
            </a:lvl1pPr>
          </a:lstStyle>
          <a:p>
            <a:pPr algn="r"/>
            <a:fld id="{F7021451-1387-4CA6-816F-3879F97B5CBC}" type="slidenum">
              <a:rPr lang="en-US" b="0"/>
              <a:t>17</a:t>
            </a:fld>
            <a:endParaRPr lang="en-US"/>
          </a:p>
        </p:txBody>
      </p:sp>
    </p:spTree>
  </p:cSld>
  <p:clrMapOvr>
    <a:masterClrMapping/>
  </p:clrMapOvr>
</p:sld>
</file>

<file path=ppt/theme/theme1.xml><?xml version="1.0" encoding="utf-8"?>
<a:theme xmlns:a="http://schemas.openxmlformats.org/drawingml/2006/main" name="Phic Psi">
  <a:themeElements>
    <a:clrScheme name="Phic Psi">
      <a:dk1>
        <a:srgbClr val="0F1B33"/>
      </a:dk1>
      <a:lt1>
        <a:srgbClr val="FFFFFF"/>
      </a:lt1>
      <a:dk2>
        <a:srgbClr val="1F3A68"/>
      </a:dk2>
      <a:lt2>
        <a:srgbClr val="EEF2F8"/>
      </a:lt2>
      <a:accent1>
        <a:srgbClr val="F2A541"/>
      </a:accent1>
      <a:accent2>
        <a:srgbClr val="2EA7A0"/>
      </a:accent2>
      <a:accent3>
        <a:srgbClr val="7B6FD6"/>
      </a:accent3>
      <a:accent4>
        <a:srgbClr val="C94F4F"/>
      </a:accent4>
      <a:accent5>
        <a:srgbClr val="55627A"/>
      </a:accent5>
      <a:accent6>
        <a:srgbClr val="5E9A3B"/>
      </a:accent6>
      <a:hlink>
        <a:srgbClr val="1F3A68"/>
      </a:hlink>
      <a:folHlink>
        <a:srgbClr val="55627A"/>
      </a:folHlink>
    </a:clrScheme>
    <a:fontScheme name="Phic Psi">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153</TotalTime>
  <Words>3583</Words>
  <Application>Microsoft Office PowerPoint</Application>
  <PresentationFormat>Widescreen</PresentationFormat>
  <Paragraphs>257</Paragraphs>
  <Slides>17</Slides>
  <Notes>16</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17</vt:i4>
      </vt:variant>
    </vt:vector>
  </HeadingPairs>
  <TitlesOfParts>
    <vt:vector size="21" baseType="lpstr">
      <vt:lpstr>Arial</vt:lpstr>
      <vt:lpstr>Calibri</vt:lpstr>
      <vt:lpstr>Cambria</vt:lpstr>
      <vt:lpstr>Phic Psi</vt:lpstr>
      <vt:lpstr>Recoverability of φc and ψ from gravitational-wave strain</vt:lpstr>
      <vt:lpstr>Can a network recover φc and ψ?</vt:lpstr>
      <vt:lpstr>The study at a glance</vt:lpstr>
      <vt:lpstr>The degeneracy, checked analytically</vt:lpstr>
      <vt:lpstr>Data and targets</vt:lpstr>
      <vt:lpstr>From five trunks to four models</vt:lpstr>
      <vt:lpstr>The seven configurations</vt:lpstr>
      <vt:lpstr>Results at a glance</vt:lpstr>
      <vt:lpstr>Mode collapse on ψ</vt:lpstr>
      <vt:lpstr>Chance predictions and overfitting</vt:lpstr>
      <vt:lpstr>The pre-registered gates</vt:lpstr>
      <vt:lpstr>Four gate-independent checks</vt:lpstr>
      <vt:lpstr>Verdict: a statistical null</vt:lpstr>
      <vt:lpstr>Bonus: sky localization is real</vt:lpstr>
      <vt:lpstr>Inclination and memorization</vt:lpstr>
      <vt:lpstr>How strong is the evidence?</vt:lpstr>
      <vt:lpstr>Takeaways and open items</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Recoverability of phi_c and psi from GW strain</dc:title>
  <dc:subject>PptxGenJS Presentation</dc:subject>
  <dc:creator>Syed Ali Mohsin Bukhari</dc:creator>
  <cp:lastModifiedBy>Syed Ali Mohsin Bukhari</cp:lastModifiedBy>
  <cp:revision>18</cp:revision>
  <dcterms:created xsi:type="dcterms:W3CDTF">2026-10-21T06:32:35Z</dcterms:created>
  <dcterms:modified xsi:type="dcterms:W3CDTF">2026-10-22T10:55:00Z</dcterms:modified>
</cp:coreProperties>
</file>